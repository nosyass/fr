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8638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 AI Offer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7512" y="153619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3C2F"/>
                </a:solidFill>
              </a:rPr>
              <a:t>DevX and AI4Dev ecosystem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B2F"/>
                </a:solidFill>
              </a:rPr>
              <a:t>One slide per ecosystem element, with Green IT positioned at the end as a cross-functional capability.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1280160" cy="310896"/>
          </a:xfrm>
          <a:prstGeom prst="rect">
            <a:avLst/>
          </a:prstGeom>
          <a:solidFill>
            <a:srgbClr val="00875A"/>
          </a:solidFill>
          <a:ln>
            <a:solidFill>
              <a:srgbClr val="00875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AI4DEV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48840" y="3063240"/>
            <a:ext cx="1005840" cy="310896"/>
          </a:xfrm>
          <a:prstGeom prst="rect">
            <a:avLst/>
          </a:prstGeom>
          <a:solidFill>
            <a:srgbClr val="0D8A74"/>
          </a:solidFill>
          <a:ln>
            <a:solidFill>
              <a:srgbClr val="0D8A7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3063240"/>
            <a:ext cx="1097280" cy="310896"/>
          </a:xfrm>
          <a:prstGeom prst="rect">
            <a:avLst/>
          </a:prstGeom>
          <a:solidFill>
            <a:srgbClr val="94B915"/>
          </a:solidFill>
          <a:ln>
            <a:solidFill>
              <a:srgbClr val="94B915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Kevin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17720" y="3063240"/>
            <a:ext cx="1325880" cy="310896"/>
          </a:xfrm>
          <a:prstGeom prst="rect">
            <a:avLst/>
          </a:prstGeom>
          <a:solidFill>
            <a:srgbClr val="00875A"/>
          </a:solidFill>
          <a:ln>
            <a:solidFill>
              <a:srgbClr val="00875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Green 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35240" y="19202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63C2F"/>
                </a:solidFill>
              </a:rPr>
              <a:t>AI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063C2F"/>
                </a:solidFill>
              </a:rPr>
              <a:t>+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063C2F"/>
                </a:solidFill>
              </a:rPr>
              <a:t>Developer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063C2F"/>
                </a:solidFill>
              </a:rPr>
              <a:t>Experience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1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overview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offer combines adoption, developer tools, agentic capabilities, repository analysis, production intelligence and sustainable engineering.</a:t>
            </a:r>
            <a:endParaRPr lang="en-US" sz="1150" dirty="0"/>
          </a:p>
        </p:txBody>
      </p:sp>
      <p:pic>
        <p:nvPicPr>
          <p:cNvPr id="5" name="Image 0" descr="/mnt/data/ghostwriter_images/generated/a_clean_white_background_infographic_slide_diagr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1138428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AI4DEV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AI Adoption Program for Development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1051560" cy="105156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AI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335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1700784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B2F"/>
                </a:solidFill>
              </a:rPr>
              <a:t>AI4DEV is the Group adoption program that democratizes the use of generative AI in software development and frames how teams learn, use and measure AI assistance.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1344168"/>
            <a:ext cx="3429000" cy="1417320"/>
          </a:xfrm>
          <a:prstGeom prst="rect">
            <a:avLst/>
          </a:prstGeom>
          <a:solidFill>
            <a:srgbClr val="F7FBF4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Purpose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Accelerate productivity, improve code quality, train teams, standardize practices and measure impact across development teams.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Key capabilities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AI tools and plugins made available to developers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Documentation, usage guides and quick references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Training, workshops and onboarding material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68680" y="47000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700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Templates, shared practices and community support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68680" y="50840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5084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Productivity and quality indicators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6355080" y="3163824"/>
            <a:ext cx="2286000" cy="1463040"/>
          </a:xfrm>
          <a:prstGeom prst="rect">
            <a:avLst/>
          </a:prstGeom>
          <a:solidFill>
            <a:srgbClr val="EEF9F6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Primary audience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All developers and delivery teams using AI-assisted development.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3163824"/>
            <a:ext cx="2331720" cy="146304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Green IT link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AI4DEV can host and govern Green IT guidelines so recommendations stay consistent across tools.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106070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Role in the ecosystem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AI4DEV connects adoption, tooling, development workflows and measurable impact inside the overall DevX and AI4Dev ecosystem.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3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DEVX Marketplace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Catalog of DevX services and tools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1051560" cy="1051560"/>
          </a:xfrm>
          <a:prstGeom prst="ellipse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🛒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335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1700784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B2F"/>
                </a:solidFill>
              </a:rPr>
              <a:t>DEVX Marketplace is the single entry point used to discover, request and access DevX services, AI tools and development environments.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1344168"/>
            <a:ext cx="3429000" cy="1417320"/>
          </a:xfrm>
          <a:prstGeom prst="rect">
            <a:avLst/>
          </a:prstGeom>
          <a:solidFill>
            <a:srgbClr val="F7FBF4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Purpose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Simplify access to services, centralize the catalog, make provisioning faster and provide a consistent user journey.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Key capabilities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Service catalog for DevX and AI tools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Ordering and provisioning entry point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Access to DevX Studio and LLM testing environments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68680" y="47000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700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Transparent service information and links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68680" y="50840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5084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Integrated support and documentation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6355080" y="3163824"/>
            <a:ext cx="2286000" cy="1463040"/>
          </a:xfrm>
          <a:prstGeom prst="rect">
            <a:avLst/>
          </a:prstGeom>
          <a:solidFill>
            <a:srgbClr val="EEF9F6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Primary audience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All users who need to discover or request DevX / AI services.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3163824"/>
            <a:ext cx="2331720" cy="146304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Green IT link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Marketplace can expose the Green IT capability as an optional service or guidance package.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106070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Role in the ecosystem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DEVX Marketplace connects adoption, tooling, development workflows and measurable impact inside the overall DevX and AI4Dev ecosystem.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4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DEVX Studio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Cloud development environment with built-in AI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1051560" cy="1051560"/>
          </a:xfrm>
          <a:prstGeom prst="ellipse">
            <a:avLst/>
          </a:prstGeom>
          <a:solidFill>
            <a:srgbClr val="94B915"/>
          </a:solidFill>
          <a:ln w="12700">
            <a:solidFill>
              <a:srgbClr val="94B9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335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1700784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B2F"/>
                </a:solidFill>
              </a:rPr>
              <a:t>DEVX Studio is a browser-accessible cloud development environment with integrated AI assistance and ready-to-use development configurations.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1344168"/>
            <a:ext cx="3429000" cy="1417320"/>
          </a:xfrm>
          <a:prstGeom prst="rect">
            <a:avLst/>
          </a:prstGeom>
          <a:solidFill>
            <a:srgbClr val="F7FBF4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Purpose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Provide a secure, standardized and fast development environment that reduces setup friction and embeds AI assistance in the workflow.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Key capabilities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Cloud-native access from anywhere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Preconfigured development environments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AI assistance during development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68680" y="47000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700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Group security standards and controls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68680" y="50840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5084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Collaboration and environment sharing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6355080" y="3163824"/>
            <a:ext cx="2286000" cy="1463040"/>
          </a:xfrm>
          <a:prstGeom prst="rect">
            <a:avLst/>
          </a:prstGeom>
          <a:solidFill>
            <a:srgbClr val="EEF9F6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Primary audience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Cloud developers and teams needing standardized environments.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3163824"/>
            <a:ext cx="2331720" cy="146304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Green IT link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Green IT recommendations can be surfaced directly while developers design, code and test.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106070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Role in the ecosystem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DEVX Studio connects adoption, tooling, development workflows and measurable impact inside the overall DevX and AI4Dev ecosystem.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5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DEVX NextGen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Advanced version with autonomous-agent mode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1051560" cy="1051560"/>
          </a:xfrm>
          <a:prstGeom prst="ellipse">
            <a:avLst/>
          </a:prstGeom>
          <a:solidFill>
            <a:srgbClr val="063C2F"/>
          </a:solidFill>
          <a:ln w="12700">
            <a:solidFill>
              <a:srgbClr val="063C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🤖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335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1700784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B2F"/>
                </a:solidFill>
              </a:rPr>
              <a:t>DEVX NextGen is the advanced version of DevX Studio, introducing autonomous-agent capabilities for assisted development at a higher level of automation.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1344168"/>
            <a:ext cx="3429000" cy="1417320"/>
          </a:xfrm>
          <a:prstGeom prst="rect">
            <a:avLst/>
          </a:prstGeom>
          <a:solidFill>
            <a:srgbClr val="F7FBF4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Purpose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Enable complex development tasks, agentic workflows and advanced assistance for early adopters.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Key capabilities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Autonomous-agent mode for complex tasks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CLI and automation-oriented interactions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Advanced model integration and tool usage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68680" y="47000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700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MCP-style integration with external tools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68680" y="50840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5084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Enhanced productivity metrics and user experience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6355080" y="3163824"/>
            <a:ext cx="2286000" cy="1463040"/>
          </a:xfrm>
          <a:prstGeom prst="rect">
            <a:avLst/>
          </a:prstGeom>
          <a:solidFill>
            <a:srgbClr val="EEF9F6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Primary audience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Early adopters and teams experimenting with advanced AI-assisted development.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3163824"/>
            <a:ext cx="2331720" cy="146304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Green IT link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Green IT can become one of the agent skills used to propose sustainable design or remediation actions.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106070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Role in the ecosystem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DEVX NextGen connects adoption, tooling, development workflows and measurable impact inside the overall DevX and AI4Dev ecosystem.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6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IBM Bob AI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Agentic IDE with AI inside the development environment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1051560" cy="105156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💬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335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1700784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B2F"/>
                </a:solidFill>
              </a:rPr>
              <a:t>IBM Bob AI is an agentic IDE experience that embeds AI directly in the developer environment to assist coding, analysis and task execution.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1344168"/>
            <a:ext cx="3429000" cy="1417320"/>
          </a:xfrm>
          <a:prstGeom prst="rect">
            <a:avLst/>
          </a:prstGeom>
          <a:solidFill>
            <a:srgbClr val="F7FBF4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Purpose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Bring AI assistance closer to developers’ daily work, inside the IDE, with profiles adapted to usage levels.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Key capabilities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Agentic assistance inside the IDE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Developer profiles and usage allocation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Support for coding, analysis and generation tasks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68680" y="47000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700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SSO-based access and controlled onboarding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68680" y="50840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5084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Integration into the AI tooling landscape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6355080" y="3163824"/>
            <a:ext cx="2286000" cy="1463040"/>
          </a:xfrm>
          <a:prstGeom prst="rect">
            <a:avLst/>
          </a:prstGeom>
          <a:solidFill>
            <a:srgbClr val="EEF9F6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Primary audience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Developers using agentic assistance inside their development environment.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3163824"/>
            <a:ext cx="2331720" cy="146304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Green IT link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Green IT rules can guide code suggestions and explanations inside the IDE.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106070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Role in the ecosystem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IBM Bob AI connects adoption, tooling, development workflows and measurable impact inside the overall DevX and AI4Dev ecosystem.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7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Kevin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AI analysis of existing applications and repositories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1051560" cy="1051560"/>
          </a:xfrm>
          <a:prstGeom prst="ellipse">
            <a:avLst/>
          </a:prstGeom>
          <a:solidFill>
            <a:srgbClr val="94B915"/>
          </a:solidFill>
          <a:ln w="12700">
            <a:solidFill>
              <a:srgbClr val="94B9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🔎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335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1700784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B2F"/>
                </a:solidFill>
              </a:rPr>
              <a:t>Kevin analyzes existing code repositories with a mono-agent pipeline that progressively enriches the context through facets such as architecture, development, UML, functional and technologies.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1344168"/>
            <a:ext cx="3429000" cy="1417320"/>
          </a:xfrm>
          <a:prstGeom prst="rect">
            <a:avLst/>
          </a:prstGeom>
          <a:solidFill>
            <a:srgbClr val="F7FBF4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Purpose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Generate architecture, technical and functional documentation from existing applications and support repository understanding.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Key capabilities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Repository ingestion and analysis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Progressive context enrichment through facets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Architecture and developer documentation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68680" y="47000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700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UML, functional and technology views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68680" y="50840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5084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Current mono-agent architecture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6355080" y="3163824"/>
            <a:ext cx="2286000" cy="1463040"/>
          </a:xfrm>
          <a:prstGeom prst="rect">
            <a:avLst/>
          </a:prstGeom>
          <a:solidFill>
            <a:srgbClr val="EEF9F6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Primary audience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Architects, developers and teams needing to understand existing repositories.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3163824"/>
            <a:ext cx="2331720" cy="146304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Green IT link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Kevin is the best entry point for analyzing the Green IT maturity of existing applications.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106070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Role in the ecosystem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Kevin connects adoption, tooling, development workflows and measurable impact inside the overall DevX and AI4Dev ecosystem.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8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Agentic AI-powered Digital Twin for IT Production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1051560" cy="1051560"/>
          </a:xfrm>
          <a:prstGeom prst="ellipse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1335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Definition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1700784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B2F"/>
                </a:solidFill>
              </a:rPr>
              <a:t>TWIN is an agentic AI-powered Digital Twin capability focused on IT Production and operational intelligence.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1344168"/>
            <a:ext cx="3429000" cy="1417320"/>
          </a:xfrm>
          <a:prstGeom prst="rect">
            <a:avLst/>
          </a:prstGeom>
          <a:solidFill>
            <a:srgbClr val="F7FBF4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Purpose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Help IT Production teams model, analyze and interact with production-oriented digital representations.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Key capabilities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Digital Twin capability for IT Production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Agentic AI-powered interaction layer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Operational analysis and assistance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68680" y="47000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700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Potential bridge between development and production insights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68680" y="50840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5084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3B2F"/>
                </a:solidFill>
              </a:rPr>
              <a:t>Production-focused adoption perimeter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6355080" y="3163824"/>
            <a:ext cx="2286000" cy="1463040"/>
          </a:xfrm>
          <a:prstGeom prst="rect">
            <a:avLst/>
          </a:prstGeom>
          <a:solidFill>
            <a:srgbClr val="EEF9F6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Primary audience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IT Production teams and operational stakeholders.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3163824"/>
            <a:ext cx="2331720" cy="146304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Green IT link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Green IT indicators can enrich production intelligence with sustainability-oriented operational signals.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106070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Role in the ecosystem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TWIN connects adoption, tooling, development workflows and measurable impact inside the overall DevX and AI4Dev ecosystem.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9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 IT section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Placed at the end of the deck and translated from the existing Green IT presentation.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75A"/>
                </a:solidFill>
              </a:rPr>
              <a:t>Positioning principle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4B35"/>
                </a:solidFill>
              </a:rPr>
              <a:t>Green IT is not another separate tool. It is a cross-functional capability that enriches Kevin, DevX Studio, IBM Bob AI and the AI4DEV adoption program.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10312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Existing applications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analysis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2971800"/>
            <a:ext cx="210312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Development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assistance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89320" y="2971800"/>
            <a:ext cx="210312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AI adoption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and governance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49640" y="2971800"/>
            <a:ext cx="2103120" cy="713232"/>
          </a:xfrm>
          <a:prstGeom prst="rect">
            <a:avLst/>
          </a:prstGeom>
          <a:solidFill>
            <a:srgbClr val="FFFFFF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Production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intelligence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71800" y="3328416"/>
            <a:ext cx="45720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32120" y="3328416"/>
            <a:ext cx="45720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92440" y="3328416"/>
            <a:ext cx="45720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234440" y="4343400"/>
            <a:ext cx="9418320" cy="502920"/>
          </a:xfrm>
          <a:prstGeom prst="rect">
            <a:avLst/>
          </a:prstGeom>
          <a:solidFill>
            <a:srgbClr val="00875A"/>
          </a:solidFill>
          <a:ln>
            <a:solidFill>
              <a:srgbClr val="00875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GREEN IT KNOWLEDGE &amp; RECOMMENDATIONS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10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 IT — Vision &amp; Objectives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Translation of the Green Code Challenge positioning slide.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789920" cy="1508760"/>
          </a:xfrm>
          <a:prstGeom prst="rect">
            <a:avLst/>
          </a:prstGeom>
          <a:solidFill>
            <a:srgbClr val="F7FBF4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Context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As part of the Green Code Challenge 2026, BNP Paribas explored how artificial intelligence can support development teams in reducing the environmental footprint of applications. The objective is not to create a new tool, but to leverage acquired knowledge by integrating it into AI solutions already used by developers.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5074920" cy="914400"/>
          </a:xfrm>
          <a:prstGeom prst="rect">
            <a:avLst/>
          </a:prstGeom>
          <a:solidFill>
            <a:srgbClr val="EEF9F6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Two complementary use cases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Kevin: analysis of existing applications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DevX / IBM Bob AI: development assistance and code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3063240"/>
            <a:ext cx="5212080" cy="137160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Objectives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• Spread Green IT good practices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• Standardize AI-generated recommendations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• Reduce the environmental footprint of applications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• Mutualize Green IT knowledge across AI assistants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107899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Expected outcome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 shared Green IT capability available across the Group AI ecosystem, from repository analysis to developer assistance.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11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 IT — Current Kevin architecture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Kevin is currently a mono-agent pipeline enriched by sequential facets.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Current behavior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3B2F"/>
                </a:solidFill>
              </a:rPr>
              <a:t>Kevin currently relies on a single AI agent. Each analysis step progressively enriches the context sent to the model through facets.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5806440" y="1572768"/>
            <a:ext cx="1417320" cy="594360"/>
          </a:xfrm>
          <a:prstGeom prst="rect">
            <a:avLst/>
          </a:prstGeom>
          <a:solidFill>
            <a:srgbClr val="F7FBF4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Code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repository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0" y="1572768"/>
            <a:ext cx="1417320" cy="594360"/>
          </a:xfrm>
          <a:prstGeom prst="rect">
            <a:avLst/>
          </a:prstGeom>
          <a:solidFill>
            <a:srgbClr val="F7FBF4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Repository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analysis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72600" y="1508760"/>
            <a:ext cx="1600200" cy="731520"/>
          </a:xfrm>
          <a:prstGeom prst="rect">
            <a:avLst/>
          </a:prstGeom>
          <a:solidFill>
            <a:srgbClr val="F3F8EF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Kevin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mono-agent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1865376"/>
            <a:ext cx="36576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06840" y="1865376"/>
            <a:ext cx="36576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715000" y="2651760"/>
            <a:ext cx="1417320" cy="310896"/>
          </a:xfrm>
          <a:prstGeom prst="rect">
            <a:avLst/>
          </a:prstGeom>
          <a:solidFill>
            <a:srgbClr val="00875A"/>
          </a:solidFill>
          <a:ln>
            <a:solidFill>
              <a:srgbClr val="00875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62088" y="2651760"/>
            <a:ext cx="1417320" cy="310896"/>
          </a:xfrm>
          <a:prstGeom prst="rect">
            <a:avLst/>
          </a:prstGeom>
          <a:solidFill>
            <a:srgbClr val="0D8A74"/>
          </a:solidFill>
          <a:ln>
            <a:solidFill>
              <a:srgbClr val="0D8A7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Developer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409176" y="2651760"/>
            <a:ext cx="1417320" cy="310896"/>
          </a:xfrm>
          <a:prstGeom prst="rect">
            <a:avLst/>
          </a:prstGeom>
          <a:solidFill>
            <a:srgbClr val="00875A"/>
          </a:solidFill>
          <a:ln>
            <a:solidFill>
              <a:srgbClr val="00875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UML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0" y="3127248"/>
            <a:ext cx="1417320" cy="310896"/>
          </a:xfrm>
          <a:prstGeom prst="rect">
            <a:avLst/>
          </a:prstGeom>
          <a:solidFill>
            <a:srgbClr val="0D8A74"/>
          </a:solidFill>
          <a:ln>
            <a:solidFill>
              <a:srgbClr val="0D8A7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Functional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62088" y="3127248"/>
            <a:ext cx="1417320" cy="310896"/>
          </a:xfrm>
          <a:prstGeom prst="rect">
            <a:avLst/>
          </a:prstGeom>
          <a:solidFill>
            <a:srgbClr val="00875A"/>
          </a:solidFill>
          <a:ln>
            <a:solidFill>
              <a:srgbClr val="00875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409176" y="3127248"/>
            <a:ext cx="1417320" cy="310896"/>
          </a:xfrm>
          <a:prstGeom prst="rect">
            <a:avLst/>
          </a:prstGeom>
          <a:solidFill>
            <a:srgbClr val="0D8A74"/>
          </a:solidFill>
          <a:ln>
            <a:solidFill>
              <a:srgbClr val="0D8A7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Technologies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52360" y="3977640"/>
            <a:ext cx="2194560" cy="594360"/>
          </a:xfrm>
          <a:prstGeom prst="rect">
            <a:avLst/>
          </a:prstGeom>
          <a:solidFill>
            <a:srgbClr val="F7FBF4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Generated documentation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</a:rPr>
              <a:t>Current limitation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345643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3B2F"/>
                </a:solidFill>
              </a:rPr>
              <a:t>Kevin is not currently designed as a native multi-agent architecture. Adding specialized AI agents guided by skills would require changing the full processing chain.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10789920" cy="73152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Pragmatic Green IT integration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Add a Green IT facet first, then evolve towards reusable skills and specialized agents once the architecture is ready.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12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87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 IT — Target integration model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77824"/>
            <a:ext cx="11064240" cy="0"/>
          </a:xfrm>
          <a:prstGeom prst="line">
            <a:avLst/>
          </a:prstGeom>
          <a:noFill/>
          <a:ln w="12700">
            <a:solidFill>
              <a:srgbClr val="DDE7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78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Reusable knowledge, consistent recommendations and progressive rollout.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828800" cy="685800"/>
          </a:xfrm>
          <a:prstGeom prst="rect">
            <a:avLst/>
          </a:prstGeom>
          <a:solidFill>
            <a:srgbClr val="F3F8EF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Green 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knowledge base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71800" y="1965960"/>
            <a:ext cx="1828800" cy="685800"/>
          </a:xfrm>
          <a:prstGeom prst="rect">
            <a:avLst/>
          </a:prstGeom>
          <a:solidFill>
            <a:srgbClr val="EEF9F6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Rules, skills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and prompts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166360" y="1965960"/>
            <a:ext cx="1920240" cy="685800"/>
          </a:xfrm>
          <a:prstGeom prst="rect">
            <a:avLst/>
          </a:prstGeom>
          <a:solidFill>
            <a:srgbClr val="F3F8EF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Kevin / DevX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IBM Bob AI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43800" y="1965960"/>
            <a:ext cx="2011680" cy="685800"/>
          </a:xfrm>
          <a:prstGeom prst="rect">
            <a:avLst/>
          </a:prstGeom>
          <a:solidFill>
            <a:srgbClr val="EEF9F6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Recommendations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and remediation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966960" y="1965960"/>
            <a:ext cx="1737360" cy="685800"/>
          </a:xfrm>
          <a:prstGeom prst="rect">
            <a:avLst/>
          </a:prstGeom>
          <a:solidFill>
            <a:srgbClr val="F3F8EF"/>
          </a:solidFill>
          <a:ln w="13970">
            <a:solidFill>
              <a:srgbClr val="00875A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Measured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4B35"/>
                </a:solidFill>
              </a:rPr>
              <a:t>improvement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2304288"/>
            <a:ext cx="36576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2304288"/>
            <a:ext cx="36576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86600" y="2304288"/>
            <a:ext cx="45720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555480" y="2304288"/>
            <a:ext cx="411480" cy="0"/>
          </a:xfrm>
          <a:prstGeom prst="line">
            <a:avLst/>
          </a:prstGeom>
          <a:noFill/>
          <a:ln w="19050">
            <a:solidFill>
              <a:srgbClr val="00875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" y="3429000"/>
            <a:ext cx="5074920" cy="914400"/>
          </a:xfrm>
          <a:prstGeom prst="rect">
            <a:avLst/>
          </a:prstGeom>
          <a:solidFill>
            <a:srgbClr val="F7FBF4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Analysis scope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Architecture • code • APIs • distributed systems • cloud • containers • data • infrastructure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429000"/>
            <a:ext cx="5074920" cy="914400"/>
          </a:xfrm>
          <a:prstGeom prst="rect">
            <a:avLst/>
          </a:prstGeom>
          <a:solidFill>
            <a:srgbClr val="EEF9F6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Outputs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Score • prioritized recommendations • explanation • suggested remediation • before/after comparison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10561320" cy="731520"/>
          </a:xfrm>
          <a:prstGeom prst="rect">
            <a:avLst/>
          </a:prstGeom>
          <a:solidFill>
            <a:srgbClr val="F3F8EF"/>
          </a:solidFill>
          <a:ln w="10160">
            <a:solidFill>
              <a:srgbClr val="DDE7D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</a:rPr>
              <a:t>Next action
</a:t>
            </a:r>
            <a:pPr indent="0" marL="0">
              <a:buNone/>
            </a:pPr>
            <a:r>
              <a:rPr lang="en-US" sz="1300" dirty="0">
                <a:solidFill>
                  <a:srgbClr val="173B2F"/>
                </a:solidFill>
              </a:rPr>
              <a:t>Upload the existing Green IT PowerPoint so the full Green IT section can be translated and inserted at the end with the same structure.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6236208"/>
            <a:ext cx="11384280" cy="0"/>
          </a:xfrm>
          <a:prstGeom prst="line">
            <a:avLst/>
          </a:prstGeom>
          <a:noFill/>
          <a:ln w="12700">
            <a:solidFill>
              <a:srgbClr val="008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382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BNP PARIBAS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6382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11111"/>
                </a:solidFill>
              </a:rPr>
              <a:t>The bank for a changing world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9006840" y="6382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00875A"/>
                </a:solidFill>
              </a:rPr>
              <a:t>Internal Use Only  |  31/07/2026  |  13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AI Offer — DevX and AI4Dev Ecosystem</dc:title>
  <dc:subject>Group AI Offer — DevX and AI4Dev Ecosystem</dc:subject>
  <dc:creator>OpenAI</dc:creator>
  <cp:lastModifiedBy>OpenAI</cp:lastModifiedBy>
  <cp:revision>1</cp:revision>
  <dcterms:created xsi:type="dcterms:W3CDTF">2026-07-31T13:42:45Z</dcterms:created>
  <dcterms:modified xsi:type="dcterms:W3CDTF">2026-07-31T13:42:45Z</dcterms:modified>
</cp:coreProperties>
</file>