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CDD"/>
          </a:solidFill>
          <a:ln w="12700">
            <a:solidFill>
              <a:srgbClr val="F7EC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3F2D"/>
          </a:solidFill>
          <a:ln w="12700">
            <a:solidFill>
              <a:srgbClr val="063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– DEVX AND AI4DEV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UPDATE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quarterly view — July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4663440" cy="1737360"/>
          </a:xfrm>
          <a:prstGeom prst="roundRect">
            <a:avLst>
              <a:gd name="adj" fmla="val 7895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this version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3182112"/>
            <a:ext cx="42062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Ecosystem scope extended beyond DevX Studio and AI4DEV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IBM Bob AI, Kevin, TWIN and Green IT included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Adoption indicators updated with +3 to +4 points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LLM view clarified with agentic coding 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480560" cy="3657600"/>
          </a:xfrm>
          <a:prstGeom prst="arc">
            <a:avLst/>
          </a:prstGeom>
          <a:solidFill>
            <a:srgbClr val="F7ECDD">
              <a:alpha val="0"/>
            </a:srgbClr>
          </a:solidFill>
          <a:ln w="50800">
            <a:solidFill>
              <a:srgbClr val="0B8F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481328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62763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AI4DEV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1112" y="1984248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program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17830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22792" y="192938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22792" y="2286000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+ NextGen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274320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288950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79792" y="3246120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2999232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314553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00032" y="3502152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Production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416052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430682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93992" y="4663440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41080" y="42976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E7F4ED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05672" y="4443984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05672" y="4800600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dev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4800600"/>
            <a:ext cx="4663440" cy="365760"/>
          </a:xfrm>
          <a:prstGeom prst="rect">
            <a:avLst/>
          </a:prstGeom>
          <a:solidFill>
            <a:srgbClr val="0B8F54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EL KILALI &amp; OUEB RACHEDI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ITG IT PS — 2026, July 31st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1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ITPS – GOVERNANCE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from project mode to run mode — updated communication structure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project mode to run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lighter run governance has been established while keeping regular reporting under AECC management.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2176272"/>
            <a:ext cx="292608" cy="292608"/>
          </a:xfrm>
          <a:prstGeom prst="ellipse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4028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</a:rPr>
              <a:t>Effective transition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</a:rPr>
              <a:t>Run mode effective since March 1st,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2843784"/>
            <a:ext cx="292608" cy="292608"/>
          </a:xfrm>
          <a:prstGeom prst="ellipse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90779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43000" y="28163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</a:rPr>
              <a:t>Delegation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044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</a:rPr>
              <a:t>Users management and activity follow-up delegated to Group deputies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" y="3511296"/>
            <a:ext cx="292608" cy="292608"/>
          </a:xfrm>
          <a:prstGeom prst="ellipse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57530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43000" y="34838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</a:rPr>
              <a:t>Department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712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</a:rPr>
              <a:t>Assistance and follow-up remain under AECC staff management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4178808"/>
            <a:ext cx="292608" cy="292608"/>
          </a:xfrm>
          <a:prstGeom prst="ellipse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42816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43000" y="41513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</a:rPr>
              <a:t>Cadence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3799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</a:rPr>
              <a:t>Switch from weekly to bi-monthly central team meeting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55080" y="1600200"/>
            <a:ext cx="4937760" cy="3017520"/>
          </a:xfrm>
          <a:prstGeom prst="roundRect">
            <a:avLst>
              <a:gd name="adj" fmla="val 3636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746504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deliverables remain in place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2103120"/>
            <a:ext cx="4608576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and monthly reports remain under AECC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Sharing extended to all stakeholders: APS TO + Factor and Monetique, in addition to Cash Management and CDS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quarterly update is delivered using the refreshed structure of this deck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4828032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4974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message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19672" y="5330952"/>
            <a:ext cx="46085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is now positioned as an operating model supporting adoption, usage follow-up and ecosystem evolution.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OVERVIEW — EVOLUTION SINCE JANUARY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strengths and attention points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28930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645920"/>
            <a:ext cx="4837176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457200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 now live for autonomous execution of complex tasks
</a:t>
            </a:r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CLI provides a command-line interface for seamless automation
</a:t>
            </a:r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models expanded with Gemma and Nemotron in the sandbox
</a:t>
            </a:r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enables integration with external tools
</a:t>
            </a:r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metrics support productivity tracking and analytics
</a:t>
            </a:r>
            <a:pPr indent="0" marL="0">
              <a:buNone/>
            </a:pPr>
            <a:r>
              <a:rPr lang="en-US" sz="105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support remains responsive and production-oriented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166360" cy="4251960"/>
          </a:xfrm>
          <a:prstGeom prst="roundRect">
            <a:avLst>
              <a:gd name="adj" fmla="val 2581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28930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to watch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1645920"/>
            <a:ext cx="4837176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457200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Integrated browser remains slower than local environments in some testing scenarios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 image initialization can be time-consuming on large images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Top-tier model availability is still evolving and should be monitored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Enterprise rollout of IBM Bob AI and agentic coding needs clear qualification and onboarding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Usage growth must remain supported by training, support and governance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5532120"/>
            <a:ext cx="10789920" cy="502920"/>
          </a:xfrm>
          <a:prstGeom prst="roundRect">
            <a:avLst>
              <a:gd name="adj" fmla="val 21818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678424"/>
            <a:ext cx="10460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positioning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" y="6035040"/>
            <a:ext cx="10460736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scope is no longer limited to DevX Studio and AI4DEV: it now covers a broader ecosystem including IBM Bob AI, Kevin, TWIN, RTK/FinOps and Green 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3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AND AI4DEV MAJOR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view — new ecosystem capabilities and positioning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063F2D"/>
          </a:solidFill>
          <a:ln w="12700">
            <a:solidFill>
              <a:srgbClr val="063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50B987"/>
          </a:solidFill>
          <a:ln w="12700">
            <a:solidFill>
              <a:srgbClr val="50B9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LIVE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649224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Agent mode can be activated through Continue or OpenCode to bring autonomous task execution into DevX workflows.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166F46"/>
          </a:solidFill>
          <a:ln w="12700">
            <a:solidFill>
              <a:srgbClr val="166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50B987"/>
          </a:solidFill>
          <a:ln w="12700">
            <a:solidFill>
              <a:srgbClr val="50B9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UPDATED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2587752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Token quota raised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70048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Daily quota raised to 20M tokens per model, supporting higher usage as agent mode adoption increases.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79976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063F2D"/>
          </a:solidFill>
          <a:ln w="12700">
            <a:solidFill>
              <a:srgbClr val="063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44568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F5BE18"/>
          </a:solidFill>
          <a:ln w="12700">
            <a:solidFill>
              <a:srgbClr val="F5BE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63F2D"/>
                </a:solidFill>
              </a:rPr>
              <a:t>NEW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4526280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IBM Bob AI + Claude Code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08576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IBM Bob AI is positioned as the agentic IDE capability. Claude Code comes with IBM Bob AI for agentic coding workflows.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18504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166F46"/>
          </a:solidFill>
          <a:ln w="12700">
            <a:solidFill>
              <a:srgbClr val="166F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3096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50B987"/>
          </a:solidFill>
          <a:ln w="12700">
            <a:solidFill>
              <a:srgbClr val="50B9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APPROVED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6464808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Gemma &amp; Nemotron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47104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Security-cleared models are available in the sandbox and can be integrated into upcoming DevX releases.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57032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063F2D"/>
          </a:solidFill>
          <a:ln w="12700">
            <a:solidFill>
              <a:srgbClr val="063F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50B987"/>
          </a:solidFill>
          <a:ln w="12700">
            <a:solidFill>
              <a:srgbClr val="50B9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EARLY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8403336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SaaS platform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85632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9912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Early-adopter launch introduces a SaaS platform as the next evolution of the DevX ecosystem.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195560" y="1143000"/>
            <a:ext cx="1783080" cy="4343400"/>
          </a:xfrm>
          <a:prstGeom prst="roundRect">
            <a:avLst>
              <a:gd name="adj" fmla="val 7692"/>
            </a:avLst>
          </a:prstGeom>
          <a:solidFill>
            <a:srgbClr val="166F46"/>
          </a:solidFill>
          <a:ln w="12700">
            <a:solidFill>
              <a:srgbClr val="166F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0152" y="1325880"/>
            <a:ext cx="749808" cy="201168"/>
          </a:xfrm>
          <a:prstGeom prst="roundRect">
            <a:avLst>
              <a:gd name="adj" fmla="val 36364"/>
            </a:avLst>
          </a:prstGeom>
          <a:solidFill>
            <a:srgbClr val="50B987"/>
          </a:solidFill>
          <a:ln w="12700">
            <a:solidFill>
              <a:srgbClr val="50B9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96728" y="1362456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</a:rPr>
              <a:t>NEW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10341864" y="1755648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Green IT / RTK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424160" y="249631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8440" y="2788920"/>
            <a:ext cx="1417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RTK reduces noisy terminal outputs before they reach the LLM context, lowering token usage and compute cost.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Green-IT &amp; FinOps — Integrating RTK into DevX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scope for cost, token and compute optimization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987552"/>
            <a:ext cx="10652760" cy="384048"/>
          </a:xfrm>
          <a:prstGeom prst="roundRect">
            <a:avLst>
              <a:gd name="adj" fmla="val 19048"/>
            </a:avLst>
          </a:prstGeom>
          <a:solidFill>
            <a:srgbClr val="FFF9F1"/>
          </a:solidFill>
          <a:ln w="15240">
            <a:solidFill>
              <a:srgbClr val="0B8F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78992"/>
            <a:ext cx="10561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0B8F54"/>
                </a:solidFill>
              </a:rPr>
              <a:t>https://www.rtk-ai.app/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2951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Raw command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2651760"/>
            <a:ext cx="20482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terminal logs, stack traces and verbose build outputs are often too noisy for direct LLM usage.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246120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11880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2951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RTK cleanup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76472" y="2651760"/>
            <a:ext cx="20482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 cleans and compresses the text, keeping the essential information before sending it to the AI.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080760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46520" y="2148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2951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assistant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1112" y="2651760"/>
            <a:ext cx="20482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Cursor, Copilot, Aider or DevX assistants receive more focused and cheaper context.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915400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81160" y="21488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2295144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45752" y="2651760"/>
            <a:ext cx="1819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token usage, lower LLM cost and reduced compute demand.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77240" y="397764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23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RTK does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1832" y="4480560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utility that acts as a filter between the developer and AI-powered code assistants.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15968" y="397764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123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add RTK to DevX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80560" y="4480560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token savings by compressing command-line outputs before they reach the LLM context.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0" y="397764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9F1"/>
          </a:solidFill>
          <a:ln w="12700">
            <a:solidFill>
              <a:srgbClr val="D3C5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4123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IT impact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28432" y="4480560"/>
            <a:ext cx="29169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reduction proportionally lowers compute power required on model servers and supports FinOps objectives.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5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ITPS – DevX AND AI4DEV ADOPTION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 updated with +3 to +4 percentage points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78992"/>
            <a:ext cx="2788920" cy="2788920"/>
          </a:xfrm>
          <a:prstGeom prst="roundRect">
            <a:avLst>
              <a:gd name="adj" fmla="val 8197"/>
            </a:avLst>
          </a:prstGeom>
          <a:solidFill>
            <a:srgbClr val="FFF9F1"/>
          </a:solidFill>
          <a:ln w="22860">
            <a:solidFill>
              <a:srgbClr val="0B8F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F2D"/>
                </a:solidFill>
              </a:rPr>
              <a:t>AI4DEV</a:t>
            </a:r>
            <a:endParaRPr lang="en-US" sz="1800" dirty="0"/>
          </a:p>
        </p:txBody>
      </p:sp>
      <p:pic>
        <p:nvPicPr>
          <p:cNvPr id="8" name="Image 0" descr="/mnt/data/assets_ai_update/gauge_ai4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1965960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33272" y="4160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6EA"/>
          </a:solidFill>
          <a:ln w="15240">
            <a:solidFill>
              <a:srgbClr val="3B2E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4279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KEY MESSAGES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61288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LLM remains the major driver of usage.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LLM extensions continue to sustain the adoption dynamic.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133088" y="1078992"/>
            <a:ext cx="2788920" cy="2788920"/>
          </a:xfrm>
          <a:prstGeom prst="roundRect">
            <a:avLst>
              <a:gd name="adj" fmla="val 8197"/>
            </a:avLst>
          </a:prstGeom>
          <a:solidFill>
            <a:srgbClr val="FFF9F1"/>
          </a:solidFill>
          <a:ln w="22860">
            <a:solidFill>
              <a:srgbClr val="0B8F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24528" y="1207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F2D"/>
                </a:solidFill>
              </a:rPr>
              <a:t>DEVX STUDIO</a:t>
            </a:r>
            <a:endParaRPr lang="en-US" sz="1800" dirty="0"/>
          </a:p>
        </p:txBody>
      </p:sp>
      <p:pic>
        <p:nvPicPr>
          <p:cNvPr id="14" name="Image 1" descr="/mnt/data/assets_ai_update/gauge_devx_stu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600200"/>
            <a:ext cx="1965960" cy="12344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89120" y="4160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6EA"/>
          </a:solidFill>
          <a:ln w="15240">
            <a:solidFill>
              <a:srgbClr val="3B2E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17136" y="4279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KEY MESSAGES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17136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Adoption remains strong while the subscription remains open.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A progressive shift to NextGen is expected in Q3.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7488936" y="1078992"/>
            <a:ext cx="2788920" cy="2788920"/>
          </a:xfrm>
          <a:prstGeom prst="roundRect">
            <a:avLst>
              <a:gd name="adj" fmla="val 8197"/>
            </a:avLst>
          </a:prstGeom>
          <a:solidFill>
            <a:srgbClr val="FFF9F1"/>
          </a:solidFill>
          <a:ln w="22860">
            <a:solidFill>
              <a:srgbClr val="0B8F5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80376" y="1207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F2D"/>
                </a:solidFill>
              </a:rPr>
              <a:t>DEVX NEXTGEN</a:t>
            </a:r>
            <a:endParaRPr lang="en-US" sz="1800" dirty="0"/>
          </a:p>
        </p:txBody>
      </p:sp>
      <p:pic>
        <p:nvPicPr>
          <p:cNvPr id="20" name="Image 2" descr="/mnt/data/assets_ai_update/gauge_devx_next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1600200"/>
            <a:ext cx="1965960" cy="12344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744968" y="41605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6EA"/>
          </a:solidFill>
          <a:ln w="15240">
            <a:solidFill>
              <a:srgbClr val="3B2E2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872984" y="4279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KEY MESSAGES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872984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Still in early-adopter phase.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2B22"/>
                </a:solidFill>
              </a:rPr>
              <a:t>Usage should increase by year-end as rollout expands.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777240" y="5440680"/>
            <a:ext cx="9509760" cy="438912"/>
          </a:xfrm>
          <a:prstGeom prst="roundRect">
            <a:avLst>
              <a:gd name="adj" fmla="val 25000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41832" y="5586984"/>
            <a:ext cx="9180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interpretation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941832" y="5943600"/>
            <a:ext cx="9180576" cy="-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continues to grow across the three main services, with each indicator gaining 3 to 4 percentage points compared with the previous version.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6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AND AI4DEV Usage Dashboard within the Group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usage view and key messages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pic>
        <p:nvPicPr>
          <p:cNvPr id="6" name="Image 0" descr="/mnt/data/assets_ai_update/usag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502920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97280"/>
            <a:ext cx="82296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1521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720840" y="1097280"/>
            <a:ext cx="59436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48272" y="115214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7315200" y="1097280"/>
            <a:ext cx="77724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42632" y="115214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8092440" y="1097280"/>
            <a:ext cx="41148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115214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8503920" y="1097280"/>
            <a:ext cx="50292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1352" y="115214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9006840" y="1097280"/>
            <a:ext cx="411480" cy="29260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4272" y="115214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897880" y="1389888"/>
            <a:ext cx="8229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5312" y="1444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ITG ITPS</a:t>
            </a:r>
            <a:endParaRPr lang="en-US" sz="620" dirty="0"/>
          </a:p>
        </p:txBody>
      </p:sp>
      <p:sp>
        <p:nvSpPr>
          <p:cNvPr id="21" name="Shape 18"/>
          <p:cNvSpPr/>
          <p:nvPr/>
        </p:nvSpPr>
        <p:spPr>
          <a:xfrm>
            <a:off x="6720840" y="1389888"/>
            <a:ext cx="5943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1444752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620" dirty="0"/>
          </a:p>
        </p:txBody>
      </p:sp>
      <p:sp>
        <p:nvSpPr>
          <p:cNvPr id="23" name="Shape 20"/>
          <p:cNvSpPr/>
          <p:nvPr/>
        </p:nvSpPr>
        <p:spPr>
          <a:xfrm>
            <a:off x="7315200" y="1389888"/>
            <a:ext cx="77724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42632" y="144475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20" dirty="0"/>
          </a:p>
        </p:txBody>
      </p:sp>
      <p:sp>
        <p:nvSpPr>
          <p:cNvPr id="25" name="Shape 22"/>
          <p:cNvSpPr/>
          <p:nvPr/>
        </p:nvSpPr>
        <p:spPr>
          <a:xfrm>
            <a:off x="8092440" y="1389888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9872" y="1444752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8503920" y="1389888"/>
            <a:ext cx="50292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31352" y="144475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9006840" y="1389888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34272" y="1444752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20" dirty="0"/>
          </a:p>
        </p:txBody>
      </p:sp>
      <p:sp>
        <p:nvSpPr>
          <p:cNvPr id="31" name="Shape 28"/>
          <p:cNvSpPr/>
          <p:nvPr/>
        </p:nvSpPr>
        <p:spPr>
          <a:xfrm>
            <a:off x="5897880" y="1682496"/>
            <a:ext cx="8229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25312" y="173736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BCEF</a:t>
            </a:r>
            <a:endParaRPr lang="en-US" sz="620" dirty="0"/>
          </a:p>
        </p:txBody>
      </p:sp>
      <p:sp>
        <p:nvSpPr>
          <p:cNvPr id="33" name="Shape 30"/>
          <p:cNvSpPr/>
          <p:nvPr/>
        </p:nvSpPr>
        <p:spPr>
          <a:xfrm>
            <a:off x="6720840" y="1682496"/>
            <a:ext cx="5943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48272" y="1737360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1,539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7315200" y="1682496"/>
            <a:ext cx="77724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42632" y="173736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20" dirty="0"/>
          </a:p>
        </p:txBody>
      </p:sp>
      <p:sp>
        <p:nvSpPr>
          <p:cNvPr id="37" name="Shape 34"/>
          <p:cNvSpPr/>
          <p:nvPr/>
        </p:nvSpPr>
        <p:spPr>
          <a:xfrm>
            <a:off x="8092440" y="1682496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19872" y="173736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20" dirty="0"/>
          </a:p>
        </p:txBody>
      </p:sp>
      <p:sp>
        <p:nvSpPr>
          <p:cNvPr id="39" name="Shape 36"/>
          <p:cNvSpPr/>
          <p:nvPr/>
        </p:nvSpPr>
        <p:spPr>
          <a:xfrm>
            <a:off x="8503920" y="1682496"/>
            <a:ext cx="50292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31352" y="173736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620" dirty="0"/>
          </a:p>
        </p:txBody>
      </p:sp>
      <p:sp>
        <p:nvSpPr>
          <p:cNvPr id="41" name="Shape 38"/>
          <p:cNvSpPr/>
          <p:nvPr/>
        </p:nvSpPr>
        <p:spPr>
          <a:xfrm>
            <a:off x="9006840" y="1682496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34272" y="173736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20" dirty="0"/>
          </a:p>
        </p:txBody>
      </p:sp>
      <p:sp>
        <p:nvSpPr>
          <p:cNvPr id="43" name="Shape 40"/>
          <p:cNvSpPr/>
          <p:nvPr/>
        </p:nvSpPr>
        <p:spPr>
          <a:xfrm>
            <a:off x="5897880" y="1975104"/>
            <a:ext cx="8229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25312" y="20299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ARVAL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6720840" y="1975104"/>
            <a:ext cx="5943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48272" y="2029968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</a:t>
            </a:r>
            <a:endParaRPr lang="en-US" sz="620" dirty="0"/>
          </a:p>
        </p:txBody>
      </p:sp>
      <p:sp>
        <p:nvSpPr>
          <p:cNvPr id="47" name="Shape 44"/>
          <p:cNvSpPr/>
          <p:nvPr/>
        </p:nvSpPr>
        <p:spPr>
          <a:xfrm>
            <a:off x="7315200" y="1975104"/>
            <a:ext cx="77724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42632" y="202996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20" dirty="0"/>
          </a:p>
        </p:txBody>
      </p:sp>
      <p:sp>
        <p:nvSpPr>
          <p:cNvPr id="49" name="Shape 46"/>
          <p:cNvSpPr/>
          <p:nvPr/>
        </p:nvSpPr>
        <p:spPr>
          <a:xfrm>
            <a:off x="8092440" y="1975104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119872" y="2029968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20" dirty="0"/>
          </a:p>
        </p:txBody>
      </p:sp>
      <p:sp>
        <p:nvSpPr>
          <p:cNvPr id="51" name="Shape 48"/>
          <p:cNvSpPr/>
          <p:nvPr/>
        </p:nvSpPr>
        <p:spPr>
          <a:xfrm>
            <a:off x="8503920" y="1975104"/>
            <a:ext cx="50292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31352" y="202996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620" dirty="0"/>
          </a:p>
        </p:txBody>
      </p:sp>
      <p:sp>
        <p:nvSpPr>
          <p:cNvPr id="53" name="Shape 50"/>
          <p:cNvSpPr/>
          <p:nvPr/>
        </p:nvSpPr>
        <p:spPr>
          <a:xfrm>
            <a:off x="9006840" y="1975104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034272" y="2029968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5897880" y="2267712"/>
            <a:ext cx="8229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25312" y="23225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FORTIS</a:t>
            </a:r>
            <a:endParaRPr lang="en-US" sz="620" dirty="0"/>
          </a:p>
        </p:txBody>
      </p:sp>
      <p:sp>
        <p:nvSpPr>
          <p:cNvPr id="57" name="Shape 54"/>
          <p:cNvSpPr/>
          <p:nvPr/>
        </p:nvSpPr>
        <p:spPr>
          <a:xfrm>
            <a:off x="6720840" y="2267712"/>
            <a:ext cx="5943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48272" y="2322576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831</a:t>
            </a:r>
            <a:endParaRPr lang="en-US" sz="620" dirty="0"/>
          </a:p>
        </p:txBody>
      </p:sp>
      <p:sp>
        <p:nvSpPr>
          <p:cNvPr id="59" name="Shape 56"/>
          <p:cNvSpPr/>
          <p:nvPr/>
        </p:nvSpPr>
        <p:spPr>
          <a:xfrm>
            <a:off x="7315200" y="2267712"/>
            <a:ext cx="77724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42632" y="232257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20" dirty="0"/>
          </a:p>
        </p:txBody>
      </p:sp>
      <p:sp>
        <p:nvSpPr>
          <p:cNvPr id="61" name="Shape 58"/>
          <p:cNvSpPr/>
          <p:nvPr/>
        </p:nvSpPr>
        <p:spPr>
          <a:xfrm>
            <a:off x="8092440" y="2267712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119872" y="232257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20" dirty="0"/>
          </a:p>
        </p:txBody>
      </p:sp>
      <p:sp>
        <p:nvSpPr>
          <p:cNvPr id="63" name="Shape 60"/>
          <p:cNvSpPr/>
          <p:nvPr/>
        </p:nvSpPr>
        <p:spPr>
          <a:xfrm>
            <a:off x="8503920" y="2267712"/>
            <a:ext cx="50292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531352" y="232257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9006840" y="2267712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034272" y="232257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20" dirty="0"/>
          </a:p>
        </p:txBody>
      </p:sp>
      <p:sp>
        <p:nvSpPr>
          <p:cNvPr id="67" name="Shape 64"/>
          <p:cNvSpPr/>
          <p:nvPr/>
        </p:nvSpPr>
        <p:spPr>
          <a:xfrm>
            <a:off x="5897880" y="2560320"/>
            <a:ext cx="8229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925312" y="261518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</a:t>
            </a:r>
            <a:endParaRPr lang="en-US" sz="620" dirty="0"/>
          </a:p>
        </p:txBody>
      </p:sp>
      <p:sp>
        <p:nvSpPr>
          <p:cNvPr id="69" name="Shape 66"/>
          <p:cNvSpPr/>
          <p:nvPr/>
        </p:nvSpPr>
        <p:spPr>
          <a:xfrm>
            <a:off x="6720840" y="2560320"/>
            <a:ext cx="5943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748272" y="261518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620" dirty="0"/>
          </a:p>
        </p:txBody>
      </p:sp>
      <p:sp>
        <p:nvSpPr>
          <p:cNvPr id="71" name="Shape 68"/>
          <p:cNvSpPr/>
          <p:nvPr/>
        </p:nvSpPr>
        <p:spPr>
          <a:xfrm>
            <a:off x="7315200" y="2560320"/>
            <a:ext cx="77724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42632" y="261518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20" dirty="0"/>
          </a:p>
        </p:txBody>
      </p:sp>
      <p:sp>
        <p:nvSpPr>
          <p:cNvPr id="73" name="Shape 70"/>
          <p:cNvSpPr/>
          <p:nvPr/>
        </p:nvSpPr>
        <p:spPr>
          <a:xfrm>
            <a:off x="8092440" y="2560320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119872" y="26151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8503920" y="2560320"/>
            <a:ext cx="50292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531352" y="261518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20" dirty="0"/>
          </a:p>
        </p:txBody>
      </p:sp>
      <p:sp>
        <p:nvSpPr>
          <p:cNvPr id="77" name="Shape 74"/>
          <p:cNvSpPr/>
          <p:nvPr/>
        </p:nvSpPr>
        <p:spPr>
          <a:xfrm>
            <a:off x="9006840" y="2560320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034272" y="26151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20" dirty="0"/>
          </a:p>
        </p:txBody>
      </p:sp>
      <p:sp>
        <p:nvSpPr>
          <p:cNvPr id="79" name="Shape 76"/>
          <p:cNvSpPr/>
          <p:nvPr/>
        </p:nvSpPr>
        <p:spPr>
          <a:xfrm>
            <a:off x="5897880" y="2852928"/>
            <a:ext cx="8229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925312" y="29077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620" dirty="0"/>
          </a:p>
        </p:txBody>
      </p:sp>
      <p:sp>
        <p:nvSpPr>
          <p:cNvPr id="81" name="Shape 78"/>
          <p:cNvSpPr/>
          <p:nvPr/>
        </p:nvSpPr>
        <p:spPr>
          <a:xfrm>
            <a:off x="6720840" y="2852928"/>
            <a:ext cx="5943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748272" y="2907792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620" dirty="0"/>
          </a:p>
        </p:txBody>
      </p:sp>
      <p:sp>
        <p:nvSpPr>
          <p:cNvPr id="83" name="Shape 80"/>
          <p:cNvSpPr/>
          <p:nvPr/>
        </p:nvSpPr>
        <p:spPr>
          <a:xfrm>
            <a:off x="7315200" y="2852928"/>
            <a:ext cx="77724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342632" y="290779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8092440" y="2852928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119872" y="2907792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20" dirty="0"/>
          </a:p>
        </p:txBody>
      </p:sp>
      <p:sp>
        <p:nvSpPr>
          <p:cNvPr id="87" name="Shape 84"/>
          <p:cNvSpPr/>
          <p:nvPr/>
        </p:nvSpPr>
        <p:spPr>
          <a:xfrm>
            <a:off x="8503920" y="2852928"/>
            <a:ext cx="50292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8531352" y="290779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620" dirty="0"/>
          </a:p>
        </p:txBody>
      </p:sp>
      <p:sp>
        <p:nvSpPr>
          <p:cNvPr id="89" name="Shape 86"/>
          <p:cNvSpPr/>
          <p:nvPr/>
        </p:nvSpPr>
        <p:spPr>
          <a:xfrm>
            <a:off x="9006840" y="2852928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034272" y="2907792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20" dirty="0"/>
          </a:p>
        </p:txBody>
      </p:sp>
      <p:sp>
        <p:nvSpPr>
          <p:cNvPr id="91" name="Shape 88"/>
          <p:cNvSpPr/>
          <p:nvPr/>
        </p:nvSpPr>
        <p:spPr>
          <a:xfrm>
            <a:off x="5897880" y="3145536"/>
            <a:ext cx="8229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925312" y="32004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BGL</a:t>
            </a:r>
            <a:endParaRPr lang="en-US" sz="620" dirty="0"/>
          </a:p>
        </p:txBody>
      </p:sp>
      <p:sp>
        <p:nvSpPr>
          <p:cNvPr id="93" name="Shape 90"/>
          <p:cNvSpPr/>
          <p:nvPr/>
        </p:nvSpPr>
        <p:spPr>
          <a:xfrm>
            <a:off x="6720840" y="3145536"/>
            <a:ext cx="5943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748272" y="3200400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7315200" y="3145536"/>
            <a:ext cx="77724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342632" y="320040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20" dirty="0"/>
          </a:p>
        </p:txBody>
      </p:sp>
      <p:sp>
        <p:nvSpPr>
          <p:cNvPr id="97" name="Shape 94"/>
          <p:cNvSpPr/>
          <p:nvPr/>
        </p:nvSpPr>
        <p:spPr>
          <a:xfrm>
            <a:off x="8092440" y="3145536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119872" y="320040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20" dirty="0"/>
          </a:p>
        </p:txBody>
      </p:sp>
      <p:sp>
        <p:nvSpPr>
          <p:cNvPr id="99" name="Shape 96"/>
          <p:cNvSpPr/>
          <p:nvPr/>
        </p:nvSpPr>
        <p:spPr>
          <a:xfrm>
            <a:off x="8503920" y="3145536"/>
            <a:ext cx="50292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531352" y="320040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620" dirty="0"/>
          </a:p>
        </p:txBody>
      </p:sp>
      <p:sp>
        <p:nvSpPr>
          <p:cNvPr id="101" name="Shape 98"/>
          <p:cNvSpPr/>
          <p:nvPr/>
        </p:nvSpPr>
        <p:spPr>
          <a:xfrm>
            <a:off x="9006840" y="3145536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9034272" y="320040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20" dirty="0"/>
          </a:p>
        </p:txBody>
      </p:sp>
      <p:sp>
        <p:nvSpPr>
          <p:cNvPr id="103" name="Shape 100"/>
          <p:cNvSpPr/>
          <p:nvPr/>
        </p:nvSpPr>
        <p:spPr>
          <a:xfrm>
            <a:off x="5897880" y="3438144"/>
            <a:ext cx="8229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925312" y="34930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ITG PROD</a:t>
            </a:r>
            <a:endParaRPr lang="en-US" sz="620" dirty="0"/>
          </a:p>
        </p:txBody>
      </p:sp>
      <p:sp>
        <p:nvSpPr>
          <p:cNvPr id="105" name="Shape 102"/>
          <p:cNvSpPr/>
          <p:nvPr/>
        </p:nvSpPr>
        <p:spPr>
          <a:xfrm>
            <a:off x="6720840" y="3438144"/>
            <a:ext cx="5943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748272" y="3493008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693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7315200" y="3438144"/>
            <a:ext cx="77724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7342632" y="349300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20" dirty="0"/>
          </a:p>
        </p:txBody>
      </p:sp>
      <p:sp>
        <p:nvSpPr>
          <p:cNvPr id="109" name="Shape 106"/>
          <p:cNvSpPr/>
          <p:nvPr/>
        </p:nvSpPr>
        <p:spPr>
          <a:xfrm>
            <a:off x="8092440" y="3438144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8119872" y="3493008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20" dirty="0"/>
          </a:p>
        </p:txBody>
      </p:sp>
      <p:sp>
        <p:nvSpPr>
          <p:cNvPr id="111" name="Shape 108"/>
          <p:cNvSpPr/>
          <p:nvPr/>
        </p:nvSpPr>
        <p:spPr>
          <a:xfrm>
            <a:off x="8503920" y="3438144"/>
            <a:ext cx="50292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8531352" y="349300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20" dirty="0"/>
          </a:p>
        </p:txBody>
      </p:sp>
      <p:sp>
        <p:nvSpPr>
          <p:cNvPr id="113" name="Shape 110"/>
          <p:cNvSpPr/>
          <p:nvPr/>
        </p:nvSpPr>
        <p:spPr>
          <a:xfrm>
            <a:off x="9006840" y="3438144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9034272" y="3493008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20" dirty="0"/>
          </a:p>
        </p:txBody>
      </p:sp>
      <p:sp>
        <p:nvSpPr>
          <p:cNvPr id="115" name="Shape 112"/>
          <p:cNvSpPr/>
          <p:nvPr/>
        </p:nvSpPr>
        <p:spPr>
          <a:xfrm>
            <a:off x="5897880" y="3730752"/>
            <a:ext cx="8229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5925312" y="378561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GROUP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6720840" y="3730752"/>
            <a:ext cx="59436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748272" y="3785616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620" dirty="0"/>
          </a:p>
        </p:txBody>
      </p:sp>
      <p:sp>
        <p:nvSpPr>
          <p:cNvPr id="119" name="Shape 116"/>
          <p:cNvSpPr/>
          <p:nvPr/>
        </p:nvSpPr>
        <p:spPr>
          <a:xfrm>
            <a:off x="7315200" y="3730752"/>
            <a:ext cx="77724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7342632" y="378561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620" dirty="0"/>
          </a:p>
        </p:txBody>
      </p:sp>
      <p:sp>
        <p:nvSpPr>
          <p:cNvPr id="121" name="Shape 118"/>
          <p:cNvSpPr/>
          <p:nvPr/>
        </p:nvSpPr>
        <p:spPr>
          <a:xfrm>
            <a:off x="8092440" y="3730752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8119872" y="378561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20" dirty="0"/>
          </a:p>
        </p:txBody>
      </p:sp>
      <p:sp>
        <p:nvSpPr>
          <p:cNvPr id="123" name="Shape 120"/>
          <p:cNvSpPr/>
          <p:nvPr/>
        </p:nvSpPr>
        <p:spPr>
          <a:xfrm>
            <a:off x="8503920" y="3730752"/>
            <a:ext cx="50292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8531352" y="378561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20" dirty="0"/>
          </a:p>
        </p:txBody>
      </p:sp>
      <p:sp>
        <p:nvSpPr>
          <p:cNvPr id="125" name="Shape 122"/>
          <p:cNvSpPr/>
          <p:nvPr/>
        </p:nvSpPr>
        <p:spPr>
          <a:xfrm>
            <a:off x="9006840" y="3730752"/>
            <a:ext cx="411480" cy="29260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9034272" y="378561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5897880" y="4023360"/>
            <a:ext cx="8229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5925312" y="40782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620" dirty="0"/>
          </a:p>
        </p:txBody>
      </p:sp>
      <p:sp>
        <p:nvSpPr>
          <p:cNvPr id="129" name="Shape 126"/>
          <p:cNvSpPr/>
          <p:nvPr/>
        </p:nvSpPr>
        <p:spPr>
          <a:xfrm>
            <a:off x="6720840" y="4023360"/>
            <a:ext cx="59436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6748272" y="407822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1,129</a:t>
            </a:r>
            <a:endParaRPr lang="en-US" sz="620" dirty="0"/>
          </a:p>
        </p:txBody>
      </p:sp>
      <p:sp>
        <p:nvSpPr>
          <p:cNvPr id="131" name="Shape 128"/>
          <p:cNvSpPr/>
          <p:nvPr/>
        </p:nvSpPr>
        <p:spPr>
          <a:xfrm>
            <a:off x="7315200" y="4023360"/>
            <a:ext cx="77724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7342632" y="407822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20" dirty="0"/>
          </a:p>
        </p:txBody>
      </p:sp>
      <p:sp>
        <p:nvSpPr>
          <p:cNvPr id="133" name="Shape 130"/>
          <p:cNvSpPr/>
          <p:nvPr/>
        </p:nvSpPr>
        <p:spPr>
          <a:xfrm>
            <a:off x="8092440" y="4023360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8119872" y="407822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20" dirty="0"/>
          </a:p>
        </p:txBody>
      </p:sp>
      <p:sp>
        <p:nvSpPr>
          <p:cNvPr id="135" name="Shape 132"/>
          <p:cNvSpPr/>
          <p:nvPr/>
        </p:nvSpPr>
        <p:spPr>
          <a:xfrm>
            <a:off x="8503920" y="4023360"/>
            <a:ext cx="50292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8531352" y="407822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9006840" y="4023360"/>
            <a:ext cx="411480" cy="29260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9034272" y="407822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620" dirty="0"/>
          </a:p>
        </p:txBody>
      </p:sp>
      <p:sp>
        <p:nvSpPr>
          <p:cNvPr id="139" name="Shape 136"/>
          <p:cNvSpPr/>
          <p:nvPr/>
        </p:nvSpPr>
        <p:spPr>
          <a:xfrm>
            <a:off x="9646920" y="1097280"/>
            <a:ext cx="1920240" cy="4114800"/>
          </a:xfrm>
          <a:prstGeom prst="roundRect">
            <a:avLst>
              <a:gd name="adj" fmla="val 5714"/>
            </a:avLst>
          </a:prstGeom>
          <a:solidFill>
            <a:srgbClr val="FFF6EA"/>
          </a:solidFill>
          <a:ln w="12700">
            <a:solidFill>
              <a:srgbClr val="3B2E20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9811512" y="1243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1500" dirty="0"/>
          </a:p>
        </p:txBody>
      </p:sp>
      <p:sp>
        <p:nvSpPr>
          <p:cNvPr id="141" name="Text 138"/>
          <p:cNvSpPr/>
          <p:nvPr/>
        </p:nvSpPr>
        <p:spPr>
          <a:xfrm>
            <a:off x="9811512" y="1600200"/>
            <a:ext cx="1591056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ITPS remains well positioned in the Group ranking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Recent enhancements sustain usage momentum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updates should reinforce the positive trend and keep ranking at a high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Active-user rates shown here include a +3 to +4 point refresh vs. previous version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145" name="Text 142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7</a:t>
            </a:r>
            <a:endParaRPr lang="en-US" sz="650" dirty="0"/>
          </a:p>
        </p:txBody>
      </p:sp>
      <p:sp>
        <p:nvSpPr>
          <p:cNvPr id="147" name="Text 144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– DevX and AI4DEV ECOSYSTEM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ecosystem scope including IBM Bob AI, Kevin, TWIN and Green 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pic>
        <p:nvPicPr>
          <p:cNvPr id="6" name="Image 0" descr="/mnt/data/ecosystem_diagram_croppe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78992"/>
            <a:ext cx="1069848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8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– OFFERS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interpretation of DevX and AI4Dev ecosystem components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51560"/>
            <a:ext cx="150876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0642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194560" y="1051560"/>
            <a:ext cx="182880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10642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Studio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023360" y="1051560"/>
            <a:ext cx="182880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110642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NextGen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852160" y="1051560"/>
            <a:ext cx="182880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10642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DevX Marketplace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680960" y="1051560"/>
            <a:ext cx="160020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110642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AI4DEV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9281160" y="1051560"/>
            <a:ext cx="2240280" cy="384048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106424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85800" y="1435608"/>
            <a:ext cx="150876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49047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194560" y="1435608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1992" y="14904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023360" y="1435608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0792" y="14904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852160" y="1435608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14904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7680960" y="1435608"/>
            <a:ext cx="16002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08392" y="149047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281160" y="1435608"/>
            <a:ext cx="224028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92" y="149047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qualification / onboarding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1819656"/>
            <a:ext cx="150876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87452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2194560" y="1819656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18745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4023360" y="1819656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18745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852160" y="1819656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18745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680960" y="1819656"/>
            <a:ext cx="16002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8392" y="187452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9281160" y="1819656"/>
            <a:ext cx="224028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08592" y="187452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85800" y="2203704"/>
            <a:ext cx="150876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225856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194560" y="2203704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21992" y="225856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IDE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023360" y="2203704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0792" y="225856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cloud IDE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852160" y="2203704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9592" y="225856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7680960" y="2203704"/>
            <a:ext cx="16002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08392" y="225856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practices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9281160" y="2203704"/>
            <a:ext cx="224028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08592" y="225856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IDE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85800" y="2587752"/>
            <a:ext cx="150876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264261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194560" y="2587752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21992" y="26426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development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023360" y="2587752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50792" y="26426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development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852160" y="2587752"/>
            <a:ext cx="18288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9592" y="26426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&amp; access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7680960" y="2587752"/>
            <a:ext cx="160020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08392" y="264261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9281160" y="2587752"/>
            <a:ext cx="2240280" cy="384048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08592" y="264261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685800" y="2971800"/>
            <a:ext cx="150876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" y="3026664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2194560" y="2971800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21992" y="30266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023360" y="2971800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50792" y="30266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5852160" y="2971800"/>
            <a:ext cx="18288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9592" y="30266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7680960" y="2971800"/>
            <a:ext cx="160020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08392" y="302666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9281160" y="2971800"/>
            <a:ext cx="2240280" cy="384048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08592" y="3026664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onboarding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685800" y="38862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6EA"/>
          </a:solidFill>
          <a:ln w="12700">
            <a:solidFill>
              <a:srgbClr val="3B2E2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0392" y="40325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850392" y="4389120"/>
            <a:ext cx="4928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AI4DEV remains the Group program to democratize generative AI usage in software development.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DevX Studio is the cloud development environment with built-in AI.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DevX NextGen adds autonomous-agent mode for advanced AI-assisted development.</a:t>
            </a:r>
            <a:endParaRPr lang="en-US" sz="890" dirty="0"/>
          </a:p>
        </p:txBody>
      </p:sp>
      <p:sp>
        <p:nvSpPr>
          <p:cNvPr id="81" name="Shape 79"/>
          <p:cNvSpPr/>
          <p:nvPr/>
        </p:nvSpPr>
        <p:spPr>
          <a:xfrm>
            <a:off x="6263640" y="38862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28232" y="40325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SCOPE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6428232" y="4389120"/>
            <a:ext cx="4928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Marketplace remains the single entry point for ordering and access.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Bob AI is now positioned as the agentic coding capability, aligned with Claude Code-like workflows.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Kevin, TWIN and Green IT complete the wider ecosystem view.</a:t>
            </a:r>
            <a:endParaRPr lang="en-US" sz="890" dirty="0"/>
          </a:p>
        </p:txBody>
      </p:sp>
      <p:sp>
        <p:nvSpPr>
          <p:cNvPr id="84" name="Shape 82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9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8F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– LLM AVAILABLE MODELS &amp; AGENTIC 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78638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model view with IBM Bob AI and Claude Code positioning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14300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6070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tool</a:t>
            </a:r>
            <a:endParaRPr lang="en-US" sz="580" dirty="0"/>
          </a:p>
        </p:txBody>
      </p:sp>
      <p:sp>
        <p:nvSpPr>
          <p:cNvPr id="8" name="Shape 6"/>
          <p:cNvSpPr/>
          <p:nvPr/>
        </p:nvSpPr>
        <p:spPr>
          <a:xfrm>
            <a:off x="1554480" y="1005840"/>
            <a:ext cx="105156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06070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265176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0607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5257800" y="1005840"/>
            <a:ext cx="64008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06070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5897880" y="1005840"/>
            <a:ext cx="59436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060704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6492240" y="1005840"/>
            <a:ext cx="86868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060704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7360920" y="1005840"/>
            <a:ext cx="914400" cy="329184"/>
          </a:xfrm>
          <a:prstGeom prst="rect">
            <a:avLst/>
          </a:prstGeom>
          <a:solidFill>
            <a:srgbClr val="0B8F5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106070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411480" y="1335024"/>
            <a:ext cx="11430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38988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Medium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1554480" y="1335024"/>
            <a:ext cx="10515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912" y="138988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24" name="Shape 22"/>
          <p:cNvSpPr/>
          <p:nvPr/>
        </p:nvSpPr>
        <p:spPr>
          <a:xfrm>
            <a:off x="2606040" y="1335024"/>
            <a:ext cx="26517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13898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purpose: writing, analysis, chat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5257800" y="1335024"/>
            <a:ext cx="6400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138988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5897880" y="1335024"/>
            <a:ext cx="5943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138988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6492240" y="1335024"/>
            <a:ext cx="8686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138988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32" name="Shape 30"/>
          <p:cNvSpPr/>
          <p:nvPr/>
        </p:nvSpPr>
        <p:spPr>
          <a:xfrm>
            <a:off x="7360920" y="1335024"/>
            <a:ext cx="9144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138988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411480" y="1664208"/>
            <a:ext cx="11430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171907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Small</a:t>
            </a:r>
            <a:endParaRPr lang="en-US" sz="610" dirty="0"/>
          </a:p>
        </p:txBody>
      </p:sp>
      <p:sp>
        <p:nvSpPr>
          <p:cNvPr id="36" name="Shape 34"/>
          <p:cNvSpPr/>
          <p:nvPr/>
        </p:nvSpPr>
        <p:spPr>
          <a:xfrm>
            <a:off x="1554480" y="1664208"/>
            <a:ext cx="10515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1912" y="1719072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38" name="Shape 36"/>
          <p:cNvSpPr/>
          <p:nvPr/>
        </p:nvSpPr>
        <p:spPr>
          <a:xfrm>
            <a:off x="2606040" y="1664208"/>
            <a:ext cx="26517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17190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reasoning model</a:t>
            </a:r>
            <a:endParaRPr lang="en-US" sz="610" dirty="0"/>
          </a:p>
        </p:txBody>
      </p:sp>
      <p:sp>
        <p:nvSpPr>
          <p:cNvPr id="40" name="Shape 38"/>
          <p:cNvSpPr/>
          <p:nvPr/>
        </p:nvSpPr>
        <p:spPr>
          <a:xfrm>
            <a:off x="5257800" y="1664208"/>
            <a:ext cx="6400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171907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5897880" y="1664208"/>
            <a:ext cx="5943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17190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44" name="Shape 42"/>
          <p:cNvSpPr/>
          <p:nvPr/>
        </p:nvSpPr>
        <p:spPr>
          <a:xfrm>
            <a:off x="6492240" y="1664208"/>
            <a:ext cx="8686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17190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46" name="Shape 44"/>
          <p:cNvSpPr/>
          <p:nvPr/>
        </p:nvSpPr>
        <p:spPr>
          <a:xfrm>
            <a:off x="7360920" y="1664208"/>
            <a:ext cx="9144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171907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48" name="Shape 46"/>
          <p:cNvSpPr/>
          <p:nvPr/>
        </p:nvSpPr>
        <p:spPr>
          <a:xfrm>
            <a:off x="411480" y="1993392"/>
            <a:ext cx="11430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204825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3.3</a:t>
            </a:r>
            <a:endParaRPr lang="en-US" sz="610" dirty="0"/>
          </a:p>
        </p:txBody>
      </p:sp>
      <p:sp>
        <p:nvSpPr>
          <p:cNvPr id="50" name="Shape 48"/>
          <p:cNvSpPr/>
          <p:nvPr/>
        </p:nvSpPr>
        <p:spPr>
          <a:xfrm>
            <a:off x="1554480" y="1993392"/>
            <a:ext cx="10515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81912" y="204825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52" name="Shape 50"/>
          <p:cNvSpPr/>
          <p:nvPr/>
        </p:nvSpPr>
        <p:spPr>
          <a:xfrm>
            <a:off x="2606040" y="1993392"/>
            <a:ext cx="26517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33472" y="20482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High-capacity open model for text tasks</a:t>
            </a:r>
            <a:endParaRPr lang="en-US" sz="610" dirty="0"/>
          </a:p>
        </p:txBody>
      </p:sp>
      <p:sp>
        <p:nvSpPr>
          <p:cNvPr id="54" name="Shape 52"/>
          <p:cNvSpPr/>
          <p:nvPr/>
        </p:nvSpPr>
        <p:spPr>
          <a:xfrm>
            <a:off x="5257800" y="1993392"/>
            <a:ext cx="6400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204825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</a:t>
            </a:r>
            <a:endParaRPr lang="en-US" sz="610" dirty="0"/>
          </a:p>
        </p:txBody>
      </p:sp>
      <p:sp>
        <p:nvSpPr>
          <p:cNvPr id="56" name="Shape 54"/>
          <p:cNvSpPr/>
          <p:nvPr/>
        </p:nvSpPr>
        <p:spPr>
          <a:xfrm>
            <a:off x="5897880" y="1993392"/>
            <a:ext cx="5943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25312" y="204825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58" name="Shape 56"/>
          <p:cNvSpPr/>
          <p:nvPr/>
        </p:nvSpPr>
        <p:spPr>
          <a:xfrm>
            <a:off x="6492240" y="1993392"/>
            <a:ext cx="8686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9672" y="204825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60" name="Shape 58"/>
          <p:cNvSpPr/>
          <p:nvPr/>
        </p:nvSpPr>
        <p:spPr>
          <a:xfrm>
            <a:off x="7360920" y="1993392"/>
            <a:ext cx="9144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04825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62" name="Shape 60"/>
          <p:cNvSpPr/>
          <p:nvPr/>
        </p:nvSpPr>
        <p:spPr>
          <a:xfrm>
            <a:off x="411480" y="2322576"/>
            <a:ext cx="11430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" y="237744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</a:t>
            </a:r>
            <a:endParaRPr lang="en-US" sz="610" dirty="0"/>
          </a:p>
        </p:txBody>
      </p:sp>
      <p:sp>
        <p:nvSpPr>
          <p:cNvPr id="64" name="Shape 62"/>
          <p:cNvSpPr/>
          <p:nvPr/>
        </p:nvSpPr>
        <p:spPr>
          <a:xfrm>
            <a:off x="1554480" y="2322576"/>
            <a:ext cx="10515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81912" y="237744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66" name="Shape 64"/>
          <p:cNvSpPr/>
          <p:nvPr/>
        </p:nvSpPr>
        <p:spPr>
          <a:xfrm>
            <a:off x="2606040" y="2322576"/>
            <a:ext cx="26517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33472" y="23774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GPT implementation</a:t>
            </a:r>
            <a:endParaRPr lang="en-US" sz="610" dirty="0"/>
          </a:p>
        </p:txBody>
      </p:sp>
      <p:sp>
        <p:nvSpPr>
          <p:cNvPr id="68" name="Shape 66"/>
          <p:cNvSpPr/>
          <p:nvPr/>
        </p:nvSpPr>
        <p:spPr>
          <a:xfrm>
            <a:off x="5257800" y="2322576"/>
            <a:ext cx="6400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85232" y="237744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</a:t>
            </a:r>
            <a:endParaRPr lang="en-US" sz="610" dirty="0"/>
          </a:p>
        </p:txBody>
      </p:sp>
      <p:sp>
        <p:nvSpPr>
          <p:cNvPr id="70" name="Shape 68"/>
          <p:cNvSpPr/>
          <p:nvPr/>
        </p:nvSpPr>
        <p:spPr>
          <a:xfrm>
            <a:off x="5897880" y="2322576"/>
            <a:ext cx="5943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25312" y="237744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72" name="Shape 70"/>
          <p:cNvSpPr/>
          <p:nvPr/>
        </p:nvSpPr>
        <p:spPr>
          <a:xfrm>
            <a:off x="6492240" y="2322576"/>
            <a:ext cx="8686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19672" y="237744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74" name="Shape 72"/>
          <p:cNvSpPr/>
          <p:nvPr/>
        </p:nvSpPr>
        <p:spPr>
          <a:xfrm>
            <a:off x="7360920" y="2322576"/>
            <a:ext cx="9144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88352" y="23774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76" name="Shape 74"/>
          <p:cNvSpPr/>
          <p:nvPr/>
        </p:nvSpPr>
        <p:spPr>
          <a:xfrm>
            <a:off x="411480" y="2651760"/>
            <a:ext cx="11430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270662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</a:t>
            </a:r>
            <a:endParaRPr lang="en-US" sz="610" dirty="0"/>
          </a:p>
        </p:txBody>
      </p:sp>
      <p:sp>
        <p:nvSpPr>
          <p:cNvPr id="78" name="Shape 76"/>
          <p:cNvSpPr/>
          <p:nvPr/>
        </p:nvSpPr>
        <p:spPr>
          <a:xfrm>
            <a:off x="1554480" y="2651760"/>
            <a:ext cx="10515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81912" y="270662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80" name="Shape 78"/>
          <p:cNvSpPr/>
          <p:nvPr/>
        </p:nvSpPr>
        <p:spPr>
          <a:xfrm>
            <a:off x="2606040" y="2651760"/>
            <a:ext cx="26517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33472" y="2706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open AI model approved in sandbox</a:t>
            </a:r>
            <a:endParaRPr lang="en-US" sz="610" dirty="0"/>
          </a:p>
        </p:txBody>
      </p:sp>
      <p:sp>
        <p:nvSpPr>
          <p:cNvPr id="82" name="Shape 80"/>
          <p:cNvSpPr/>
          <p:nvPr/>
        </p:nvSpPr>
        <p:spPr>
          <a:xfrm>
            <a:off x="5257800" y="2651760"/>
            <a:ext cx="6400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85232" y="270662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</a:t>
            </a:r>
            <a:endParaRPr lang="en-US" sz="610" dirty="0"/>
          </a:p>
        </p:txBody>
      </p:sp>
      <p:sp>
        <p:nvSpPr>
          <p:cNvPr id="84" name="Shape 82"/>
          <p:cNvSpPr/>
          <p:nvPr/>
        </p:nvSpPr>
        <p:spPr>
          <a:xfrm>
            <a:off x="5897880" y="2651760"/>
            <a:ext cx="5943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25312" y="2706624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86" name="Shape 84"/>
          <p:cNvSpPr/>
          <p:nvPr/>
        </p:nvSpPr>
        <p:spPr>
          <a:xfrm>
            <a:off x="6492240" y="2651760"/>
            <a:ext cx="8686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19672" y="2706624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88" name="Shape 86"/>
          <p:cNvSpPr/>
          <p:nvPr/>
        </p:nvSpPr>
        <p:spPr>
          <a:xfrm>
            <a:off x="7360920" y="2651760"/>
            <a:ext cx="9144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88352" y="270662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90" name="Shape 88"/>
          <p:cNvSpPr/>
          <p:nvPr/>
        </p:nvSpPr>
        <p:spPr>
          <a:xfrm>
            <a:off x="411480" y="2980944"/>
            <a:ext cx="11430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" y="3035808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Nemotron</a:t>
            </a:r>
            <a:endParaRPr lang="en-US" sz="610" dirty="0"/>
          </a:p>
        </p:txBody>
      </p:sp>
      <p:sp>
        <p:nvSpPr>
          <p:cNvPr id="92" name="Shape 90"/>
          <p:cNvSpPr/>
          <p:nvPr/>
        </p:nvSpPr>
        <p:spPr>
          <a:xfrm>
            <a:off x="1554480" y="2980944"/>
            <a:ext cx="10515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81912" y="303580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model</a:t>
            </a:r>
            <a:endParaRPr lang="en-US" sz="610" dirty="0"/>
          </a:p>
        </p:txBody>
      </p:sp>
      <p:sp>
        <p:nvSpPr>
          <p:cNvPr id="94" name="Shape 92"/>
          <p:cNvSpPr/>
          <p:nvPr/>
        </p:nvSpPr>
        <p:spPr>
          <a:xfrm>
            <a:off x="2606040" y="2980944"/>
            <a:ext cx="26517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33472" y="30358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Cutting-edge model now live in sandbox</a:t>
            </a:r>
            <a:endParaRPr lang="en-US" sz="610" dirty="0"/>
          </a:p>
        </p:txBody>
      </p:sp>
      <p:sp>
        <p:nvSpPr>
          <p:cNvPr id="96" name="Shape 94"/>
          <p:cNvSpPr/>
          <p:nvPr/>
        </p:nvSpPr>
        <p:spPr>
          <a:xfrm>
            <a:off x="5257800" y="2980944"/>
            <a:ext cx="6400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85232" y="303580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</a:t>
            </a:r>
            <a:endParaRPr lang="en-US" sz="610" dirty="0"/>
          </a:p>
        </p:txBody>
      </p:sp>
      <p:sp>
        <p:nvSpPr>
          <p:cNvPr id="98" name="Shape 96"/>
          <p:cNvSpPr/>
          <p:nvPr/>
        </p:nvSpPr>
        <p:spPr>
          <a:xfrm>
            <a:off x="5897880" y="2980944"/>
            <a:ext cx="5943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25312" y="303580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00" name="Shape 98"/>
          <p:cNvSpPr/>
          <p:nvPr/>
        </p:nvSpPr>
        <p:spPr>
          <a:xfrm>
            <a:off x="6492240" y="2980944"/>
            <a:ext cx="8686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19672" y="303580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02" name="Shape 100"/>
          <p:cNvSpPr/>
          <p:nvPr/>
        </p:nvSpPr>
        <p:spPr>
          <a:xfrm>
            <a:off x="7360920" y="2980944"/>
            <a:ext cx="9144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88352" y="303580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04" name="Shape 102"/>
          <p:cNvSpPr/>
          <p:nvPr/>
        </p:nvSpPr>
        <p:spPr>
          <a:xfrm>
            <a:off x="411480" y="3310128"/>
            <a:ext cx="11430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" y="336499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Codestral</a:t>
            </a:r>
            <a:endParaRPr lang="en-US" sz="610" dirty="0"/>
          </a:p>
        </p:txBody>
      </p:sp>
      <p:sp>
        <p:nvSpPr>
          <p:cNvPr id="106" name="Shape 104"/>
          <p:cNvSpPr/>
          <p:nvPr/>
        </p:nvSpPr>
        <p:spPr>
          <a:xfrm>
            <a:off x="1554480" y="3310128"/>
            <a:ext cx="10515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81912" y="3364992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model</a:t>
            </a:r>
            <a:endParaRPr lang="en-US" sz="610" dirty="0"/>
          </a:p>
        </p:txBody>
      </p:sp>
      <p:sp>
        <p:nvSpPr>
          <p:cNvPr id="108" name="Shape 106"/>
          <p:cNvSpPr/>
          <p:nvPr/>
        </p:nvSpPr>
        <p:spPr>
          <a:xfrm>
            <a:off x="2606040" y="3310128"/>
            <a:ext cx="26517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33472" y="33649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assistance and productivity</a:t>
            </a:r>
            <a:endParaRPr lang="en-US" sz="610" dirty="0"/>
          </a:p>
        </p:txBody>
      </p:sp>
      <p:sp>
        <p:nvSpPr>
          <p:cNvPr id="110" name="Shape 108"/>
          <p:cNvSpPr/>
          <p:nvPr/>
        </p:nvSpPr>
        <p:spPr>
          <a:xfrm>
            <a:off x="5257800" y="3310128"/>
            <a:ext cx="6400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285232" y="336499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</a:t>
            </a:r>
            <a:endParaRPr lang="en-US" sz="610" dirty="0"/>
          </a:p>
        </p:txBody>
      </p:sp>
      <p:sp>
        <p:nvSpPr>
          <p:cNvPr id="112" name="Shape 110"/>
          <p:cNvSpPr/>
          <p:nvPr/>
        </p:nvSpPr>
        <p:spPr>
          <a:xfrm>
            <a:off x="5897880" y="3310128"/>
            <a:ext cx="5943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925312" y="336499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14" name="Shape 112"/>
          <p:cNvSpPr/>
          <p:nvPr/>
        </p:nvSpPr>
        <p:spPr>
          <a:xfrm>
            <a:off x="6492240" y="3310128"/>
            <a:ext cx="8686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19672" y="336499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16" name="Shape 114"/>
          <p:cNvSpPr/>
          <p:nvPr/>
        </p:nvSpPr>
        <p:spPr>
          <a:xfrm>
            <a:off x="7360920" y="3310128"/>
            <a:ext cx="9144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88352" y="33649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18" name="Shape 116"/>
          <p:cNvSpPr/>
          <p:nvPr/>
        </p:nvSpPr>
        <p:spPr>
          <a:xfrm>
            <a:off x="411480" y="3639312"/>
            <a:ext cx="11430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8912" y="369417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Devstral</a:t>
            </a:r>
            <a:endParaRPr lang="en-US" sz="610" dirty="0"/>
          </a:p>
        </p:txBody>
      </p:sp>
      <p:sp>
        <p:nvSpPr>
          <p:cNvPr id="120" name="Shape 118"/>
          <p:cNvSpPr/>
          <p:nvPr/>
        </p:nvSpPr>
        <p:spPr>
          <a:xfrm>
            <a:off x="1554480" y="3639312"/>
            <a:ext cx="10515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81912" y="369417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model</a:t>
            </a:r>
            <a:endParaRPr lang="en-US" sz="610" dirty="0"/>
          </a:p>
        </p:txBody>
      </p:sp>
      <p:sp>
        <p:nvSpPr>
          <p:cNvPr id="122" name="Shape 120"/>
          <p:cNvSpPr/>
          <p:nvPr/>
        </p:nvSpPr>
        <p:spPr>
          <a:xfrm>
            <a:off x="2606040" y="3639312"/>
            <a:ext cx="26517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33472" y="36941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 and code reasoning</a:t>
            </a:r>
            <a:endParaRPr lang="en-US" sz="610" dirty="0"/>
          </a:p>
        </p:txBody>
      </p:sp>
      <p:sp>
        <p:nvSpPr>
          <p:cNvPr id="124" name="Shape 122"/>
          <p:cNvSpPr/>
          <p:nvPr/>
        </p:nvSpPr>
        <p:spPr>
          <a:xfrm>
            <a:off x="5257800" y="3639312"/>
            <a:ext cx="6400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285232" y="369417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</a:t>
            </a:r>
            <a:endParaRPr lang="en-US" sz="610" dirty="0"/>
          </a:p>
        </p:txBody>
      </p:sp>
      <p:sp>
        <p:nvSpPr>
          <p:cNvPr id="126" name="Shape 124"/>
          <p:cNvSpPr/>
          <p:nvPr/>
        </p:nvSpPr>
        <p:spPr>
          <a:xfrm>
            <a:off x="5897880" y="3639312"/>
            <a:ext cx="59436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925312" y="369417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128" name="Shape 126"/>
          <p:cNvSpPr/>
          <p:nvPr/>
        </p:nvSpPr>
        <p:spPr>
          <a:xfrm>
            <a:off x="6492240" y="3639312"/>
            <a:ext cx="86868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19672" y="369417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10" dirty="0"/>
          </a:p>
        </p:txBody>
      </p:sp>
      <p:sp>
        <p:nvSpPr>
          <p:cNvPr id="130" name="Shape 128"/>
          <p:cNvSpPr/>
          <p:nvPr/>
        </p:nvSpPr>
        <p:spPr>
          <a:xfrm>
            <a:off x="7360920" y="3639312"/>
            <a:ext cx="914400" cy="329184"/>
          </a:xfrm>
          <a:prstGeom prst="rect">
            <a:avLst/>
          </a:prstGeom>
          <a:solidFill>
            <a:srgbClr val="EEF4E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88352" y="369417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610" dirty="0"/>
          </a:p>
        </p:txBody>
      </p:sp>
      <p:sp>
        <p:nvSpPr>
          <p:cNvPr id="132" name="Shape 130"/>
          <p:cNvSpPr/>
          <p:nvPr/>
        </p:nvSpPr>
        <p:spPr>
          <a:xfrm>
            <a:off x="411480" y="3968496"/>
            <a:ext cx="11430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8912" y="402336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 + Claude Code</a:t>
            </a:r>
            <a:endParaRPr lang="en-US" sz="610" dirty="0"/>
          </a:p>
        </p:txBody>
      </p:sp>
      <p:sp>
        <p:nvSpPr>
          <p:cNvPr id="134" name="Shape 132"/>
          <p:cNvSpPr/>
          <p:nvPr/>
        </p:nvSpPr>
        <p:spPr>
          <a:xfrm>
            <a:off x="1554480" y="3968496"/>
            <a:ext cx="10515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581912" y="402336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tool</a:t>
            </a:r>
            <a:endParaRPr lang="en-US" sz="610" dirty="0"/>
          </a:p>
        </p:txBody>
      </p:sp>
      <p:sp>
        <p:nvSpPr>
          <p:cNvPr id="136" name="Shape 134"/>
          <p:cNvSpPr/>
          <p:nvPr/>
        </p:nvSpPr>
        <p:spPr>
          <a:xfrm>
            <a:off x="2606040" y="3968496"/>
            <a:ext cx="26517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633472" y="4023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environment provided with IBM Bob AI</a:t>
            </a:r>
            <a:endParaRPr lang="en-US" sz="610" dirty="0"/>
          </a:p>
        </p:txBody>
      </p:sp>
      <p:sp>
        <p:nvSpPr>
          <p:cNvPr id="138" name="Shape 136"/>
          <p:cNvSpPr/>
          <p:nvPr/>
        </p:nvSpPr>
        <p:spPr>
          <a:xfrm>
            <a:off x="5257800" y="3968496"/>
            <a:ext cx="6400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285232" y="402336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610" dirty="0"/>
          </a:p>
        </p:txBody>
      </p:sp>
      <p:sp>
        <p:nvSpPr>
          <p:cNvPr id="140" name="Shape 138"/>
          <p:cNvSpPr/>
          <p:nvPr/>
        </p:nvSpPr>
        <p:spPr>
          <a:xfrm>
            <a:off x="5897880" y="3968496"/>
            <a:ext cx="59436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925312" y="402336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610" dirty="0"/>
          </a:p>
        </p:txBody>
      </p:sp>
      <p:sp>
        <p:nvSpPr>
          <p:cNvPr id="142" name="Shape 140"/>
          <p:cNvSpPr/>
          <p:nvPr/>
        </p:nvSpPr>
        <p:spPr>
          <a:xfrm>
            <a:off x="6492240" y="3968496"/>
            <a:ext cx="86868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19672" y="402336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610" dirty="0"/>
          </a:p>
        </p:txBody>
      </p:sp>
      <p:sp>
        <p:nvSpPr>
          <p:cNvPr id="144" name="Shape 142"/>
          <p:cNvSpPr/>
          <p:nvPr/>
        </p:nvSpPr>
        <p:spPr>
          <a:xfrm>
            <a:off x="7360920" y="3968496"/>
            <a:ext cx="914400" cy="329184"/>
          </a:xfrm>
          <a:prstGeom prst="rect">
            <a:avLst/>
          </a:prstGeom>
          <a:solidFill>
            <a:srgbClr val="DFE8D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388352" y="40233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610" dirty="0"/>
          </a:p>
        </p:txBody>
      </p:sp>
      <p:sp>
        <p:nvSpPr>
          <p:cNvPr id="146" name="Shape 144"/>
          <p:cNvSpPr/>
          <p:nvPr/>
        </p:nvSpPr>
        <p:spPr>
          <a:xfrm>
            <a:off x="8549640" y="1005840"/>
            <a:ext cx="2834640" cy="1874520"/>
          </a:xfrm>
          <a:prstGeom prst="roundRect">
            <a:avLst>
              <a:gd name="adj" fmla="val 5854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714232" y="115214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coding layer</a:t>
            </a:r>
            <a:endParaRPr lang="en-US" sz="1400" dirty="0"/>
          </a:p>
        </p:txBody>
      </p:sp>
      <p:sp>
        <p:nvSpPr>
          <p:cNvPr id="148" name="Text 146"/>
          <p:cNvSpPr/>
          <p:nvPr/>
        </p:nvSpPr>
        <p:spPr>
          <a:xfrm>
            <a:off x="8714232" y="1508760"/>
            <a:ext cx="250545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 is positioned as the agentic coding environment in the Group ecosystem.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comes with IBM Bob AI positioning: it is shown as part of the agentic coding layer, not as a standalone LLM model.</a:t>
            </a:r>
            <a:endParaRPr lang="en-US" sz="920" dirty="0"/>
          </a:p>
        </p:txBody>
      </p:sp>
      <p:sp>
        <p:nvSpPr>
          <p:cNvPr id="149" name="Shape 147"/>
          <p:cNvSpPr/>
          <p:nvPr/>
        </p:nvSpPr>
        <p:spPr>
          <a:xfrm>
            <a:off x="8549640" y="310896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FF6EA"/>
          </a:solidFill>
          <a:ln w="12700">
            <a:solidFill>
              <a:srgbClr val="3B2E2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714232" y="325526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slide</a:t>
            </a:r>
            <a:endParaRPr lang="en-US" sz="1400" dirty="0"/>
          </a:p>
        </p:txBody>
      </p:sp>
      <p:sp>
        <p:nvSpPr>
          <p:cNvPr id="151" name="Text 149"/>
          <p:cNvSpPr/>
          <p:nvPr/>
        </p:nvSpPr>
        <p:spPr>
          <a:xfrm>
            <a:off x="8714232" y="3611880"/>
            <a:ext cx="25054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provide model capabilities. IBM Bob AI packages the agentic coding workflow — including Claude Code — with repository context and task execution on top of models.</a:t>
            </a:r>
            <a:endParaRPr lang="en-US" sz="920" dirty="0"/>
          </a:p>
        </p:txBody>
      </p:sp>
      <p:sp>
        <p:nvSpPr>
          <p:cNvPr id="152" name="Shape 150"/>
          <p:cNvSpPr/>
          <p:nvPr/>
        </p:nvSpPr>
        <p:spPr>
          <a:xfrm>
            <a:off x="411480" y="5394960"/>
            <a:ext cx="10972800" cy="411480"/>
          </a:xfrm>
          <a:prstGeom prst="roundRect">
            <a:avLst>
              <a:gd name="adj" fmla="val 26667"/>
            </a:avLst>
          </a:prstGeom>
          <a:solidFill>
            <a:srgbClr val="E7F4ED"/>
          </a:solidFill>
          <a:ln w="12700">
            <a:solidFill>
              <a:srgbClr val="BBD8C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76072" y="5541264"/>
            <a:ext cx="10643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576072" y="5897880"/>
            <a:ext cx="10643616" cy="-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= image/video understanding. Function calling = structured tool/API execution. Structured output = JSON/XML/CSV-like controlled response usable by downstream code.</a:t>
            </a:r>
            <a:endParaRPr lang="en-US" sz="730" dirty="0"/>
          </a:p>
        </p:txBody>
      </p:sp>
      <p:sp>
        <p:nvSpPr>
          <p:cNvPr id="155" name="Shape 153"/>
          <p:cNvSpPr/>
          <p:nvPr/>
        </p:nvSpPr>
        <p:spPr>
          <a:xfrm>
            <a:off x="502920" y="6099048"/>
            <a:ext cx="11201400" cy="0"/>
          </a:xfrm>
          <a:prstGeom prst="line">
            <a:avLst/>
          </a:prstGeom>
          <a:noFill/>
          <a:ln w="12700">
            <a:solidFill>
              <a:srgbClr val="D3C5B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67512" y="6291072"/>
            <a:ext cx="384048" cy="310896"/>
          </a:xfrm>
          <a:prstGeom prst="rect">
            <a:avLst/>
          </a:prstGeom>
          <a:solidFill>
            <a:srgbClr val="0B8F54"/>
          </a:solidFill>
          <a:ln w="12700">
            <a:solidFill>
              <a:srgbClr val="0B8F5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115568" y="62910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400" dirty="0"/>
          </a:p>
        </p:txBody>
      </p:sp>
      <p:sp>
        <p:nvSpPr>
          <p:cNvPr id="158" name="Text 156"/>
          <p:cNvSpPr/>
          <p:nvPr/>
        </p:nvSpPr>
        <p:spPr>
          <a:xfrm>
            <a:off x="4663440" y="6309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9921240" y="6245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31/07/2026   |   10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9948672" y="65105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5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: Internal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– DevX and AI4Dev Ecosystem Update</dc:title>
  <dc:subject>DevX and AI4Dev ecosystem update</dc:subject>
  <dc:creator>OpenAI</dc:creator>
  <cp:lastModifiedBy>OpenAI</cp:lastModifiedBy>
  <cp:revision>1</cp:revision>
  <dcterms:created xsi:type="dcterms:W3CDTF">2026-07-31T17:40:43Z</dcterms:created>
  <dcterms:modified xsi:type="dcterms:W3CDTF">2026-07-31T17:40:43Z</dcterms:modified>
</cp:coreProperties>
</file>