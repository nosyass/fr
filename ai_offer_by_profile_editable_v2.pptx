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0760"/>
            <a:ext cx="5303520" cy="777240"/>
          </a:xfrm>
          <a:prstGeom prst="triangle">
            <a:avLst/>
          </a:prstGeom>
          <a:solidFill>
            <a:srgbClr val="2CA86B">
              <a:alpha val="42000"/>
            </a:srgbClr>
          </a:solidFill>
          <a:ln w="12700">
            <a:solidFill>
              <a:srgbClr val="A9D5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6144768"/>
            <a:ext cx="8622792" cy="713232"/>
          </a:xfrm>
          <a:prstGeom prst="parallelogram">
            <a:avLst/>
          </a:prstGeom>
          <a:solidFill>
            <a:srgbClr val="E3F2EA">
              <a:alpha val="82000"/>
            </a:srgbClr>
          </a:solidFill>
          <a:ln w="12700">
            <a:solidFill>
              <a:srgbClr val="E3F2E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173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005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Offer by Profile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21208" y="2304288"/>
            <a:ext cx="612648" cy="0"/>
          </a:xfrm>
          <a:prstGeom prst="line">
            <a:avLst/>
          </a:prstGeom>
          <a:noFill/>
          <a:ln w="16510">
            <a:solidFill>
              <a:srgbClr val="008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25786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0563A"/>
                </a:solidFill>
              </a:rPr>
              <a:t>Find the right AI solution for each profile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21208" y="3154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7152D"/>
                </a:solidFill>
              </a:rPr>
              <a:t>A profile-based view of daily needs, relevant offers,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07152D"/>
                </a:solidFill>
              </a:rPr>
              <a:t>LLM guidance and Green IT coverage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21208" y="4315968"/>
            <a:ext cx="0" cy="1417320"/>
          </a:xfrm>
          <a:prstGeom prst="line">
            <a:avLst/>
          </a:prstGeom>
          <a:noFill/>
          <a:ln w="10160">
            <a:solidFill>
              <a:srgbClr val="2CA8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63A"/>
                </a:solidFill>
              </a:rPr>
              <a:t>In scope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474573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475945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" y="4718304"/>
            <a:ext cx="32004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7152D"/>
                </a:solidFill>
              </a:rPr>
              <a:t>Profiles and daily needs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58368" y="502920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504291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914400" y="5001768"/>
            <a:ext cx="32004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7152D"/>
                </a:solidFill>
              </a:rPr>
              <a:t>Relevant AI offers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58368" y="531266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532638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914400" y="5285232"/>
            <a:ext cx="32004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7152D"/>
                </a:solidFill>
              </a:rPr>
              <a:t>Functional coverage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58368" y="5596128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560984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914400" y="5568696"/>
            <a:ext cx="32004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7152D"/>
                </a:solidFill>
              </a:rPr>
              <a:t>Green IT dimension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6949440" y="1325880"/>
            <a:ext cx="3840480" cy="3840480"/>
          </a:xfrm>
          <a:prstGeom prst="ellipse">
            <a:avLst/>
          </a:prstGeom>
          <a:solidFill>
            <a:srgbClr val="EAF7EF">
              <a:alpha val="65000"/>
            </a:srgbClr>
          </a:solidFill>
          <a:ln w="10160">
            <a:solidFill>
              <a:srgbClr val="0087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2011680"/>
            <a:ext cx="2468880" cy="2468880"/>
          </a:xfrm>
          <a:prstGeom prst="ellipse">
            <a:avLst/>
          </a:prstGeom>
          <a:solidFill>
            <a:srgbClr val="FFFFFF">
              <a:alpha val="40000"/>
            </a:srgbClr>
          </a:solidFill>
          <a:ln w="8890">
            <a:solidFill>
              <a:srgbClr val="A7D8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84464" y="2660904"/>
            <a:ext cx="1170432" cy="11704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75A"/>
            </a:solidFill>
            <a:prstDash val="solid"/>
          </a:ln>
          <a:effectLst>
            <a:outerShdw sx="100000" sy="100000" kx="0" ky="0" algn="bl" rotWithShape="0" blurRad="25400" dist="50800" dir="2700000">
              <a:srgbClr val="CEE7D9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31352" y="3044952"/>
            <a:ext cx="676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563A"/>
                </a:solidFill>
              </a:rPr>
              <a:t>👥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75320" y="731520"/>
            <a:ext cx="1051560" cy="13258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85632" y="914400"/>
            <a:ext cx="621792" cy="62179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1007669"/>
            <a:ext cx="621792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👤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48472" y="1572768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63A"/>
                </a:solidFill>
              </a:rPr>
              <a:t>AI for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563A"/>
                </a:solidFill>
              </a:rPr>
              <a:t>Employees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332720" y="2331720"/>
            <a:ext cx="1051560" cy="13258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43032" y="2514600"/>
            <a:ext cx="621792" cy="62179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43032" y="2607869"/>
            <a:ext cx="621792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&lt;&gt;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405872" y="3172968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63A"/>
                </a:solidFill>
              </a:rPr>
              <a:t>AI for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563A"/>
                </a:solidFill>
              </a:rPr>
              <a:t>Developers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464040" y="4572000"/>
            <a:ext cx="1051560" cy="13258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674352" y="4754880"/>
            <a:ext cx="621792" cy="62179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74352" y="4848149"/>
            <a:ext cx="621792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537192" y="5413248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63A"/>
                </a:solidFill>
              </a:rPr>
              <a:t>Architecture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563A"/>
                </a:solidFill>
              </a:rPr>
              <a:t>and IT Analysis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03720" y="4572000"/>
            <a:ext cx="1051560" cy="13258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114032" y="4754880"/>
            <a:ext cx="621792" cy="62179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14032" y="4848149"/>
            <a:ext cx="621792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💬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76872" y="5413248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63A"/>
                </a:solidFill>
              </a:rPr>
              <a:t>LLM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563A"/>
                </a:solidFill>
              </a:rPr>
              <a:t>Guidance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17920" y="2331720"/>
            <a:ext cx="1051560" cy="13258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28232" y="2514600"/>
            <a:ext cx="621792" cy="62179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28232" y="2607869"/>
            <a:ext cx="621792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🍃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91072" y="3172968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63A"/>
                </a:solidFill>
              </a:rPr>
              <a:t>Green IT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0760"/>
            <a:ext cx="5303520" cy="777240"/>
          </a:xfrm>
          <a:prstGeom prst="triangle">
            <a:avLst/>
          </a:prstGeom>
          <a:solidFill>
            <a:srgbClr val="2CA86B">
              <a:alpha val="42000"/>
            </a:srgbClr>
          </a:solidFill>
          <a:ln w="12700">
            <a:solidFill>
              <a:srgbClr val="A9D5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6144768"/>
            <a:ext cx="8622792" cy="713232"/>
          </a:xfrm>
          <a:prstGeom prst="parallelogram">
            <a:avLst/>
          </a:prstGeom>
          <a:solidFill>
            <a:srgbClr val="E3F2EA">
              <a:alpha val="82000"/>
            </a:srgbClr>
          </a:solidFill>
          <a:ln w="12700">
            <a:solidFill>
              <a:srgbClr val="E3F2E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Offer at a Glance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21208" y="1078992"/>
            <a:ext cx="475488" cy="0"/>
          </a:xfrm>
          <a:prstGeom prst="line">
            <a:avLst/>
          </a:prstGeom>
          <a:noFill/>
          <a:ln w="16510">
            <a:solidFill>
              <a:srgbClr val="008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234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view of the offer families relevant to daily work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057400" cy="3886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01852" y="2011680"/>
            <a:ext cx="768096" cy="768096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1852" y="2126894"/>
            <a:ext cx="768096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1792" y="2935224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563A"/>
                </a:solidFill>
              </a:rPr>
              <a:t>AI for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563A"/>
                </a:solidFill>
              </a:rPr>
              <a:t>Employees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5800" y="3502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7152D"/>
                </a:solidFill>
              </a:rPr>
              <a:t>Assistants for day to day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07152D"/>
                </a:solidFill>
              </a:rPr>
              <a:t>productivity and knowledge work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67512" y="4069080"/>
            <a:ext cx="1636776" cy="0"/>
          </a:xfrm>
          <a:prstGeom prst="line">
            <a:avLst/>
          </a:prstGeom>
          <a:noFill/>
          <a:ln w="7620">
            <a:solidFill>
              <a:srgbClr val="A7D8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442569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443941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914400" y="4398264"/>
            <a:ext cx="15544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7152D"/>
                </a:solidFill>
              </a:rPr>
              <a:t>My Companion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58368" y="475488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476859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914400" y="4727448"/>
            <a:ext cx="15544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7152D"/>
                </a:solidFill>
              </a:rPr>
              <a:t>M365 Copilot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658368" y="508406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509778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914400" y="5056632"/>
            <a:ext cx="15544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7152D"/>
                </a:solidFill>
              </a:rPr>
              <a:t>Microsoft Copilot Agents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2770632" y="1783080"/>
            <a:ext cx="2057400" cy="3886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15284" y="2011680"/>
            <a:ext cx="768096" cy="768096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5284" y="2126894"/>
            <a:ext cx="768096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&lt;&gt;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935224" y="2935224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563A"/>
                </a:solidFill>
              </a:rPr>
              <a:t>AI for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563A"/>
                </a:solidFill>
              </a:rPr>
              <a:t>Developers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2999232" y="3502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7152D"/>
                </a:solidFill>
              </a:rPr>
              <a:t>Development, testing and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07152D"/>
                </a:solidFill>
              </a:rPr>
              <a:t>agentic engineering support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980944" y="4069080"/>
            <a:ext cx="1636776" cy="0"/>
          </a:xfrm>
          <a:prstGeom prst="line">
            <a:avLst/>
          </a:prstGeom>
          <a:noFill/>
          <a:ln w="7620">
            <a:solidFill>
              <a:srgbClr val="A7D8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442569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0088" y="443941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3227832" y="4398264"/>
            <a:ext cx="15544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7152D"/>
                </a:solidFill>
              </a:rPr>
              <a:t>AI4DEV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2971800" y="475488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90088" y="476859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227832" y="4727448"/>
            <a:ext cx="15544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7152D"/>
                </a:solidFill>
              </a:rPr>
              <a:t>DevX Studio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2971800" y="508406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0088" y="509778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227832" y="5056632"/>
            <a:ext cx="15544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7152D"/>
                </a:solidFill>
              </a:rPr>
              <a:t>DevX NextGen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2971800" y="5413248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0088" y="542696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3227832" y="5385816"/>
            <a:ext cx="15544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7152D"/>
                </a:solidFill>
              </a:rPr>
              <a:t>IBM Bob AI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5084064" y="1783080"/>
            <a:ext cx="2057400" cy="3886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728716" y="2011680"/>
            <a:ext cx="768096" cy="768096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28716" y="2126894"/>
            <a:ext cx="768096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248656" y="2935224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563A"/>
                </a:solidFill>
              </a:rPr>
              <a:t>Architecture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563A"/>
                </a:solidFill>
              </a:rPr>
              <a:t>and IT Analysis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312664" y="3502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7152D"/>
                </a:solidFill>
              </a:rPr>
              <a:t>Application understanding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07152D"/>
                </a:solidFill>
              </a:rPr>
              <a:t>and operational analysis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294376" y="4069080"/>
            <a:ext cx="1636776" cy="0"/>
          </a:xfrm>
          <a:prstGeom prst="line">
            <a:avLst/>
          </a:prstGeom>
          <a:noFill/>
          <a:ln w="7620">
            <a:solidFill>
              <a:srgbClr val="A7D8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85232" y="442569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0" y="443941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5541264" y="4398264"/>
            <a:ext cx="15544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7152D"/>
                </a:solidFill>
              </a:rPr>
              <a:t>Kevin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5285232" y="475488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0" y="476859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541264" y="4727448"/>
            <a:ext cx="15544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7152D"/>
                </a:solidFill>
              </a:rPr>
              <a:t>TWIN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7397496" y="1783080"/>
            <a:ext cx="2057400" cy="3886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042148" y="2011680"/>
            <a:ext cx="768096" cy="768096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42148" y="2126894"/>
            <a:ext cx="768096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💬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7562088" y="2935224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563A"/>
                </a:solidFill>
              </a:rPr>
              <a:t>LLM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563A"/>
                </a:solidFill>
              </a:rPr>
              <a:t>Guidance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7626096" y="3502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7152D"/>
                </a:solidFill>
              </a:rPr>
              <a:t>Indicative model families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07152D"/>
                </a:solidFill>
              </a:rPr>
              <a:t>available through the ecosystem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7607808" y="4069080"/>
            <a:ext cx="1636776" cy="0"/>
          </a:xfrm>
          <a:prstGeom prst="line">
            <a:avLst/>
          </a:prstGeom>
          <a:noFill/>
          <a:ln w="7620">
            <a:solidFill>
              <a:srgbClr val="A7D8B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98664" y="442569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16952" y="443941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7854696" y="4398264"/>
            <a:ext cx="15544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7152D"/>
                </a:solidFill>
              </a:rPr>
              <a:t>General text models</a:t>
            </a:r>
            <a:endParaRPr lang="en-US" sz="940" dirty="0"/>
          </a:p>
        </p:txBody>
      </p:sp>
      <p:sp>
        <p:nvSpPr>
          <p:cNvPr id="61" name="Shape 59"/>
          <p:cNvSpPr/>
          <p:nvPr/>
        </p:nvSpPr>
        <p:spPr>
          <a:xfrm>
            <a:off x="7598664" y="475488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16952" y="476859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7854696" y="4727448"/>
            <a:ext cx="15544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7152D"/>
                </a:solidFill>
              </a:rPr>
              <a:t>Code models</a:t>
            </a:r>
            <a:endParaRPr lang="en-US" sz="940" dirty="0"/>
          </a:p>
        </p:txBody>
      </p:sp>
      <p:sp>
        <p:nvSpPr>
          <p:cNvPr id="64" name="Shape 62"/>
          <p:cNvSpPr/>
          <p:nvPr/>
        </p:nvSpPr>
        <p:spPr>
          <a:xfrm>
            <a:off x="9710928" y="1783080"/>
            <a:ext cx="2057400" cy="3886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0355580" y="2011680"/>
            <a:ext cx="768096" cy="768096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355580" y="2126894"/>
            <a:ext cx="768096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🍃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9875520" y="2935224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563A"/>
                </a:solidFill>
              </a:rPr>
              <a:t>Green IT</a:t>
            </a:r>
            <a:endParaRPr lang="en-US" sz="1450" dirty="0"/>
          </a:p>
        </p:txBody>
      </p:sp>
      <p:sp>
        <p:nvSpPr>
          <p:cNvPr id="68" name="Text 66"/>
          <p:cNvSpPr/>
          <p:nvPr/>
        </p:nvSpPr>
        <p:spPr>
          <a:xfrm>
            <a:off x="9939528" y="3502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7152D"/>
                </a:solidFill>
              </a:rPr>
              <a:t>Cross-functional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07152D"/>
                </a:solidFill>
              </a:rPr>
              <a:t>sustainability dimension</a:t>
            </a:r>
            <a:endParaRPr lang="en-US" sz="920" dirty="0"/>
          </a:p>
        </p:txBody>
      </p:sp>
      <p:sp>
        <p:nvSpPr>
          <p:cNvPr id="69" name="Shape 67"/>
          <p:cNvSpPr/>
          <p:nvPr/>
        </p:nvSpPr>
        <p:spPr>
          <a:xfrm>
            <a:off x="9921240" y="4069080"/>
            <a:ext cx="1636776" cy="0"/>
          </a:xfrm>
          <a:prstGeom prst="line">
            <a:avLst/>
          </a:prstGeom>
          <a:noFill/>
          <a:ln w="7620">
            <a:solidFill>
              <a:srgbClr val="A7D8B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912096" y="442569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930384" y="443941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0168128" y="4398264"/>
            <a:ext cx="15544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7152D"/>
                </a:solidFill>
              </a:rPr>
              <a:t>Repository review facet</a:t>
            </a:r>
            <a:endParaRPr lang="en-US" sz="940" dirty="0"/>
          </a:p>
        </p:txBody>
      </p:sp>
      <p:sp>
        <p:nvSpPr>
          <p:cNvPr id="73" name="Shape 71"/>
          <p:cNvSpPr/>
          <p:nvPr/>
        </p:nvSpPr>
        <p:spPr>
          <a:xfrm>
            <a:off x="9912096" y="475488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930384" y="476859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10168128" y="4727448"/>
            <a:ext cx="15544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7152D"/>
                </a:solidFill>
              </a:rPr>
              <a:t>Shared developer skills</a:t>
            </a:r>
            <a:endParaRPr lang="en-US" sz="940" dirty="0"/>
          </a:p>
        </p:txBody>
      </p:sp>
      <p:sp>
        <p:nvSpPr>
          <p:cNvPr id="76" name="Shape 74"/>
          <p:cNvSpPr/>
          <p:nvPr/>
        </p:nvSpPr>
        <p:spPr>
          <a:xfrm>
            <a:off x="9912096" y="508406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930384" y="509778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10168128" y="5056632"/>
            <a:ext cx="15544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7152D"/>
                </a:solidFill>
              </a:rPr>
              <a:t>Adoption support</a:t>
            </a:r>
            <a:endParaRPr lang="en-US" sz="940" dirty="0"/>
          </a:p>
        </p:txBody>
      </p:sp>
      <p:sp>
        <p:nvSpPr>
          <p:cNvPr id="79" name="Shape 77"/>
          <p:cNvSpPr/>
          <p:nvPr/>
        </p:nvSpPr>
        <p:spPr>
          <a:xfrm>
            <a:off x="2148840" y="5943600"/>
            <a:ext cx="7818120" cy="438912"/>
          </a:xfrm>
          <a:prstGeom prst="roundRect">
            <a:avLst>
              <a:gd name="adj" fmla="val 16667"/>
            </a:avLst>
          </a:prstGeom>
          <a:solidFill>
            <a:srgbClr val="F8FFF9"/>
          </a:solidFill>
          <a:ln w="8890">
            <a:solidFill>
              <a:srgbClr val="62B58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21992" y="5998464"/>
            <a:ext cx="76718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00563A"/>
                </a:solidFill>
              </a:rPr>
              <a:t>Scope of this deck: profiles, daily needs, relevant offers, functional coverage and Green IT.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0760"/>
            <a:ext cx="5303520" cy="777240"/>
          </a:xfrm>
          <a:prstGeom prst="triangle">
            <a:avLst/>
          </a:prstGeom>
          <a:solidFill>
            <a:srgbClr val="2CA86B">
              <a:alpha val="42000"/>
            </a:srgbClr>
          </a:solidFill>
          <a:ln w="12700">
            <a:solidFill>
              <a:srgbClr val="A9D5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6144768"/>
            <a:ext cx="8622792" cy="713232"/>
          </a:xfrm>
          <a:prstGeom prst="parallelogram">
            <a:avLst/>
          </a:prstGeom>
          <a:solidFill>
            <a:srgbClr val="E3F2EA">
              <a:alpha val="82000"/>
            </a:srgbClr>
          </a:solidFill>
          <a:ln w="12700">
            <a:solidFill>
              <a:srgbClr val="E3F2E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Profiles and Daily Needs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21208" y="1078992"/>
            <a:ext cx="475488" cy="0"/>
          </a:xfrm>
          <a:prstGeom prst="line">
            <a:avLst/>
          </a:prstGeom>
          <a:noFill/>
          <a:ln w="16510">
            <a:solidFill>
              <a:srgbClr val="008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234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starting point is the user profile and the tasks performed every day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30352" y="1828800"/>
            <a:ext cx="265176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1993392"/>
            <a:ext cx="621792" cy="62179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086661"/>
            <a:ext cx="621792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4752" y="2057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563A"/>
                </a:solidFill>
              </a:rPr>
              <a:t>General Users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444752" y="247802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49174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700784" y="2450592"/>
            <a:ext cx="150876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Writing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444752" y="2761488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77520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700784" y="2734056"/>
            <a:ext cx="150876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Summarization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444752" y="3044952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30586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700784" y="3017520"/>
            <a:ext cx="150876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Translation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444752" y="332841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334213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700784" y="3300984"/>
            <a:ext cx="150876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Information search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01568" y="1828800"/>
            <a:ext cx="2578608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66160" y="1993392"/>
            <a:ext cx="621792" cy="62179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086661"/>
            <a:ext cx="621792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&lt;&gt;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15968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563A"/>
                </a:solidFill>
              </a:rPr>
              <a:t>Developers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15968" y="247802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34256" y="249174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572000" y="2450592"/>
            <a:ext cx="14356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Code generation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15968" y="2761488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34256" y="277520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572000" y="2734056"/>
            <a:ext cx="14356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Code explanation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15968" y="3044952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34256" y="30586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4572000" y="3017520"/>
            <a:ext cx="14356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Refactoring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15968" y="332841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34256" y="334213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572000" y="3300984"/>
            <a:ext cx="14356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Debugging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81344" y="1828800"/>
            <a:ext cx="2578608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45936" y="1993392"/>
            <a:ext cx="621792" cy="62179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5936" y="2086661"/>
            <a:ext cx="621792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95744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563A"/>
                </a:solidFill>
              </a:rPr>
              <a:t>Testers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095744" y="247802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4032" y="249174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351776" y="2450592"/>
            <a:ext cx="14356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Test generation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095744" y="2761488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14032" y="277520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7351776" y="2734056"/>
            <a:ext cx="14356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Test documentation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095744" y="3044952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14032" y="30586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7351776" y="3017520"/>
            <a:ext cx="14356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Defect analysis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979408" y="1828800"/>
            <a:ext cx="2578608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144000" y="1993392"/>
            <a:ext cx="621792" cy="62179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0" y="2086661"/>
            <a:ext cx="621792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893808" y="20574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563A"/>
                </a:solidFill>
              </a:rPr>
              <a:t>Tech Leads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9893808" y="247802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12096" y="249174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0149840" y="2450592"/>
            <a:ext cx="14356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Code quality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893808" y="2761488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912096" y="277520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10149840" y="2734056"/>
            <a:ext cx="14356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Technical analysis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893808" y="3044952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912096" y="30586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10149840" y="3017520"/>
            <a:ext cx="14356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Team guidance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24128" y="3730752"/>
            <a:ext cx="3035808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1188720" y="3895344"/>
            <a:ext cx="621792" cy="62179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88720" y="3988613"/>
            <a:ext cx="621792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▦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938528" y="395935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563A"/>
                </a:solidFill>
              </a:rPr>
              <a:t>Architects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1938528" y="437997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956816" y="439369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2194560" y="4352544"/>
            <a:ext cx="18928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Application analysis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938528" y="466344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56816" y="46771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2194560" y="4636008"/>
            <a:ext cx="18928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Architecture documentation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938528" y="494690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956816" y="49606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2194560" y="4919472"/>
            <a:ext cx="18928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Dependency analysis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279392" y="3730752"/>
            <a:ext cx="3200400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443984" y="3895344"/>
            <a:ext cx="621792" cy="62179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443984" y="3988613"/>
            <a:ext cx="621792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5193792" y="39593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563A"/>
                </a:solidFill>
              </a:rPr>
              <a:t>Project Managers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193792" y="437997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12080" y="439369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5449824" y="4352544"/>
            <a:ext cx="20574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Meeting summaries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193792" y="466344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212080" y="46771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5449824" y="4636008"/>
            <a:ext cx="20574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Reporting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5193792" y="494690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212080" y="49606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5449824" y="4919472"/>
            <a:ext cx="20574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Project documentation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7699248" y="3730752"/>
            <a:ext cx="3035808" cy="1719072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7863840" y="3895344"/>
            <a:ext cx="621792" cy="62179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863840" y="3988613"/>
            <a:ext cx="621792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8613648" y="395935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563A"/>
                </a:solidFill>
              </a:rPr>
              <a:t>Business Analysts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8613648" y="437997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631936" y="439369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8869680" y="4352544"/>
            <a:ext cx="18928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Requirements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8613648" y="466344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631936" y="46771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8869680" y="4636008"/>
            <a:ext cx="18928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Questionnaires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8613648" y="494690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631936" y="49606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8869680" y="4919472"/>
            <a:ext cx="18928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Document analysis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8613648" y="5230368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631936" y="524408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8869680" y="5202936"/>
            <a:ext cx="18928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7152D"/>
                </a:solidFill>
              </a:rPr>
              <a:t>Knowledge search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3566160" y="5806440"/>
            <a:ext cx="502920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8890">
            <a:solidFill>
              <a:srgbClr val="D4EADD"/>
            </a:solidFill>
            <a:prstDash val="solid"/>
          </a:ln>
          <a:effectLst>
            <a:outerShdw sx="100000" sy="100000" kx="0" ky="0" algn="bl" rotWithShape="0" blurRad="12700" dist="50800" dir="2700000">
              <a:srgbClr val="D7E4DC">
                <a:alpha val="20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3639312" y="5861304"/>
            <a:ext cx="48828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63A"/>
                </a:solidFill>
              </a:rPr>
              <a:t>Daily needs drive the choice of the AI offer.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3703320" y="5870448"/>
            <a:ext cx="365760" cy="365760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703320" y="59253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0760"/>
            <a:ext cx="5303520" cy="777240"/>
          </a:xfrm>
          <a:prstGeom prst="triangle">
            <a:avLst/>
          </a:prstGeom>
          <a:solidFill>
            <a:srgbClr val="2CA86B">
              <a:alpha val="42000"/>
            </a:srgbClr>
          </a:solidFill>
          <a:ln w="12700">
            <a:solidFill>
              <a:srgbClr val="A9D5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6144768"/>
            <a:ext cx="8622792" cy="713232"/>
          </a:xfrm>
          <a:prstGeom prst="parallelogram">
            <a:avLst/>
          </a:prstGeom>
          <a:solidFill>
            <a:srgbClr val="E3F2EA">
              <a:alpha val="82000"/>
            </a:srgbClr>
          </a:solidFill>
          <a:ln w="12700">
            <a:solidFill>
              <a:srgbClr val="E3F2E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Offers by Profile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21208" y="1078992"/>
            <a:ext cx="475488" cy="0"/>
          </a:xfrm>
          <a:prstGeom prst="line">
            <a:avLst/>
          </a:prstGeom>
          <a:noFill/>
          <a:ln w="16510">
            <a:solidFill>
              <a:srgbClr val="008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234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Indicative positioning based on current documented coverage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619488" y="1161288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57232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7152D"/>
                </a:solidFill>
              </a:rPr>
              <a:t>Primary fit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872216" y="1161288"/>
            <a:ext cx="146304" cy="146304"/>
          </a:xfrm>
          <a:prstGeom prst="ellipse">
            <a:avLst/>
          </a:prstGeom>
          <a:solidFill>
            <a:srgbClr val="9ED8B5"/>
          </a:solidFill>
          <a:ln w="2540">
            <a:solidFill>
              <a:srgbClr val="9ED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09960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7152D"/>
                </a:solidFill>
              </a:rPr>
              <a:t>Secondary fit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719072"/>
            <a:ext cx="11201400" cy="4553712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8890">
            <a:solidFill>
              <a:srgbClr val="BFD8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719072"/>
            <a:ext cx="2331720" cy="530352"/>
          </a:xfrm>
          <a:prstGeom prst="rect">
            <a:avLst/>
          </a:prstGeom>
          <a:solidFill>
            <a:srgbClr val="00563A"/>
          </a:solidFill>
          <a:ln w="12700">
            <a:solidFill>
              <a:srgbClr val="005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892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Offer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18836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63A"/>
                </a:solidFill>
              </a:rPr>
              <a:t>General users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1719072"/>
            <a:ext cx="0" cy="4553712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88366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63A"/>
                </a:solidFill>
              </a:rPr>
              <a:t>Developers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51960" y="1719072"/>
            <a:ext cx="0" cy="4553712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8836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63A"/>
                </a:solidFill>
              </a:rPr>
              <a:t>Testers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1719072"/>
            <a:ext cx="0" cy="4553712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18836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63A"/>
                </a:solidFill>
              </a:rPr>
              <a:t>Tech leads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78040" y="1719072"/>
            <a:ext cx="0" cy="4553712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18836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63A"/>
                </a:solidFill>
              </a:rPr>
              <a:t>Architects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95360" y="1719072"/>
            <a:ext cx="0" cy="4553712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18836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63A"/>
                </a:solidFill>
              </a:rPr>
              <a:t>PM / BA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12680" y="1719072"/>
            <a:ext cx="0" cy="4553712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249424"/>
            <a:ext cx="11201400" cy="0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2697480"/>
            <a:ext cx="11201400" cy="0"/>
          </a:xfrm>
          <a:prstGeom prst="line">
            <a:avLst/>
          </a:prstGeom>
          <a:noFill/>
          <a:ln w="6350">
            <a:solidFill>
              <a:srgbClr val="CAE1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23682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0563A"/>
                </a:solidFill>
              </a:rPr>
              <a:t>My Companion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502920" y="3145536"/>
            <a:ext cx="11201400" cy="0"/>
          </a:xfrm>
          <a:prstGeom prst="line">
            <a:avLst/>
          </a:prstGeom>
          <a:noFill/>
          <a:ln w="6350">
            <a:solidFill>
              <a:srgbClr val="CAE1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8163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0563A"/>
                </a:solidFill>
              </a:rPr>
              <a:t>M365 Copilot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502920" y="3593592"/>
            <a:ext cx="11201400" cy="0"/>
          </a:xfrm>
          <a:prstGeom prst="line">
            <a:avLst/>
          </a:prstGeom>
          <a:noFill/>
          <a:ln w="6350">
            <a:solidFill>
              <a:srgbClr val="CAE1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2644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0563A"/>
                </a:solidFill>
              </a:rPr>
              <a:t>Microsoft Copilot Agents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502920" y="4041648"/>
            <a:ext cx="11201400" cy="0"/>
          </a:xfrm>
          <a:prstGeom prst="line">
            <a:avLst/>
          </a:prstGeom>
          <a:noFill/>
          <a:ln w="6350">
            <a:solidFill>
              <a:srgbClr val="CAE1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7124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0563A"/>
                </a:solidFill>
              </a:rPr>
              <a:t>AI4DEV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502920" y="4489704"/>
            <a:ext cx="11201400" cy="0"/>
          </a:xfrm>
          <a:prstGeom prst="line">
            <a:avLst/>
          </a:prstGeom>
          <a:noFill/>
          <a:ln w="6350">
            <a:solidFill>
              <a:srgbClr val="CAE1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160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0563A"/>
                </a:solidFill>
              </a:rPr>
              <a:t>DevX Studio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502920" y="4937760"/>
            <a:ext cx="11201400" cy="0"/>
          </a:xfrm>
          <a:prstGeom prst="line">
            <a:avLst/>
          </a:prstGeom>
          <a:noFill/>
          <a:ln w="6350">
            <a:solidFill>
              <a:srgbClr val="CAE1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6085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0563A"/>
                </a:solidFill>
              </a:rPr>
              <a:t>DevX NextGen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502920" y="5385816"/>
            <a:ext cx="11201400" cy="0"/>
          </a:xfrm>
          <a:prstGeom prst="line">
            <a:avLst/>
          </a:prstGeom>
          <a:noFill/>
          <a:ln w="6350">
            <a:solidFill>
              <a:srgbClr val="CAE1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056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0563A"/>
                </a:solidFill>
              </a:rPr>
              <a:t>IBM Bob AI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502920" y="5833872"/>
            <a:ext cx="11201400" cy="0"/>
          </a:xfrm>
          <a:prstGeom prst="line">
            <a:avLst/>
          </a:prstGeom>
          <a:noFill/>
          <a:ln w="6350">
            <a:solidFill>
              <a:srgbClr val="CAE1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5046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0563A"/>
                </a:solidFill>
              </a:rPr>
              <a:t>Kevin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502920" y="6281928"/>
            <a:ext cx="11201400" cy="0"/>
          </a:xfrm>
          <a:prstGeom prst="line">
            <a:avLst/>
          </a:prstGeom>
          <a:noFill/>
          <a:ln w="6350">
            <a:solidFill>
              <a:srgbClr val="CAE1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59527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0563A"/>
                </a:solidFill>
              </a:rPr>
              <a:t>TWIN</a:t>
            </a:r>
            <a:endParaRPr lang="en-US" sz="1060" dirty="0"/>
          </a:p>
        </p:txBody>
      </p:sp>
      <p:sp>
        <p:nvSpPr>
          <p:cNvPr id="45" name="Shape 43"/>
          <p:cNvSpPr/>
          <p:nvPr/>
        </p:nvSpPr>
        <p:spPr>
          <a:xfrm>
            <a:off x="3470148" y="2400300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933188" y="2400300"/>
            <a:ext cx="146304" cy="146304"/>
          </a:xfrm>
          <a:prstGeom prst="ellipse">
            <a:avLst/>
          </a:prstGeom>
          <a:solidFill>
            <a:srgbClr val="9ED8B5"/>
          </a:solidFill>
          <a:ln w="2540">
            <a:solidFill>
              <a:srgbClr val="9ED8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96228" y="2400300"/>
            <a:ext cx="146304" cy="146304"/>
          </a:xfrm>
          <a:prstGeom prst="ellipse">
            <a:avLst/>
          </a:prstGeom>
          <a:solidFill>
            <a:srgbClr val="9ED8B5"/>
          </a:solidFill>
          <a:ln w="2540">
            <a:solidFill>
              <a:srgbClr val="9ED8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13548" y="2400300"/>
            <a:ext cx="146304" cy="146304"/>
          </a:xfrm>
          <a:prstGeom prst="ellipse">
            <a:avLst/>
          </a:prstGeom>
          <a:solidFill>
            <a:srgbClr val="9ED8B5"/>
          </a:solidFill>
          <a:ln w="2540">
            <a:solidFill>
              <a:srgbClr val="9ED8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30868" y="2400300"/>
            <a:ext cx="146304" cy="146304"/>
          </a:xfrm>
          <a:prstGeom prst="ellipse">
            <a:avLst/>
          </a:prstGeom>
          <a:solidFill>
            <a:srgbClr val="9ED8B5"/>
          </a:solidFill>
          <a:ln w="2540">
            <a:solidFill>
              <a:srgbClr val="9ED8B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85348" y="2400300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470148" y="2848356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933188" y="2848356"/>
            <a:ext cx="146304" cy="146304"/>
          </a:xfrm>
          <a:prstGeom prst="ellipse">
            <a:avLst/>
          </a:prstGeom>
          <a:solidFill>
            <a:srgbClr val="9ED8B5"/>
          </a:solidFill>
          <a:ln w="2540">
            <a:solidFill>
              <a:srgbClr val="9ED8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96228" y="2848356"/>
            <a:ext cx="146304" cy="146304"/>
          </a:xfrm>
          <a:prstGeom prst="ellipse">
            <a:avLst/>
          </a:prstGeom>
          <a:solidFill>
            <a:srgbClr val="9ED8B5"/>
          </a:solidFill>
          <a:ln w="2540">
            <a:solidFill>
              <a:srgbClr val="9ED8B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13548" y="2848356"/>
            <a:ext cx="146304" cy="146304"/>
          </a:xfrm>
          <a:prstGeom prst="ellipse">
            <a:avLst/>
          </a:prstGeom>
          <a:solidFill>
            <a:srgbClr val="9ED8B5"/>
          </a:solidFill>
          <a:ln w="2540">
            <a:solidFill>
              <a:srgbClr val="9ED8B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30868" y="2848356"/>
            <a:ext cx="146304" cy="146304"/>
          </a:xfrm>
          <a:prstGeom prst="ellipse">
            <a:avLst/>
          </a:prstGeom>
          <a:solidFill>
            <a:srgbClr val="9ED8B5"/>
          </a:solidFill>
          <a:ln w="2540">
            <a:solidFill>
              <a:srgbClr val="9ED8B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785348" y="2848356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470148" y="3296412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813548" y="3296412"/>
            <a:ext cx="146304" cy="146304"/>
          </a:xfrm>
          <a:prstGeom prst="ellipse">
            <a:avLst/>
          </a:prstGeom>
          <a:solidFill>
            <a:srgbClr val="9ED8B5"/>
          </a:solidFill>
          <a:ln w="2540">
            <a:solidFill>
              <a:srgbClr val="9ED8B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785348" y="3296412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933188" y="3744468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396228" y="3744468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813548" y="3744468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933188" y="4192524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396228" y="4192524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813548" y="4192524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933188" y="4640580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396228" y="4640580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813548" y="4640580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9230868" y="4640580"/>
            <a:ext cx="146304" cy="146304"/>
          </a:xfrm>
          <a:prstGeom prst="ellipse">
            <a:avLst/>
          </a:prstGeom>
          <a:solidFill>
            <a:srgbClr val="9ED8B5"/>
          </a:solidFill>
          <a:ln w="2540">
            <a:solidFill>
              <a:srgbClr val="9ED8B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933188" y="5088636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396228" y="5088636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7813548" y="5088636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9230868" y="5088636"/>
            <a:ext cx="146304" cy="146304"/>
          </a:xfrm>
          <a:prstGeom prst="ellipse">
            <a:avLst/>
          </a:prstGeom>
          <a:solidFill>
            <a:srgbClr val="9ED8B5"/>
          </a:solidFill>
          <a:ln w="2540">
            <a:solidFill>
              <a:srgbClr val="9ED8B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813548" y="5536692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9230868" y="5536692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10785348" y="5536692"/>
            <a:ext cx="146304" cy="146304"/>
          </a:xfrm>
          <a:prstGeom prst="ellipse">
            <a:avLst/>
          </a:prstGeom>
          <a:solidFill>
            <a:srgbClr val="9ED8B5"/>
          </a:solidFill>
          <a:ln w="2540">
            <a:solidFill>
              <a:srgbClr val="9ED8B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813548" y="5984748"/>
            <a:ext cx="146304" cy="146304"/>
          </a:xfrm>
          <a:prstGeom prst="ellipse">
            <a:avLst/>
          </a:prstGeom>
          <a:solidFill>
            <a:srgbClr val="9ED8B5"/>
          </a:solidFill>
          <a:ln w="2540">
            <a:solidFill>
              <a:srgbClr val="9ED8B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230868" y="5984748"/>
            <a:ext cx="146304" cy="146304"/>
          </a:xfrm>
          <a:prstGeom prst="ellipse">
            <a:avLst/>
          </a:prstGeom>
          <a:solidFill>
            <a:srgbClr val="00563A"/>
          </a:solidFill>
          <a:ln w="2540">
            <a:solidFill>
              <a:srgbClr val="00563A"/>
            </a:solidFill>
            <a:prstDash val="solid"/>
          </a:ln>
          <a:effectLst>
            <a:outerShdw sx="100000" sy="100000" kx="0" ky="0" algn="bl" rotWithShape="0" blurRad="12700" dist="50800" dir="2700000">
              <a:srgbClr val="CFE7D8">
                <a:alpha val="4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530352" y="6382512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D6B7D"/>
                </a:solidFill>
              </a:rPr>
              <a:t>The matrix highlights the main target profiles. Some tools may also support adjacent use cases.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0760"/>
            <a:ext cx="5303520" cy="777240"/>
          </a:xfrm>
          <a:prstGeom prst="triangle">
            <a:avLst/>
          </a:prstGeom>
          <a:solidFill>
            <a:srgbClr val="2CA86B">
              <a:alpha val="42000"/>
            </a:srgbClr>
          </a:solidFill>
          <a:ln w="12700">
            <a:solidFill>
              <a:srgbClr val="A9D5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6144768"/>
            <a:ext cx="8622792" cy="713232"/>
          </a:xfrm>
          <a:prstGeom prst="parallelogram">
            <a:avLst/>
          </a:prstGeom>
          <a:solidFill>
            <a:srgbClr val="E3F2EA">
              <a:alpha val="82000"/>
            </a:srgbClr>
          </a:solidFill>
          <a:ln w="12700">
            <a:solidFill>
              <a:srgbClr val="E3F2E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for General and Business Profiles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21208" y="1078992"/>
            <a:ext cx="475488" cy="0"/>
          </a:xfrm>
          <a:prstGeom prst="line">
            <a:avLst/>
          </a:prstGeom>
          <a:noFill/>
          <a:ln w="16510">
            <a:solidFill>
              <a:srgbClr val="008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234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offers for general users, project managers and business analysts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75488" y="1874520"/>
            <a:ext cx="361188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6656" y="2112264"/>
            <a:ext cx="658368" cy="65836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211019"/>
            <a:ext cx="65836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08176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563A"/>
                </a:solidFill>
              </a:rPr>
              <a:t>My Companion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1408176" y="24323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Group unified AI assistant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3099816" cy="0"/>
          </a:xfrm>
          <a:prstGeom prst="line">
            <a:avLst/>
          </a:prstGeom>
          <a:noFill/>
          <a:ln w="8890">
            <a:solidFill>
              <a:srgbClr val="9BD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" y="3127248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14096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978408" y="3099816"/>
            <a:ext cx="2926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Content drafting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22376" y="346557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347929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978408" y="3438144"/>
            <a:ext cx="2926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Translation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22376" y="380390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38176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978408" y="3776472"/>
            <a:ext cx="2926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Document summarization and analysis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22376" y="4142232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415594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978408" y="4114800"/>
            <a:ext cx="2926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Question answering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22376" y="448056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449427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978408" y="4453128"/>
            <a:ext cx="2926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Group context enrichment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279392" y="1874520"/>
            <a:ext cx="361188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2112264"/>
            <a:ext cx="658368" cy="65836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2211019"/>
            <a:ext cx="65836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◆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12080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563A"/>
                </a:solidFill>
              </a:rPr>
              <a:t>M365 Copilot</a:t>
            </a:r>
            <a:endParaRPr lang="en-US" sz="1380" dirty="0"/>
          </a:p>
        </p:txBody>
      </p:sp>
      <p:sp>
        <p:nvSpPr>
          <p:cNvPr id="32" name="Text 30"/>
          <p:cNvSpPr/>
          <p:nvPr/>
        </p:nvSpPr>
        <p:spPr>
          <a:xfrm>
            <a:off x="5212080" y="24323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Microsoft 365 productivity assistant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4535424" y="2834640"/>
            <a:ext cx="3099816" cy="0"/>
          </a:xfrm>
          <a:prstGeom prst="line">
            <a:avLst/>
          </a:prstGeom>
          <a:noFill/>
          <a:ln w="8890">
            <a:solidFill>
              <a:srgbClr val="9BD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26280" y="3127248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44568" y="314096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782312" y="3099816"/>
            <a:ext cx="2926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Support in Outlook, Teams, Word, PowerPoint and Excel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4526280" y="346557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44568" y="347929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4782312" y="3438144"/>
            <a:ext cx="2926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Content generation and comparison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4526280" y="380390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44568" y="38176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782312" y="3776472"/>
            <a:ext cx="2926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Meeting and email preparation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4526280" y="4142232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44568" y="415594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782312" y="4114800"/>
            <a:ext cx="2926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Document and conversation retrieval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8083296" y="1874520"/>
            <a:ext cx="361188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84464" y="2112264"/>
            <a:ext cx="658368" cy="65836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84464" y="2211019"/>
            <a:ext cx="65836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🤖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015984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563A"/>
                </a:solidFill>
              </a:rPr>
              <a:t>Microsoft Copilot Agents</a:t>
            </a:r>
            <a:endParaRPr lang="en-US" sz="1380" dirty="0"/>
          </a:p>
        </p:txBody>
      </p:sp>
      <p:sp>
        <p:nvSpPr>
          <p:cNvPr id="50" name="Text 48"/>
          <p:cNvSpPr/>
          <p:nvPr/>
        </p:nvSpPr>
        <p:spPr>
          <a:xfrm>
            <a:off x="9015984" y="24323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Knowledge-focused assistants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8339328" y="2834640"/>
            <a:ext cx="3099816" cy="0"/>
          </a:xfrm>
          <a:prstGeom prst="line">
            <a:avLst/>
          </a:prstGeom>
          <a:noFill/>
          <a:ln w="8890">
            <a:solidFill>
              <a:srgbClr val="9BD0B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30184" y="3127248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48472" y="314096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586216" y="3099816"/>
            <a:ext cx="2926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Agent Builder for targeted no-code assistants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8330184" y="346557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48472" y="347929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8586216" y="3438144"/>
            <a:ext cx="2926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Copilot Studio for more advanced low-code agents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8330184" y="380390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48472" y="381762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8586216" y="3776472"/>
            <a:ext cx="2926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Business-specific use cases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8330184" y="4142232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48472" y="415594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8586216" y="4114800"/>
            <a:ext cx="2926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Triggered or orchestrated tasks</a:t>
            </a:r>
            <a:endParaRPr lang="en-US" sz="1020" dirty="0"/>
          </a:p>
        </p:txBody>
      </p:sp>
      <p:sp>
        <p:nvSpPr>
          <p:cNvPr id="64" name="Shape 62"/>
          <p:cNvSpPr/>
          <p:nvPr/>
        </p:nvSpPr>
        <p:spPr>
          <a:xfrm>
            <a:off x="475488" y="5248656"/>
            <a:ext cx="11219688" cy="694944"/>
          </a:xfrm>
          <a:prstGeom prst="roundRect">
            <a:avLst>
              <a:gd name="adj" fmla="val 7895"/>
            </a:avLst>
          </a:prstGeom>
          <a:solidFill>
            <a:srgbClr val="F6FFF9"/>
          </a:solidFill>
          <a:ln w="8890">
            <a:solidFill>
              <a:srgbClr val="D6EADF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58368" y="5422392"/>
            <a:ext cx="420624" cy="420624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8368" y="5485486"/>
            <a:ext cx="420624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1371600" y="55138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63A"/>
                </a:solidFill>
              </a:rPr>
              <a:t>Typical use cases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907792" y="5449824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8890">
            <a:solidFill>
              <a:srgbClr val="5DB98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80944" y="5504688"/>
            <a:ext cx="127101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563A"/>
                </a:solidFill>
              </a:rPr>
              <a:t>Document drafting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517136" y="5449824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8890">
            <a:solidFill>
              <a:srgbClr val="5DB98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90288" y="5504688"/>
            <a:ext cx="127101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563A"/>
                </a:solidFill>
              </a:rPr>
              <a:t>Summarization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126480" y="5449824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8890">
            <a:solidFill>
              <a:srgbClr val="5DB9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99632" y="5504688"/>
            <a:ext cx="127101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563A"/>
                </a:solidFill>
              </a:rPr>
              <a:t>Meeting preparation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735824" y="5449824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8890">
            <a:solidFill>
              <a:srgbClr val="5DB98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08976" y="5504688"/>
            <a:ext cx="14538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563A"/>
                </a:solidFill>
              </a:rPr>
              <a:t>Questionnaire completion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9528048" y="5449824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8890">
            <a:solidFill>
              <a:srgbClr val="5DB98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601200" y="5504688"/>
            <a:ext cx="127101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563A"/>
                </a:solidFill>
              </a:rPr>
              <a:t>Knowledge retrieval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0760"/>
            <a:ext cx="5303520" cy="777240"/>
          </a:xfrm>
          <a:prstGeom prst="triangle">
            <a:avLst/>
          </a:prstGeom>
          <a:solidFill>
            <a:srgbClr val="2CA86B">
              <a:alpha val="42000"/>
            </a:srgbClr>
          </a:solidFill>
          <a:ln w="12700">
            <a:solidFill>
              <a:srgbClr val="A9D5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6144768"/>
            <a:ext cx="8622792" cy="713232"/>
          </a:xfrm>
          <a:prstGeom prst="parallelogram">
            <a:avLst/>
          </a:prstGeom>
          <a:solidFill>
            <a:srgbClr val="E3F2EA">
              <a:alpha val="82000"/>
            </a:srgbClr>
          </a:solidFill>
          <a:ln w="12700">
            <a:solidFill>
              <a:srgbClr val="E3F2E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for Developers and Testers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21208" y="1078992"/>
            <a:ext cx="475488" cy="0"/>
          </a:xfrm>
          <a:prstGeom prst="line">
            <a:avLst/>
          </a:prstGeom>
          <a:noFill/>
          <a:ln w="16510">
            <a:solidFill>
              <a:srgbClr val="008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234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Solutions that support software engineering, testing and developer productivity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75488" y="1901952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6656" y="2139696"/>
            <a:ext cx="658368" cy="65836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238451"/>
            <a:ext cx="65836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08176" y="21488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563A"/>
                </a:solidFill>
              </a:rPr>
              <a:t>AI4DEV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1408176" y="24597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AI adoption program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for development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31520" y="2862072"/>
            <a:ext cx="2048256" cy="0"/>
          </a:xfrm>
          <a:prstGeom prst="line">
            <a:avLst/>
          </a:prstGeom>
          <a:noFill/>
          <a:ln w="8890">
            <a:solidFill>
              <a:srgbClr val="9BD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" y="315468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16839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978408" y="3127248"/>
            <a:ext cx="1874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Adoption and enablement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22376" y="3493008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350672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978408" y="3465576"/>
            <a:ext cx="1874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Common practices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22376" y="383133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384505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978408" y="3803904"/>
            <a:ext cx="1874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Developer onboarding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22376" y="416966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418338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978408" y="4142232"/>
            <a:ext cx="1874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Dissemination of AI usage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3346704" y="1901952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47872" y="2139696"/>
            <a:ext cx="658368" cy="65836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2238451"/>
            <a:ext cx="65836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☁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279392" y="21488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563A"/>
                </a:solidFill>
              </a:rPr>
              <a:t>DevX Studio</a:t>
            </a:r>
            <a:endParaRPr lang="en-US" sz="1380" dirty="0"/>
          </a:p>
        </p:txBody>
      </p:sp>
      <p:sp>
        <p:nvSpPr>
          <p:cNvPr id="29" name="Text 27"/>
          <p:cNvSpPr/>
          <p:nvPr/>
        </p:nvSpPr>
        <p:spPr>
          <a:xfrm>
            <a:off x="4279392" y="24597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Cloud development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environment with built-in AI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3602736" y="2862072"/>
            <a:ext cx="2048256" cy="0"/>
          </a:xfrm>
          <a:prstGeom prst="line">
            <a:avLst/>
          </a:prstGeom>
          <a:noFill/>
          <a:ln w="8890">
            <a:solidFill>
              <a:srgbClr val="9BD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93592" y="315468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316839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849624" y="3127248"/>
            <a:ext cx="1874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Development environment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3593592" y="3493008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350672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849624" y="3465576"/>
            <a:ext cx="1874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Standard AI assistance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3593592" y="383133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384505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3849624" y="3803904"/>
            <a:ext cx="1874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Built for cloud developers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6217920" y="1901952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19088" y="2139696"/>
            <a:ext cx="658368" cy="65836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2238451"/>
            <a:ext cx="65836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🤖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150608" y="21488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563A"/>
                </a:solidFill>
              </a:rPr>
              <a:t>DevX NextGen</a:t>
            </a:r>
            <a:endParaRPr lang="en-US" sz="1380" dirty="0"/>
          </a:p>
        </p:txBody>
      </p:sp>
      <p:sp>
        <p:nvSpPr>
          <p:cNvPr id="44" name="Text 42"/>
          <p:cNvSpPr/>
          <p:nvPr/>
        </p:nvSpPr>
        <p:spPr>
          <a:xfrm>
            <a:off x="7150608" y="24597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Advanced version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with autonomous-agent mode</a:t>
            </a:r>
            <a:endParaRPr lang="en-US" sz="930" dirty="0"/>
          </a:p>
        </p:txBody>
      </p:sp>
      <p:sp>
        <p:nvSpPr>
          <p:cNvPr id="45" name="Shape 43"/>
          <p:cNvSpPr/>
          <p:nvPr/>
        </p:nvSpPr>
        <p:spPr>
          <a:xfrm>
            <a:off x="6473952" y="2862072"/>
            <a:ext cx="2048256" cy="0"/>
          </a:xfrm>
          <a:prstGeom prst="line">
            <a:avLst/>
          </a:prstGeom>
          <a:noFill/>
          <a:ln w="8890">
            <a:solidFill>
              <a:srgbClr val="9BD0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64808" y="315468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83096" y="316839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6720840" y="3127248"/>
            <a:ext cx="1874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Agentic development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6464808" y="3493008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83096" y="350672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720840" y="3465576"/>
            <a:ext cx="1874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Advanced workflows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6464808" y="383133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83096" y="384505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6720840" y="3803904"/>
            <a:ext cx="1874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Early adopters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9089136" y="1901952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9290304" y="2139696"/>
            <a:ext cx="658368" cy="65836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90304" y="2238451"/>
            <a:ext cx="65836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💬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021824" y="21488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563A"/>
                </a:solidFill>
              </a:rPr>
              <a:t>IBM Bob AI</a:t>
            </a:r>
            <a:endParaRPr lang="en-US" sz="1380" dirty="0"/>
          </a:p>
        </p:txBody>
      </p:sp>
      <p:sp>
        <p:nvSpPr>
          <p:cNvPr id="59" name="Text 57"/>
          <p:cNvSpPr/>
          <p:nvPr/>
        </p:nvSpPr>
        <p:spPr>
          <a:xfrm>
            <a:off x="10021824" y="24597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Agentic IDE with AI in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the development environment</a:t>
            </a:r>
            <a:endParaRPr lang="en-US" sz="930" dirty="0"/>
          </a:p>
        </p:txBody>
      </p:sp>
      <p:sp>
        <p:nvSpPr>
          <p:cNvPr id="60" name="Shape 58"/>
          <p:cNvSpPr/>
          <p:nvPr/>
        </p:nvSpPr>
        <p:spPr>
          <a:xfrm>
            <a:off x="9345168" y="2862072"/>
            <a:ext cx="2048256" cy="0"/>
          </a:xfrm>
          <a:prstGeom prst="line">
            <a:avLst/>
          </a:prstGeom>
          <a:noFill/>
          <a:ln w="8890">
            <a:solidFill>
              <a:srgbClr val="9BD0B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36024" y="315468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354312" y="316839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9592056" y="3127248"/>
            <a:ext cx="1874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IDE-integrated assistant</a:t>
            </a:r>
            <a:endParaRPr lang="en-US" sz="1020" dirty="0"/>
          </a:p>
        </p:txBody>
      </p:sp>
      <p:sp>
        <p:nvSpPr>
          <p:cNvPr id="64" name="Shape 62"/>
          <p:cNvSpPr/>
          <p:nvPr/>
        </p:nvSpPr>
        <p:spPr>
          <a:xfrm>
            <a:off x="9336024" y="3493008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54312" y="350672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9592056" y="3465576"/>
            <a:ext cx="1874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Advanced coding workflows</a:t>
            </a:r>
            <a:endParaRPr lang="en-US" sz="1020" dirty="0"/>
          </a:p>
        </p:txBody>
      </p:sp>
      <p:sp>
        <p:nvSpPr>
          <p:cNvPr id="67" name="Shape 65"/>
          <p:cNvSpPr/>
          <p:nvPr/>
        </p:nvSpPr>
        <p:spPr>
          <a:xfrm>
            <a:off x="9336024" y="383133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54312" y="384505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9592056" y="3803904"/>
            <a:ext cx="1874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Agentic task execution</a:t>
            </a:r>
            <a:endParaRPr lang="en-US" sz="1020" dirty="0"/>
          </a:p>
        </p:txBody>
      </p:sp>
      <p:sp>
        <p:nvSpPr>
          <p:cNvPr id="70" name="Shape 68"/>
          <p:cNvSpPr/>
          <p:nvPr/>
        </p:nvSpPr>
        <p:spPr>
          <a:xfrm>
            <a:off x="9336024" y="416966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354312" y="418338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9592056" y="4142232"/>
            <a:ext cx="1874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Claude Code access through IBM Bob AI</a:t>
            </a:r>
            <a:endParaRPr lang="en-US" sz="1020" dirty="0"/>
          </a:p>
        </p:txBody>
      </p:sp>
      <p:sp>
        <p:nvSpPr>
          <p:cNvPr id="73" name="Text 71"/>
          <p:cNvSpPr/>
          <p:nvPr/>
        </p:nvSpPr>
        <p:spPr>
          <a:xfrm>
            <a:off x="521208" y="5285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63A"/>
                </a:solidFill>
              </a:rPr>
              <a:t>Documented capabilities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566928" y="5632704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58368" y="5724144"/>
            <a:ext cx="347472" cy="34747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8368" y="5776265"/>
            <a:ext cx="34747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🔍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987552" y="573328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07152D"/>
                </a:solidFill>
              </a:rPr>
              <a:t>Code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07152D"/>
                </a:solidFill>
              </a:rPr>
              <a:t>analysis</a:t>
            </a:r>
            <a:endParaRPr lang="en-US" sz="810" dirty="0"/>
          </a:p>
        </p:txBody>
      </p:sp>
      <p:sp>
        <p:nvSpPr>
          <p:cNvPr id="78" name="Shape 76"/>
          <p:cNvSpPr/>
          <p:nvPr/>
        </p:nvSpPr>
        <p:spPr>
          <a:xfrm>
            <a:off x="2075688" y="5632704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2167128" y="5724144"/>
            <a:ext cx="347472" cy="34747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67128" y="5776265"/>
            <a:ext cx="34747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&lt;&gt;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2496312" y="573328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07152D"/>
                </a:solidFill>
              </a:rPr>
              <a:t>Code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07152D"/>
                </a:solidFill>
              </a:rPr>
              <a:t>generation</a:t>
            </a:r>
            <a:endParaRPr lang="en-US" sz="810" dirty="0"/>
          </a:p>
        </p:txBody>
      </p:sp>
      <p:sp>
        <p:nvSpPr>
          <p:cNvPr id="82" name="Shape 80"/>
          <p:cNvSpPr/>
          <p:nvPr/>
        </p:nvSpPr>
        <p:spPr>
          <a:xfrm>
            <a:off x="3584448" y="5632704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3675888" y="5724144"/>
            <a:ext cx="347472" cy="34747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675888" y="5776265"/>
            <a:ext cx="34747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4005072" y="573328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07152D"/>
                </a:solidFill>
              </a:rPr>
              <a:t>Test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07152D"/>
                </a:solidFill>
              </a:rPr>
              <a:t>generation</a:t>
            </a:r>
            <a:endParaRPr lang="en-US" sz="810" dirty="0"/>
          </a:p>
        </p:txBody>
      </p:sp>
      <p:sp>
        <p:nvSpPr>
          <p:cNvPr id="86" name="Shape 84"/>
          <p:cNvSpPr/>
          <p:nvPr/>
        </p:nvSpPr>
        <p:spPr>
          <a:xfrm>
            <a:off x="5093208" y="5632704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5184648" y="5724144"/>
            <a:ext cx="347472" cy="34747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184648" y="5776265"/>
            <a:ext cx="34747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▢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5513832" y="573328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07152D"/>
                </a:solidFill>
              </a:rPr>
              <a:t>Security issue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07152D"/>
                </a:solidFill>
              </a:rPr>
              <a:t>detection</a:t>
            </a:r>
            <a:endParaRPr lang="en-US" sz="810" dirty="0"/>
          </a:p>
        </p:txBody>
      </p:sp>
      <p:sp>
        <p:nvSpPr>
          <p:cNvPr id="90" name="Shape 88"/>
          <p:cNvSpPr/>
          <p:nvPr/>
        </p:nvSpPr>
        <p:spPr>
          <a:xfrm>
            <a:off x="6601968" y="5632704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6693408" y="5724144"/>
            <a:ext cx="347472" cy="34747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693408" y="5776265"/>
            <a:ext cx="34747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7022592" y="573328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07152D"/>
                </a:solidFill>
              </a:rPr>
              <a:t>Refactoring</a:t>
            </a:r>
            <a:endParaRPr lang="en-US" sz="810" dirty="0"/>
          </a:p>
        </p:txBody>
      </p:sp>
      <p:sp>
        <p:nvSpPr>
          <p:cNvPr id="94" name="Shape 92"/>
          <p:cNvSpPr/>
          <p:nvPr/>
        </p:nvSpPr>
        <p:spPr>
          <a:xfrm>
            <a:off x="8110728" y="5632704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8202168" y="5724144"/>
            <a:ext cx="347472" cy="34747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02168" y="5776265"/>
            <a:ext cx="34747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□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8531352" y="573328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07152D"/>
                </a:solidFill>
              </a:rPr>
              <a:t>Documentation</a:t>
            </a:r>
            <a:endParaRPr lang="en-US" sz="810" dirty="0"/>
          </a:p>
        </p:txBody>
      </p:sp>
      <p:sp>
        <p:nvSpPr>
          <p:cNvPr id="98" name="Shape 96"/>
          <p:cNvSpPr/>
          <p:nvPr/>
        </p:nvSpPr>
        <p:spPr>
          <a:xfrm>
            <a:off x="9619488" y="5632704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9710928" y="5724144"/>
            <a:ext cx="347472" cy="34747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710928" y="5776265"/>
            <a:ext cx="34747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🤖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10040112" y="573328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07152D"/>
                </a:solidFill>
              </a:rPr>
              <a:t>Agentic task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07152D"/>
                </a:solidFill>
              </a:rPr>
              <a:t>execution</a:t>
            </a:r>
            <a:endParaRPr lang="en-US" sz="8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0760"/>
            <a:ext cx="5303520" cy="777240"/>
          </a:xfrm>
          <a:prstGeom prst="triangle">
            <a:avLst/>
          </a:prstGeom>
          <a:solidFill>
            <a:srgbClr val="2CA86B">
              <a:alpha val="42000"/>
            </a:srgbClr>
          </a:solidFill>
          <a:ln w="12700">
            <a:solidFill>
              <a:srgbClr val="A9D5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6144768"/>
            <a:ext cx="8622792" cy="713232"/>
          </a:xfrm>
          <a:prstGeom prst="parallelogram">
            <a:avLst/>
          </a:prstGeom>
          <a:solidFill>
            <a:srgbClr val="E3F2EA">
              <a:alpha val="82000"/>
            </a:srgbClr>
          </a:solidFill>
          <a:ln w="12700">
            <a:solidFill>
              <a:srgbClr val="E3F2E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DevX Studio and DevX NextGen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21208" y="1078992"/>
            <a:ext cx="475488" cy="0"/>
          </a:xfrm>
          <a:prstGeom prst="line">
            <a:avLst/>
          </a:prstGeom>
          <a:noFill/>
          <a:ln w="16510">
            <a:solidFill>
              <a:srgbClr val="008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234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related offers with different coverage and maturity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41832" y="1737360"/>
            <a:ext cx="1005840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8890">
            <a:solidFill>
              <a:srgbClr val="A8D0B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6392" y="173736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96BE07"/>
          </a:solidFill>
          <a:ln w="12700">
            <a:solidFill>
              <a:srgbClr val="96BE0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68312" y="173736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00563A"/>
          </a:solidFill>
          <a:ln w="12700">
            <a:solidFill>
              <a:srgbClr val="0056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185623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☁  DevX Studio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68312" y="185623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🤖  DevX NextGen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41832" y="2240280"/>
            <a:ext cx="10058400" cy="0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2350008"/>
            <a:ext cx="347472" cy="34747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402129"/>
            <a:ext cx="34747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55064" y="24140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0563A"/>
                </a:solidFill>
              </a:rPr>
              <a:t>Positioning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3136392" y="2240280"/>
            <a:ext cx="0" cy="566928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68312" y="2240280"/>
            <a:ext cx="0" cy="566928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2404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7152D"/>
                </a:solidFill>
              </a:rPr>
              <a:t>Cloud development environment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07152D"/>
                </a:solidFill>
              </a:rPr>
              <a:t>with built-in AI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7251192" y="2404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7152D"/>
                </a:solidFill>
              </a:rPr>
              <a:t>Advanced development environment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07152D"/>
                </a:solidFill>
              </a:rPr>
              <a:t>with autonomous-agent mode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941832" y="2807208"/>
            <a:ext cx="10058400" cy="0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2916936"/>
            <a:ext cx="347472" cy="34747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969057"/>
            <a:ext cx="34747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55064" y="29809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0563A"/>
                </a:solidFill>
              </a:rPr>
              <a:t>Audience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3136392" y="2807208"/>
            <a:ext cx="0" cy="566928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68312" y="2807208"/>
            <a:ext cx="0" cy="566928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2971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7152D"/>
                </a:solidFill>
              </a:rPr>
              <a:t>Cloud developers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7251192" y="2971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7152D"/>
                </a:solidFill>
              </a:rPr>
              <a:t>Developers and early adopters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941832" y="3374136"/>
            <a:ext cx="10058400" cy="0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3483864"/>
            <a:ext cx="347472" cy="34747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3535985"/>
            <a:ext cx="34747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▟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55064" y="35478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0563A"/>
                </a:solidFill>
              </a:rPr>
              <a:t>Maturity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3136392" y="3374136"/>
            <a:ext cx="0" cy="566928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68312" y="3374136"/>
            <a:ext cx="0" cy="566928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9272" y="3538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7152D"/>
                </a:solidFill>
              </a:rPr>
              <a:t>Production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7251192" y="3538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7152D"/>
                </a:solidFill>
              </a:rPr>
              <a:t>Early access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941832" y="3941064"/>
            <a:ext cx="10058400" cy="0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3000" y="4050792"/>
            <a:ext cx="347472" cy="34747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43000" y="4102913"/>
            <a:ext cx="34747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655064" y="4114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0563A"/>
                </a:solidFill>
              </a:rPr>
              <a:t>AI mode</a:t>
            </a:r>
            <a:endParaRPr lang="en-US" sz="1180" dirty="0"/>
          </a:p>
        </p:txBody>
      </p:sp>
      <p:sp>
        <p:nvSpPr>
          <p:cNvPr id="40" name="Shape 38"/>
          <p:cNvSpPr/>
          <p:nvPr/>
        </p:nvSpPr>
        <p:spPr>
          <a:xfrm>
            <a:off x="3136392" y="3941064"/>
            <a:ext cx="0" cy="566928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68312" y="3941064"/>
            <a:ext cx="0" cy="566928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9272" y="4105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7152D"/>
                </a:solidFill>
              </a:rPr>
              <a:t>Standard AI assistance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7251192" y="4105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7152D"/>
                </a:solidFill>
              </a:rPr>
              <a:t>Agentic assistance with higher autonomy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941832" y="4507992"/>
            <a:ext cx="10058400" cy="0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3000" y="4617720"/>
            <a:ext cx="347472" cy="34747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43000" y="4669841"/>
            <a:ext cx="34747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655064" y="46817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0563A"/>
                </a:solidFill>
              </a:rPr>
              <a:t>Typical use cases</a:t>
            </a:r>
            <a:endParaRPr lang="en-US" sz="1180" dirty="0"/>
          </a:p>
        </p:txBody>
      </p:sp>
      <p:sp>
        <p:nvSpPr>
          <p:cNvPr id="48" name="Shape 46"/>
          <p:cNvSpPr/>
          <p:nvPr/>
        </p:nvSpPr>
        <p:spPr>
          <a:xfrm>
            <a:off x="3136392" y="4507992"/>
            <a:ext cx="0" cy="566928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68312" y="4507992"/>
            <a:ext cx="0" cy="566928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19272" y="46725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7152D"/>
                </a:solidFill>
              </a:rPr>
              <a:t>Day to day development tasks</a:t>
            </a:r>
            <a:endParaRPr lang="en-US" sz="1120" dirty="0"/>
          </a:p>
        </p:txBody>
      </p:sp>
      <p:sp>
        <p:nvSpPr>
          <p:cNvPr id="51" name="Text 49"/>
          <p:cNvSpPr/>
          <p:nvPr/>
        </p:nvSpPr>
        <p:spPr>
          <a:xfrm>
            <a:off x="7251192" y="46725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7152D"/>
                </a:solidFill>
              </a:rPr>
              <a:t>Advanced and complex development tasks</a:t>
            </a:r>
            <a:endParaRPr lang="en-US" sz="1120" dirty="0"/>
          </a:p>
        </p:txBody>
      </p:sp>
      <p:sp>
        <p:nvSpPr>
          <p:cNvPr id="52" name="Shape 50"/>
          <p:cNvSpPr/>
          <p:nvPr/>
        </p:nvSpPr>
        <p:spPr>
          <a:xfrm>
            <a:off x="941832" y="5074920"/>
            <a:ext cx="10058400" cy="0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3000" y="5184648"/>
            <a:ext cx="347472" cy="34747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43000" y="5236769"/>
            <a:ext cx="347472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655064" y="52486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0563A"/>
                </a:solidFill>
              </a:rPr>
              <a:t>Best suited for</a:t>
            </a:r>
            <a:endParaRPr lang="en-US" sz="1180" dirty="0"/>
          </a:p>
        </p:txBody>
      </p:sp>
      <p:sp>
        <p:nvSpPr>
          <p:cNvPr id="56" name="Shape 54"/>
          <p:cNvSpPr/>
          <p:nvPr/>
        </p:nvSpPr>
        <p:spPr>
          <a:xfrm>
            <a:off x="3136392" y="5074920"/>
            <a:ext cx="0" cy="566928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68312" y="5074920"/>
            <a:ext cx="0" cy="566928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19272" y="5239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7152D"/>
                </a:solidFill>
              </a:rPr>
              <a:t>Stable daily engineering workflows</a:t>
            </a:r>
            <a:endParaRPr lang="en-US" sz="1120" dirty="0"/>
          </a:p>
        </p:txBody>
      </p:sp>
      <p:sp>
        <p:nvSpPr>
          <p:cNvPr id="59" name="Text 57"/>
          <p:cNvSpPr/>
          <p:nvPr/>
        </p:nvSpPr>
        <p:spPr>
          <a:xfrm>
            <a:off x="7251192" y="5239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7152D"/>
                </a:solidFill>
              </a:rPr>
              <a:t>Exploratory and agentic engineering workflows</a:t>
            </a:r>
            <a:endParaRPr lang="en-US" sz="1120" dirty="0"/>
          </a:p>
        </p:txBody>
      </p:sp>
      <p:sp>
        <p:nvSpPr>
          <p:cNvPr id="60" name="Shape 58"/>
          <p:cNvSpPr/>
          <p:nvPr/>
        </p:nvSpPr>
        <p:spPr>
          <a:xfrm>
            <a:off x="2039112" y="5989320"/>
            <a:ext cx="8138160" cy="493776"/>
          </a:xfrm>
          <a:prstGeom prst="roundRect">
            <a:avLst>
              <a:gd name="adj" fmla="val 14815"/>
            </a:avLst>
          </a:prstGeom>
          <a:solidFill>
            <a:srgbClr val="F8FFF9"/>
          </a:solidFill>
          <a:ln w="8890">
            <a:solidFill>
              <a:srgbClr val="A6D5B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12264" y="6044184"/>
            <a:ext cx="799185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63A"/>
                </a:solidFill>
              </a:rPr>
              <a:t>DevX NextGen should be positioned alongside DevX Studio, not hidden inside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0760"/>
            <a:ext cx="5303520" cy="777240"/>
          </a:xfrm>
          <a:prstGeom prst="triangle">
            <a:avLst/>
          </a:prstGeom>
          <a:solidFill>
            <a:srgbClr val="2CA86B">
              <a:alpha val="42000"/>
            </a:srgbClr>
          </a:solidFill>
          <a:ln w="12700">
            <a:solidFill>
              <a:srgbClr val="A9D5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6144768"/>
            <a:ext cx="8622792" cy="713232"/>
          </a:xfrm>
          <a:prstGeom prst="parallelogram">
            <a:avLst/>
          </a:prstGeom>
          <a:solidFill>
            <a:srgbClr val="E3F2EA">
              <a:alpha val="82000"/>
            </a:srgbClr>
          </a:solidFill>
          <a:ln w="12700">
            <a:solidFill>
              <a:srgbClr val="E3F2E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 Leads, Architects and IT Production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21208" y="1078992"/>
            <a:ext cx="475488" cy="0"/>
          </a:xfrm>
          <a:prstGeom prst="line">
            <a:avLst/>
          </a:prstGeom>
          <a:noFill/>
          <a:ln w="16510">
            <a:solidFill>
              <a:srgbClr val="008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234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Offers that help analyze systems, understand dependencies and support advanced engineering work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58368" y="1847088"/>
            <a:ext cx="3246120" cy="36118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2084832"/>
            <a:ext cx="658368" cy="65836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183587"/>
            <a:ext cx="65836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91056" y="20939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563A"/>
                </a:solidFill>
              </a:rPr>
              <a:t>Kevin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1591056" y="2404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AI analysis of existing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applications and repositories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914400" y="2807208"/>
            <a:ext cx="2734056" cy="0"/>
          </a:xfrm>
          <a:prstGeom prst="line">
            <a:avLst/>
          </a:prstGeom>
          <a:noFill/>
          <a:ln w="8890">
            <a:solidFill>
              <a:srgbClr val="9BD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309981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311353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161288" y="3072384"/>
            <a:ext cx="25603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Repository and application analysis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05256" y="343814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345186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61288" y="3410712"/>
            <a:ext cx="25603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Architecture, code and documentation insights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05256" y="3776472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79018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61288" y="3749040"/>
            <a:ext cx="25603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Support for understanding existing projects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905256" y="411480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" y="412851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61288" y="4087368"/>
            <a:ext cx="25603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Can point to code issues or patterns in existing repositories.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434840" y="1847088"/>
            <a:ext cx="3154680" cy="36118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36008" y="2084832"/>
            <a:ext cx="658368" cy="65836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2183587"/>
            <a:ext cx="65836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◇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67528" y="2093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563A"/>
                </a:solidFill>
              </a:rPr>
              <a:t>TWIN</a:t>
            </a:r>
            <a:endParaRPr lang="en-US" sz="1380" dirty="0"/>
          </a:p>
        </p:txBody>
      </p:sp>
      <p:sp>
        <p:nvSpPr>
          <p:cNvPr id="29" name="Text 27"/>
          <p:cNvSpPr/>
          <p:nvPr/>
        </p:nvSpPr>
        <p:spPr>
          <a:xfrm>
            <a:off x="5367528" y="24048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Agentic AI-powered digital twin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for IT Production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4690872" y="2807208"/>
            <a:ext cx="2642616" cy="0"/>
          </a:xfrm>
          <a:prstGeom prst="line">
            <a:avLst/>
          </a:prstGeom>
          <a:noFill/>
          <a:ln w="8890">
            <a:solidFill>
              <a:srgbClr val="9BD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1728" y="309981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311353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937760" y="3072384"/>
            <a:ext cx="24688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IT environment exploration through natural language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4681728" y="343814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345186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937760" y="3410712"/>
            <a:ext cx="24688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Dependency and impact analysis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4681728" y="3776472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0016" y="379018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4937760" y="3749040"/>
            <a:ext cx="24688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Incident and change analysis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4681728" y="411480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0016" y="412851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937760" y="4087368"/>
            <a:ext cx="24688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Access to structured technical knowledge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8092440" y="1847088"/>
            <a:ext cx="3246120" cy="36118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93608" y="2084832"/>
            <a:ext cx="658368" cy="65836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93608" y="2183587"/>
            <a:ext cx="658368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🤖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025128" y="20939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563A"/>
                </a:solidFill>
              </a:rPr>
              <a:t>IBM Bob AI and DevX NextGen</a:t>
            </a:r>
            <a:endParaRPr lang="en-US" sz="1380" dirty="0"/>
          </a:p>
        </p:txBody>
      </p:sp>
      <p:sp>
        <p:nvSpPr>
          <p:cNvPr id="47" name="Text 45"/>
          <p:cNvSpPr/>
          <p:nvPr/>
        </p:nvSpPr>
        <p:spPr>
          <a:xfrm>
            <a:off x="9025128" y="2404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Advanced development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07152D"/>
                </a:solidFill>
              </a:rPr>
              <a:t>and agentic workflows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8348472" y="2807208"/>
            <a:ext cx="2734056" cy="0"/>
          </a:xfrm>
          <a:prstGeom prst="line">
            <a:avLst/>
          </a:prstGeom>
          <a:noFill/>
          <a:ln w="8890">
            <a:solidFill>
              <a:srgbClr val="9BD0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39328" y="3099816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57616" y="311353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8595360" y="3072384"/>
            <a:ext cx="25603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Code analysis and documentation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8339328" y="3438144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57616" y="345186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595360" y="3410712"/>
            <a:ext cx="25603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Agentic task execution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8339328" y="3776472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57616" y="379018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8595360" y="3749040"/>
            <a:ext cx="25603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Advanced engineering support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8339328" y="4114800"/>
            <a:ext cx="146304" cy="146304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57616" y="412851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✓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8595360" y="4087368"/>
            <a:ext cx="25603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7152D"/>
                </a:solidFill>
              </a:rPr>
              <a:t>Useful for complex technical investigations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658368" y="5715000"/>
            <a:ext cx="10652760" cy="585216"/>
          </a:xfrm>
          <a:prstGeom prst="roundRect">
            <a:avLst>
              <a:gd name="adj" fmla="val 9375"/>
            </a:avLst>
          </a:prstGeom>
          <a:solidFill>
            <a:srgbClr val="F6FFF9"/>
          </a:solidFill>
          <a:ln w="8890">
            <a:solidFill>
              <a:srgbClr val="D6EADF"/>
            </a:solidFill>
            <a:prstDash val="solid"/>
          </a:ln>
          <a:effectLst>
            <a:outerShdw sx="100000" sy="100000" kx="0" ky="0" algn="bl" rotWithShape="0" blurRad="25400" dist="50800" dir="2700000">
              <a:srgbClr val="D7E4DC">
                <a:alpha val="2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68680" y="5815584"/>
            <a:ext cx="384048" cy="384048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8680" y="5873191"/>
            <a:ext cx="384048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1554480" y="58887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63A"/>
                </a:solidFill>
              </a:rPr>
              <a:t>Best suited for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246120" y="58064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12700" dist="50800" dir="2700000">
              <a:srgbClr val="D7E4DC">
                <a:alpha val="2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3319272" y="5861304"/>
            <a:ext cx="12710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0563A"/>
                </a:solidFill>
              </a:rPr>
              <a:t>Tech leads</a:t>
            </a:r>
            <a:endParaRPr lang="en-US" sz="930" dirty="0"/>
          </a:p>
        </p:txBody>
      </p:sp>
      <p:sp>
        <p:nvSpPr>
          <p:cNvPr id="67" name="Shape 65"/>
          <p:cNvSpPr/>
          <p:nvPr/>
        </p:nvSpPr>
        <p:spPr>
          <a:xfrm>
            <a:off x="4937760" y="58064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12700" dist="50800" dir="2700000">
              <a:srgbClr val="D7E4DC">
                <a:alpha val="2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5010912" y="5861304"/>
            <a:ext cx="12710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0563A"/>
                </a:solidFill>
              </a:rPr>
              <a:t>Architects</a:t>
            </a:r>
            <a:endParaRPr lang="en-US" sz="930" dirty="0"/>
          </a:p>
        </p:txBody>
      </p:sp>
      <p:sp>
        <p:nvSpPr>
          <p:cNvPr id="69" name="Shape 67"/>
          <p:cNvSpPr/>
          <p:nvPr/>
        </p:nvSpPr>
        <p:spPr>
          <a:xfrm>
            <a:off x="6629400" y="58064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12700" dist="50800" dir="2700000">
              <a:srgbClr val="D7E4DC">
                <a:alpha val="2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6702552" y="5861304"/>
            <a:ext cx="12710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0563A"/>
                </a:solidFill>
              </a:rPr>
              <a:t>IT production</a:t>
            </a:r>
            <a:endParaRPr lang="en-US" sz="930" dirty="0"/>
          </a:p>
        </p:txBody>
      </p:sp>
      <p:sp>
        <p:nvSpPr>
          <p:cNvPr id="71" name="Shape 69"/>
          <p:cNvSpPr/>
          <p:nvPr/>
        </p:nvSpPr>
        <p:spPr>
          <a:xfrm>
            <a:off x="8321040" y="580644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8890">
            <a:solidFill>
              <a:srgbClr val="E1ECE5"/>
            </a:solidFill>
            <a:prstDash val="solid"/>
          </a:ln>
          <a:effectLst>
            <a:outerShdw sx="100000" sy="100000" kx="0" ky="0" algn="bl" rotWithShape="0" blurRad="12700" dist="50800" dir="2700000">
              <a:srgbClr val="D7E4DC">
                <a:alpha val="2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8394192" y="5861304"/>
            <a:ext cx="168249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00563A"/>
                </a:solidFill>
              </a:rPr>
              <a:t>Advanced engineering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0760"/>
            <a:ext cx="5303520" cy="777240"/>
          </a:xfrm>
          <a:prstGeom prst="triangle">
            <a:avLst/>
          </a:prstGeom>
          <a:solidFill>
            <a:srgbClr val="2CA86B">
              <a:alpha val="42000"/>
            </a:srgbClr>
          </a:solidFill>
          <a:ln w="12700">
            <a:solidFill>
              <a:srgbClr val="A9D5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6144768"/>
            <a:ext cx="8622792" cy="713232"/>
          </a:xfrm>
          <a:prstGeom prst="parallelogram">
            <a:avLst/>
          </a:prstGeom>
          <a:solidFill>
            <a:srgbClr val="E3F2EA">
              <a:alpha val="82000"/>
            </a:srgbClr>
          </a:solidFill>
          <a:ln w="12700">
            <a:solidFill>
              <a:srgbClr val="E3F2E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 IT as a Cross-functional Dimension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21208" y="1078992"/>
            <a:ext cx="475488" cy="0"/>
          </a:xfrm>
          <a:prstGeom prst="line">
            <a:avLst/>
          </a:prstGeom>
          <a:noFill/>
          <a:ln w="16510">
            <a:solidFill>
              <a:srgbClr val="008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234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positioning of Green IT across the relevant offers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6424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8890">
            <a:solidFill>
              <a:srgbClr val="BFD8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91640"/>
            <a:ext cx="11064240" cy="438912"/>
          </a:xfrm>
          <a:prstGeom prst="rect">
            <a:avLst/>
          </a:prstGeom>
          <a:solidFill>
            <a:srgbClr val="EFF8F2"/>
          </a:solidFill>
          <a:ln w="12700">
            <a:solidFill>
              <a:srgbClr val="EFF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196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63A"/>
                </a:solidFill>
              </a:rPr>
              <a:t>Offer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01568" y="181965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63A"/>
                </a:solidFill>
              </a:rPr>
              <a:t>Status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81528" y="1691640"/>
            <a:ext cx="0" cy="3794760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81965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63A"/>
                </a:solidFill>
              </a:rPr>
              <a:t>Meaning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44768" y="1691640"/>
            <a:ext cx="0" cy="3794760"/>
          </a:xfrm>
          <a:prstGeom prst="line">
            <a:avLst/>
          </a:prstGeom>
          <a:noFill/>
          <a:ln w="7620">
            <a:solidFill>
              <a:srgbClr val="CAE1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688336"/>
            <a:ext cx="11064240" cy="0"/>
          </a:xfrm>
          <a:prstGeom prst="line">
            <a:avLst/>
          </a:prstGeom>
          <a:noFill/>
          <a:ln w="5715">
            <a:solidFill>
              <a:srgbClr val="CAE1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2249424"/>
            <a:ext cx="310896" cy="310896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296058"/>
            <a:ext cx="310896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52728" y="23134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0563A"/>
                </a:solidFill>
              </a:rPr>
              <a:t>Kevin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3310128" y="22860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ECF8EF"/>
          </a:solidFill>
          <a:ln w="8890">
            <a:solidFill>
              <a:srgbClr val="A4D4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340864"/>
            <a:ext cx="16824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563A"/>
                </a:solidFill>
              </a:rPr>
              <a:t>Proposed review facet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6464808" y="2231136"/>
            <a:ext cx="48920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7152D"/>
                </a:solidFill>
              </a:rPr>
              <a:t>For existing repositories and applications, analyze projects, highlight inefficient code or patterns, and provide Green IT observations.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566928" y="3246120"/>
            <a:ext cx="11064240" cy="0"/>
          </a:xfrm>
          <a:prstGeom prst="line">
            <a:avLst/>
          </a:prstGeom>
          <a:noFill/>
          <a:ln w="5715">
            <a:solidFill>
              <a:srgbClr val="CAE1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2807208"/>
            <a:ext cx="310896" cy="310896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2853842"/>
            <a:ext cx="310896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&lt;&gt;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52728" y="28712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0563A"/>
                </a:solidFill>
              </a:rPr>
              <a:t>DevX Studio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3310128" y="2843784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ECF8EF"/>
          </a:solidFill>
          <a:ln w="8890">
            <a:solidFill>
              <a:srgbClr val="A4D4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898648"/>
            <a:ext cx="16824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563A"/>
                </a:solidFill>
              </a:rPr>
              <a:t>Proposed shared skill set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6464808" y="2788920"/>
            <a:ext cx="48920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7152D"/>
                </a:solidFill>
              </a:rPr>
              <a:t>Expose Green IT skills through developer LLM assistance during coding and reviews.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66928" y="3803904"/>
            <a:ext cx="11064240" cy="0"/>
          </a:xfrm>
          <a:prstGeom prst="line">
            <a:avLst/>
          </a:prstGeom>
          <a:noFill/>
          <a:ln w="5715">
            <a:solidFill>
              <a:srgbClr val="CAE1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" y="3364992"/>
            <a:ext cx="310896" cy="310896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411626"/>
            <a:ext cx="310896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52728" y="34290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0563A"/>
                </a:solidFill>
              </a:rPr>
              <a:t>DevX NextGen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3310128" y="3401568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ECF8EF"/>
          </a:solidFill>
          <a:ln w="8890">
            <a:solidFill>
              <a:srgbClr val="A4D4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456432"/>
            <a:ext cx="16824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563A"/>
                </a:solidFill>
              </a:rPr>
              <a:t>Proposed shared skill set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6464808" y="3346704"/>
            <a:ext cx="48920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7152D"/>
                </a:solidFill>
              </a:rPr>
              <a:t>Use agentic developer workflows to surface Green IT guidance and recommendations.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566928" y="4361688"/>
            <a:ext cx="11064240" cy="0"/>
          </a:xfrm>
          <a:prstGeom prst="line">
            <a:avLst/>
          </a:prstGeom>
          <a:noFill/>
          <a:ln w="5715">
            <a:solidFill>
              <a:srgbClr val="CAE1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" y="3922776"/>
            <a:ext cx="310896" cy="310896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3969410"/>
            <a:ext cx="310896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52728" y="39867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0563A"/>
                </a:solidFill>
              </a:rPr>
              <a:t>IBM Bob AI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3310128" y="3959352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ECF8EF"/>
          </a:solidFill>
          <a:ln w="8890">
            <a:solidFill>
              <a:srgbClr val="A4D4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4014216"/>
            <a:ext cx="16824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563A"/>
                </a:solidFill>
              </a:rPr>
              <a:t>Proposed shared skill set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6464808" y="3904488"/>
            <a:ext cx="48920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7152D"/>
                </a:solidFill>
              </a:rPr>
              <a:t>Share Green IT skills with the developer assistant to guide code and pattern choices.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566928" y="4919472"/>
            <a:ext cx="11064240" cy="0"/>
          </a:xfrm>
          <a:prstGeom prst="line">
            <a:avLst/>
          </a:prstGeom>
          <a:noFill/>
          <a:ln w="5715">
            <a:solidFill>
              <a:srgbClr val="CAE1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8096" y="4480560"/>
            <a:ext cx="310896" cy="310896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096" y="4527194"/>
            <a:ext cx="310896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252728" y="45445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0563A"/>
                </a:solidFill>
              </a:rPr>
              <a:t>AI4DEV</a:t>
            </a:r>
            <a:endParaRPr lang="en-US" sz="1040" dirty="0"/>
          </a:p>
        </p:txBody>
      </p:sp>
      <p:sp>
        <p:nvSpPr>
          <p:cNvPr id="46" name="Shape 44"/>
          <p:cNvSpPr/>
          <p:nvPr/>
        </p:nvSpPr>
        <p:spPr>
          <a:xfrm>
            <a:off x="3310128" y="4517136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E9F1FF"/>
          </a:solidFill>
          <a:ln w="8890">
            <a:solidFill>
              <a:srgbClr val="8CB5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4572000"/>
            <a:ext cx="16824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F4A8A"/>
                </a:solidFill>
              </a:rPr>
              <a:t>Adoption channel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6464808" y="4462272"/>
            <a:ext cx="48920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7152D"/>
                </a:solidFill>
              </a:rPr>
              <a:t>Promote awareness, onboarding and dissemination of Green IT practices across development teams.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566928" y="5477256"/>
            <a:ext cx="11064240" cy="0"/>
          </a:xfrm>
          <a:prstGeom prst="line">
            <a:avLst/>
          </a:prstGeom>
          <a:noFill/>
          <a:ln w="5715">
            <a:solidFill>
              <a:srgbClr val="CAE1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" y="5038344"/>
            <a:ext cx="310896" cy="310896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" y="5084978"/>
            <a:ext cx="310896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252728" y="51023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0563A"/>
                </a:solidFill>
              </a:rPr>
              <a:t>Other offers</a:t>
            </a:r>
            <a:endParaRPr lang="en-US" sz="1040" dirty="0"/>
          </a:p>
        </p:txBody>
      </p:sp>
      <p:sp>
        <p:nvSpPr>
          <p:cNvPr id="53" name="Shape 51"/>
          <p:cNvSpPr/>
          <p:nvPr/>
        </p:nvSpPr>
        <p:spPr>
          <a:xfrm>
            <a:off x="3310128" y="507492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5F6F7"/>
          </a:solidFill>
          <a:ln w="8890">
            <a:solidFill>
              <a:srgbClr val="D4D8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83280" y="5129784"/>
            <a:ext cx="168249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563A"/>
                </a:solidFill>
              </a:rPr>
              <a:t>Not identified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6464808" y="5020056"/>
            <a:ext cx="48920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07152D"/>
                </a:solidFill>
              </a:rPr>
              <a:t>No documented Green IT coverage currently identified in this deck.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3291840" y="5742432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0FBF2"/>
          </a:solidFill>
          <a:ln w="8890">
            <a:solidFill>
              <a:srgbClr val="B8DC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64992" y="5797296"/>
            <a:ext cx="16824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0563A"/>
                </a:solidFill>
              </a:rPr>
              <a:t>Addressed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5349240" y="5742432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0FBF2"/>
          </a:solidFill>
          <a:ln w="8890">
            <a:solidFill>
              <a:srgbClr val="B8DCC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22392" y="5797296"/>
            <a:ext cx="16824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0563A"/>
                </a:solidFill>
              </a:rPr>
              <a:t>Proposed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7388352" y="5742432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5F6F7"/>
          </a:solidFill>
          <a:ln w="8890">
            <a:solidFill>
              <a:srgbClr val="D4D8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61504" y="5797296"/>
            <a:ext cx="16824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7152D"/>
                </a:solidFill>
              </a:rPr>
              <a:t>Not identified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2724912" y="6217920"/>
            <a:ext cx="69037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8890">
            <a:solidFill>
              <a:srgbClr val="A6D5B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98064" y="6272784"/>
            <a:ext cx="67574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63A"/>
                </a:solidFill>
              </a:rPr>
              <a:t>Green IT is treated here as a classification dimension, not as a standalone platform.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80760"/>
            <a:ext cx="5303520" cy="777240"/>
          </a:xfrm>
          <a:prstGeom prst="triangle">
            <a:avLst/>
          </a:prstGeom>
          <a:solidFill>
            <a:srgbClr val="2CA86B">
              <a:alpha val="42000"/>
            </a:srgbClr>
          </a:solidFill>
          <a:ln w="12700">
            <a:solidFill>
              <a:srgbClr val="A9D5B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6144768"/>
            <a:ext cx="8622792" cy="713232"/>
          </a:xfrm>
          <a:prstGeom prst="parallelogram">
            <a:avLst/>
          </a:prstGeom>
          <a:solidFill>
            <a:srgbClr val="E3F2EA">
              <a:alpha val="82000"/>
            </a:srgbClr>
          </a:solidFill>
          <a:ln w="12700">
            <a:solidFill>
              <a:srgbClr val="E3F2E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5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Choose the Right Offer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21208" y="1078992"/>
            <a:ext cx="475488" cy="0"/>
          </a:xfrm>
          <a:prstGeom prst="line">
            <a:avLst/>
          </a:prstGeom>
          <a:noFill/>
          <a:ln w="16510">
            <a:solidFill>
              <a:srgbClr val="0087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234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the user profile and daily need, then select the offer and model guidance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393192" cy="393192"/>
          </a:xfrm>
          <a:prstGeom prst="ellipse">
            <a:avLst/>
          </a:prstGeom>
          <a:solidFill>
            <a:srgbClr val="DDF2E5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2371"/>
            <a:ext cx="393192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1828800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8890">
            <a:solidFill>
              <a:srgbClr val="BBD9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1984248"/>
            <a:ext cx="438912" cy="43891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050085"/>
            <a:ext cx="43891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2039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0563A"/>
                </a:solidFill>
              </a:rPr>
              <a:t>Who is the user?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3730752" y="2048256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993392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General user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782312" y="2048256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993392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Developer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730752" y="2240280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185416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Tester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782312" y="2240280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185416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Tech lead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730752" y="2432304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2377440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Architect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782312" y="2432304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377440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PM / BA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383280" y="2578608"/>
            <a:ext cx="0" cy="246888"/>
          </a:xfrm>
          <a:prstGeom prst="line">
            <a:avLst/>
          </a:prstGeom>
          <a:noFill/>
          <a:ln w="10160">
            <a:solidFill>
              <a:srgbClr val="00563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" y="3044952"/>
            <a:ext cx="393192" cy="393192"/>
          </a:xfrm>
          <a:prstGeom prst="ellipse">
            <a:avLst/>
          </a:prstGeom>
          <a:solidFill>
            <a:srgbClr val="DDF2E5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103931"/>
            <a:ext cx="393192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05840" y="2880360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8890">
            <a:solidFill>
              <a:srgbClr val="BBD9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34440" y="3035808"/>
            <a:ext cx="438912" cy="43891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3101645"/>
            <a:ext cx="43891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874520" y="3090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0563A"/>
                </a:solidFill>
              </a:rPr>
              <a:t>What task must be performed?</a:t>
            </a:r>
            <a:endParaRPr lang="en-US" sz="1160" dirty="0"/>
          </a:p>
        </p:txBody>
      </p:sp>
      <p:sp>
        <p:nvSpPr>
          <p:cNvPr id="32" name="Shape 30"/>
          <p:cNvSpPr/>
          <p:nvPr/>
        </p:nvSpPr>
        <p:spPr>
          <a:xfrm>
            <a:off x="3730752" y="3099816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3044952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Write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782312" y="3099816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044952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Summarize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3730752" y="3291840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3236976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Search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4782312" y="3291840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236976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Code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3730752" y="3483864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3429000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Test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4782312" y="3483864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429000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Analyze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3383280" y="3630168"/>
            <a:ext cx="0" cy="246888"/>
          </a:xfrm>
          <a:prstGeom prst="line">
            <a:avLst/>
          </a:prstGeom>
          <a:noFill/>
          <a:ln w="10160">
            <a:solidFill>
              <a:srgbClr val="00563A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48640" y="4096512"/>
            <a:ext cx="393192" cy="393192"/>
          </a:xfrm>
          <a:prstGeom prst="ellipse">
            <a:avLst/>
          </a:prstGeom>
          <a:solidFill>
            <a:srgbClr val="DDF2E5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155491"/>
            <a:ext cx="393192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05840" y="3931920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8890">
            <a:solidFill>
              <a:srgbClr val="BBD9C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34440" y="4087368"/>
            <a:ext cx="438912" cy="43891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34440" y="4153205"/>
            <a:ext cx="43891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💬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874520" y="4142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0563A"/>
                </a:solidFill>
              </a:rPr>
              <a:t>What kind of assistance is needed?</a:t>
            </a:r>
            <a:endParaRPr lang="en-US" sz="1160" dirty="0"/>
          </a:p>
        </p:txBody>
      </p:sp>
      <p:sp>
        <p:nvSpPr>
          <p:cNvPr id="51" name="Shape 49"/>
          <p:cNvSpPr/>
          <p:nvPr/>
        </p:nvSpPr>
        <p:spPr>
          <a:xfrm>
            <a:off x="3730752" y="4151376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0" y="4096512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Standard assistance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4782312" y="4151376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4096512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Agentic capability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3383280" y="4681728"/>
            <a:ext cx="0" cy="246888"/>
          </a:xfrm>
          <a:prstGeom prst="line">
            <a:avLst/>
          </a:prstGeom>
          <a:noFill/>
          <a:ln w="10160">
            <a:solidFill>
              <a:srgbClr val="00563A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548640" y="5148072"/>
            <a:ext cx="393192" cy="393192"/>
          </a:xfrm>
          <a:prstGeom prst="ellipse">
            <a:avLst/>
          </a:prstGeom>
          <a:solidFill>
            <a:srgbClr val="DDF2E5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5207051"/>
            <a:ext cx="393192" cy="275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005840" y="4983480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8890">
            <a:solidFill>
              <a:srgbClr val="BBD9C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34440" y="5138928"/>
            <a:ext cx="438912" cy="438912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234440" y="5204765"/>
            <a:ext cx="438912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874520" y="5193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0563A"/>
                </a:solidFill>
              </a:rPr>
              <a:t>Which offer is the best fit?</a:t>
            </a:r>
            <a:endParaRPr lang="en-US" sz="1160" dirty="0"/>
          </a:p>
        </p:txBody>
      </p:sp>
      <p:sp>
        <p:nvSpPr>
          <p:cNvPr id="62" name="Shape 60"/>
          <p:cNvSpPr/>
          <p:nvPr/>
        </p:nvSpPr>
        <p:spPr>
          <a:xfrm>
            <a:off x="3730752" y="5202936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0480" y="5148072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My Companion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4782312" y="5202936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92040" y="5148072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M365 Copilot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3730752" y="5394960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0480" y="5340096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AI4DEV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4782312" y="5394960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92040" y="5340096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DevX Studio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3730752" y="5586984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40480" y="5532120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DevX NextGen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4782312" y="5586984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92040" y="5532120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IBM Bob AI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3730752" y="5779008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40480" y="5724144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Kevin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4782312" y="5779008"/>
            <a:ext cx="45720" cy="457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92040" y="5724144"/>
            <a:ext cx="941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TWIN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6400800" y="1554480"/>
            <a:ext cx="525780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8890">
            <a:solidFill>
              <a:srgbClr val="80C69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629400" y="17556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0563A"/>
                </a:solidFill>
              </a:rPr>
              <a:t>Indicative LLM guidance by profile</a:t>
            </a:r>
            <a:endParaRPr lang="en-US" sz="1280" dirty="0"/>
          </a:p>
        </p:txBody>
      </p:sp>
      <p:sp>
        <p:nvSpPr>
          <p:cNvPr id="80" name="Shape 78"/>
          <p:cNvSpPr/>
          <p:nvPr/>
        </p:nvSpPr>
        <p:spPr>
          <a:xfrm>
            <a:off x="8732520" y="2103120"/>
            <a:ext cx="502920" cy="0"/>
          </a:xfrm>
          <a:prstGeom prst="line">
            <a:avLst/>
          </a:prstGeom>
          <a:noFill/>
          <a:ln w="10160">
            <a:solidFill>
              <a:srgbClr val="00875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629400" y="2267712"/>
            <a:ext cx="2359152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8890">
            <a:solidFill>
              <a:srgbClr val="D4EAD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93992" y="2432304"/>
            <a:ext cx="420624" cy="420624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93992" y="2495398"/>
            <a:ext cx="420624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7306056" y="24323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0563A"/>
                </a:solidFill>
              </a:rPr>
              <a:t>General users, PMs and BAs</a:t>
            </a:r>
            <a:endParaRPr lang="en-US" sz="930" dirty="0"/>
          </a:p>
        </p:txBody>
      </p:sp>
      <p:sp>
        <p:nvSpPr>
          <p:cNvPr id="85" name="Text 83"/>
          <p:cNvSpPr/>
          <p:nvPr/>
        </p:nvSpPr>
        <p:spPr>
          <a:xfrm>
            <a:off x="7306056" y="270662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General text models through My Companion or M365 Copilot.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6830568" y="3163824"/>
            <a:ext cx="1956816" cy="0"/>
          </a:xfrm>
          <a:prstGeom prst="line">
            <a:avLst/>
          </a:prstGeom>
          <a:noFill/>
          <a:ln w="7620">
            <a:solidFill>
              <a:srgbClr val="A7D8B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830568" y="32918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563A"/>
                </a:solidFill>
              </a:rPr>
              <a:t>Example models:</a:t>
            </a:r>
            <a:endParaRPr lang="en-US" sz="740" dirty="0"/>
          </a:p>
        </p:txBody>
      </p:sp>
      <p:sp>
        <p:nvSpPr>
          <p:cNvPr id="88" name="Shape 86"/>
          <p:cNvSpPr/>
          <p:nvPr/>
        </p:nvSpPr>
        <p:spPr>
          <a:xfrm>
            <a:off x="6830568" y="3502152"/>
            <a:ext cx="576072" cy="256032"/>
          </a:xfrm>
          <a:prstGeom prst="roundRect">
            <a:avLst>
              <a:gd name="adj" fmla="val 28571"/>
            </a:avLst>
          </a:prstGeom>
          <a:solidFill>
            <a:srgbClr val="F8FFF9"/>
          </a:solidFill>
          <a:ln w="8890">
            <a:solidFill>
              <a:srgbClr val="C9E5D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03720" y="3557016"/>
            <a:ext cx="4297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7152D"/>
                </a:solidFill>
              </a:rPr>
              <a:t>Mistral Medium</a:t>
            </a:r>
            <a:endParaRPr lang="en-US" sz="680" dirty="0"/>
          </a:p>
        </p:txBody>
      </p:sp>
      <p:sp>
        <p:nvSpPr>
          <p:cNvPr id="90" name="Shape 88"/>
          <p:cNvSpPr/>
          <p:nvPr/>
        </p:nvSpPr>
        <p:spPr>
          <a:xfrm>
            <a:off x="7479792" y="3502152"/>
            <a:ext cx="576072" cy="256032"/>
          </a:xfrm>
          <a:prstGeom prst="roundRect">
            <a:avLst>
              <a:gd name="adj" fmla="val 28571"/>
            </a:avLst>
          </a:prstGeom>
          <a:solidFill>
            <a:srgbClr val="F8FFF9"/>
          </a:solidFill>
          <a:ln w="8890">
            <a:solidFill>
              <a:srgbClr val="C9E5D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552944" y="3557016"/>
            <a:ext cx="4297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7152D"/>
                </a:solidFill>
              </a:rPr>
              <a:t>Llama 3.3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8129016" y="3502152"/>
            <a:ext cx="576072" cy="256032"/>
          </a:xfrm>
          <a:prstGeom prst="roundRect">
            <a:avLst>
              <a:gd name="adj" fmla="val 28571"/>
            </a:avLst>
          </a:prstGeom>
          <a:solidFill>
            <a:srgbClr val="F8FFF9"/>
          </a:solidFill>
          <a:ln w="8890">
            <a:solidFill>
              <a:srgbClr val="C9E5D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202168" y="3557016"/>
            <a:ext cx="4297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7152D"/>
                </a:solidFill>
              </a:rPr>
              <a:t>GPT-OSS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9162288" y="2267712"/>
            <a:ext cx="2267712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8890">
            <a:solidFill>
              <a:srgbClr val="D4EAD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326880" y="2432304"/>
            <a:ext cx="420624" cy="420624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326880" y="2495398"/>
            <a:ext cx="420624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&lt;&gt;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9838944" y="2432304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0563A"/>
                </a:solidFill>
              </a:rPr>
              <a:t>Developers and testers</a:t>
            </a:r>
            <a:endParaRPr lang="en-US" sz="930" dirty="0"/>
          </a:p>
        </p:txBody>
      </p:sp>
      <p:sp>
        <p:nvSpPr>
          <p:cNvPr id="98" name="Text 96"/>
          <p:cNvSpPr/>
          <p:nvPr/>
        </p:nvSpPr>
        <p:spPr>
          <a:xfrm>
            <a:off x="9838944" y="270662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Code-oriented models through developer tools.</a:t>
            </a:r>
            <a:endParaRPr lang="en-US" sz="780" dirty="0"/>
          </a:p>
        </p:txBody>
      </p:sp>
      <p:sp>
        <p:nvSpPr>
          <p:cNvPr id="99" name="Shape 97"/>
          <p:cNvSpPr/>
          <p:nvPr/>
        </p:nvSpPr>
        <p:spPr>
          <a:xfrm>
            <a:off x="9363456" y="3163824"/>
            <a:ext cx="1865376" cy="0"/>
          </a:xfrm>
          <a:prstGeom prst="line">
            <a:avLst/>
          </a:prstGeom>
          <a:noFill/>
          <a:ln w="7620">
            <a:solidFill>
              <a:srgbClr val="A7D8B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363456" y="329184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563A"/>
                </a:solidFill>
              </a:rPr>
              <a:t>Example models:</a:t>
            </a:r>
            <a:endParaRPr lang="en-US" sz="740" dirty="0"/>
          </a:p>
        </p:txBody>
      </p:sp>
      <p:sp>
        <p:nvSpPr>
          <p:cNvPr id="101" name="Shape 99"/>
          <p:cNvSpPr/>
          <p:nvPr/>
        </p:nvSpPr>
        <p:spPr>
          <a:xfrm>
            <a:off x="9363456" y="3502152"/>
            <a:ext cx="854964" cy="256032"/>
          </a:xfrm>
          <a:prstGeom prst="roundRect">
            <a:avLst>
              <a:gd name="adj" fmla="val 28571"/>
            </a:avLst>
          </a:prstGeom>
          <a:solidFill>
            <a:srgbClr val="F8FFF9"/>
          </a:solidFill>
          <a:ln w="8890">
            <a:solidFill>
              <a:srgbClr val="C9E5D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436608" y="3557016"/>
            <a:ext cx="7086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7152D"/>
                </a:solidFill>
              </a:rPr>
              <a:t>Codestral</a:t>
            </a:r>
            <a:endParaRPr lang="en-US" sz="680" dirty="0"/>
          </a:p>
        </p:txBody>
      </p:sp>
      <p:sp>
        <p:nvSpPr>
          <p:cNvPr id="103" name="Shape 101"/>
          <p:cNvSpPr/>
          <p:nvPr/>
        </p:nvSpPr>
        <p:spPr>
          <a:xfrm>
            <a:off x="10291572" y="3502152"/>
            <a:ext cx="854964" cy="256032"/>
          </a:xfrm>
          <a:prstGeom prst="roundRect">
            <a:avLst>
              <a:gd name="adj" fmla="val 28571"/>
            </a:avLst>
          </a:prstGeom>
          <a:solidFill>
            <a:srgbClr val="F8FFF9"/>
          </a:solidFill>
          <a:ln w="8890">
            <a:solidFill>
              <a:srgbClr val="C9E5D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364724" y="3557016"/>
            <a:ext cx="7086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7152D"/>
                </a:solidFill>
              </a:rPr>
              <a:t>Devstral</a:t>
            </a:r>
            <a:endParaRPr lang="en-US" sz="680" dirty="0"/>
          </a:p>
        </p:txBody>
      </p:sp>
      <p:sp>
        <p:nvSpPr>
          <p:cNvPr id="105" name="Shape 103"/>
          <p:cNvSpPr/>
          <p:nvPr/>
        </p:nvSpPr>
        <p:spPr>
          <a:xfrm>
            <a:off x="6629400" y="4069080"/>
            <a:ext cx="2359152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8890">
            <a:solidFill>
              <a:srgbClr val="D4EAD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93992" y="4233672"/>
            <a:ext cx="420624" cy="420624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793992" y="4296766"/>
            <a:ext cx="420624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▢</a:t>
            </a:r>
            <a:endParaRPr lang="en-US" sz="1300" dirty="0"/>
          </a:p>
        </p:txBody>
      </p:sp>
      <p:sp>
        <p:nvSpPr>
          <p:cNvPr id="108" name="Text 106"/>
          <p:cNvSpPr/>
          <p:nvPr/>
        </p:nvSpPr>
        <p:spPr>
          <a:xfrm>
            <a:off x="7306056" y="4233672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0563A"/>
                </a:solidFill>
              </a:rPr>
              <a:t>Tech leads and architects</a:t>
            </a:r>
            <a:endParaRPr lang="en-US" sz="930" dirty="0"/>
          </a:p>
        </p:txBody>
      </p:sp>
      <p:sp>
        <p:nvSpPr>
          <p:cNvPr id="109" name="Text 107"/>
          <p:cNvSpPr/>
          <p:nvPr/>
        </p:nvSpPr>
        <p:spPr>
          <a:xfrm>
            <a:off x="7306056" y="450799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General text models plus analysis tools.</a:t>
            </a:r>
            <a:endParaRPr lang="en-US" sz="780" dirty="0"/>
          </a:p>
        </p:txBody>
      </p:sp>
      <p:sp>
        <p:nvSpPr>
          <p:cNvPr id="110" name="Shape 108"/>
          <p:cNvSpPr/>
          <p:nvPr/>
        </p:nvSpPr>
        <p:spPr>
          <a:xfrm>
            <a:off x="6830568" y="4965192"/>
            <a:ext cx="1956816" cy="0"/>
          </a:xfrm>
          <a:prstGeom prst="line">
            <a:avLst/>
          </a:prstGeom>
          <a:noFill/>
          <a:ln w="7620">
            <a:solidFill>
              <a:srgbClr val="A7D8B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830568" y="50932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563A"/>
                </a:solidFill>
              </a:rPr>
              <a:t>Example models:</a:t>
            </a:r>
            <a:endParaRPr lang="en-US" sz="740" dirty="0"/>
          </a:p>
        </p:txBody>
      </p:sp>
      <p:sp>
        <p:nvSpPr>
          <p:cNvPr id="112" name="Shape 110"/>
          <p:cNvSpPr/>
          <p:nvPr/>
        </p:nvSpPr>
        <p:spPr>
          <a:xfrm>
            <a:off x="6830568" y="5303520"/>
            <a:ext cx="413766" cy="256032"/>
          </a:xfrm>
          <a:prstGeom prst="roundRect">
            <a:avLst>
              <a:gd name="adj" fmla="val 28571"/>
            </a:avLst>
          </a:prstGeom>
          <a:solidFill>
            <a:srgbClr val="F8FFF9"/>
          </a:solidFill>
          <a:ln w="8890">
            <a:solidFill>
              <a:srgbClr val="C9E5D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903720" y="5358384"/>
            <a:ext cx="26746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7152D"/>
                </a:solidFill>
              </a:rPr>
              <a:t>Mistral Medium</a:t>
            </a:r>
            <a:endParaRPr lang="en-US" sz="680" dirty="0"/>
          </a:p>
        </p:txBody>
      </p:sp>
      <p:sp>
        <p:nvSpPr>
          <p:cNvPr id="114" name="Shape 112"/>
          <p:cNvSpPr/>
          <p:nvPr/>
        </p:nvSpPr>
        <p:spPr>
          <a:xfrm>
            <a:off x="7317486" y="5303520"/>
            <a:ext cx="413766" cy="256032"/>
          </a:xfrm>
          <a:prstGeom prst="roundRect">
            <a:avLst>
              <a:gd name="adj" fmla="val 28571"/>
            </a:avLst>
          </a:prstGeom>
          <a:solidFill>
            <a:srgbClr val="F8FFF9"/>
          </a:solidFill>
          <a:ln w="8890">
            <a:solidFill>
              <a:srgbClr val="C9E5D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390638" y="5358384"/>
            <a:ext cx="26746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7152D"/>
                </a:solidFill>
              </a:rPr>
              <a:t>Nemotron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7804404" y="5303520"/>
            <a:ext cx="413766" cy="256032"/>
          </a:xfrm>
          <a:prstGeom prst="roundRect">
            <a:avLst>
              <a:gd name="adj" fmla="val 28571"/>
            </a:avLst>
          </a:prstGeom>
          <a:solidFill>
            <a:srgbClr val="F8FFF9"/>
          </a:solidFill>
          <a:ln w="8890">
            <a:solidFill>
              <a:srgbClr val="C9E5D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877556" y="5358384"/>
            <a:ext cx="26746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7152D"/>
                </a:solidFill>
              </a:rPr>
              <a:t>Kevin</a:t>
            </a:r>
            <a:endParaRPr lang="en-US" sz="680" dirty="0"/>
          </a:p>
        </p:txBody>
      </p:sp>
      <p:sp>
        <p:nvSpPr>
          <p:cNvPr id="118" name="Shape 116"/>
          <p:cNvSpPr/>
          <p:nvPr/>
        </p:nvSpPr>
        <p:spPr>
          <a:xfrm>
            <a:off x="8291322" y="5303520"/>
            <a:ext cx="413766" cy="256032"/>
          </a:xfrm>
          <a:prstGeom prst="roundRect">
            <a:avLst>
              <a:gd name="adj" fmla="val 28571"/>
            </a:avLst>
          </a:prstGeom>
          <a:solidFill>
            <a:srgbClr val="F8FFF9"/>
          </a:solidFill>
          <a:ln w="8890">
            <a:solidFill>
              <a:srgbClr val="C9E5D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364474" y="5358384"/>
            <a:ext cx="26746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7152D"/>
                </a:solidFill>
              </a:rPr>
              <a:t>TWIN</a:t>
            </a:r>
            <a:endParaRPr lang="en-US" sz="680" dirty="0"/>
          </a:p>
        </p:txBody>
      </p:sp>
      <p:sp>
        <p:nvSpPr>
          <p:cNvPr id="120" name="Shape 118"/>
          <p:cNvSpPr/>
          <p:nvPr/>
        </p:nvSpPr>
        <p:spPr>
          <a:xfrm>
            <a:off x="9162288" y="4069080"/>
            <a:ext cx="2267712" cy="1609344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8890">
            <a:solidFill>
              <a:srgbClr val="D4EAD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326880" y="4233672"/>
            <a:ext cx="420624" cy="420624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326880" y="4296766"/>
            <a:ext cx="420624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5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🤖</a:t>
            </a:r>
            <a:endParaRPr lang="en-US" sz="1300" dirty="0"/>
          </a:p>
        </p:txBody>
      </p:sp>
      <p:sp>
        <p:nvSpPr>
          <p:cNvPr id="123" name="Text 121"/>
          <p:cNvSpPr/>
          <p:nvPr/>
        </p:nvSpPr>
        <p:spPr>
          <a:xfrm>
            <a:off x="9838944" y="4233672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0563A"/>
                </a:solidFill>
              </a:rPr>
              <a:t>Advanced engineering use cases</a:t>
            </a:r>
            <a:endParaRPr lang="en-US" sz="930" dirty="0"/>
          </a:p>
        </p:txBody>
      </p:sp>
      <p:sp>
        <p:nvSpPr>
          <p:cNvPr id="124" name="Text 122"/>
          <p:cNvSpPr/>
          <p:nvPr/>
        </p:nvSpPr>
        <p:spPr>
          <a:xfrm>
            <a:off x="9838944" y="450799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7152D"/>
                </a:solidFill>
              </a:rPr>
              <a:t>Agentic workflows through IBM Bob AI and DevX NextGen.</a:t>
            </a:r>
            <a:endParaRPr lang="en-US" sz="780" dirty="0"/>
          </a:p>
        </p:txBody>
      </p:sp>
      <p:sp>
        <p:nvSpPr>
          <p:cNvPr id="125" name="Shape 123"/>
          <p:cNvSpPr/>
          <p:nvPr/>
        </p:nvSpPr>
        <p:spPr>
          <a:xfrm>
            <a:off x="9363456" y="4965192"/>
            <a:ext cx="1865376" cy="0"/>
          </a:xfrm>
          <a:prstGeom prst="line">
            <a:avLst/>
          </a:prstGeom>
          <a:noFill/>
          <a:ln w="7620">
            <a:solidFill>
              <a:srgbClr val="A7D8B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363456" y="50932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563A"/>
                </a:solidFill>
              </a:rPr>
              <a:t>Example models:</a:t>
            </a:r>
            <a:endParaRPr lang="en-US" sz="740" dirty="0"/>
          </a:p>
        </p:txBody>
      </p:sp>
      <p:sp>
        <p:nvSpPr>
          <p:cNvPr id="127" name="Shape 125"/>
          <p:cNvSpPr/>
          <p:nvPr/>
        </p:nvSpPr>
        <p:spPr>
          <a:xfrm>
            <a:off x="9363456" y="5303520"/>
            <a:ext cx="545592" cy="256032"/>
          </a:xfrm>
          <a:prstGeom prst="roundRect">
            <a:avLst>
              <a:gd name="adj" fmla="val 28571"/>
            </a:avLst>
          </a:prstGeom>
          <a:solidFill>
            <a:srgbClr val="F8FFF9"/>
          </a:solidFill>
          <a:ln w="8890">
            <a:solidFill>
              <a:srgbClr val="C9E5D4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436608" y="5358384"/>
            <a:ext cx="3992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7152D"/>
                </a:solidFill>
              </a:rPr>
              <a:t>Codestral</a:t>
            </a:r>
            <a:endParaRPr lang="en-US" sz="680" dirty="0"/>
          </a:p>
        </p:txBody>
      </p:sp>
      <p:sp>
        <p:nvSpPr>
          <p:cNvPr id="129" name="Shape 127"/>
          <p:cNvSpPr/>
          <p:nvPr/>
        </p:nvSpPr>
        <p:spPr>
          <a:xfrm>
            <a:off x="9982200" y="5303520"/>
            <a:ext cx="545592" cy="256032"/>
          </a:xfrm>
          <a:prstGeom prst="roundRect">
            <a:avLst>
              <a:gd name="adj" fmla="val 28571"/>
            </a:avLst>
          </a:prstGeom>
          <a:solidFill>
            <a:srgbClr val="F8FFF9"/>
          </a:solidFill>
          <a:ln w="8890">
            <a:solidFill>
              <a:srgbClr val="C9E5D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055352" y="5358384"/>
            <a:ext cx="3992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7152D"/>
                </a:solidFill>
              </a:rPr>
              <a:t>Devstral</a:t>
            </a:r>
            <a:endParaRPr lang="en-US" sz="680" dirty="0"/>
          </a:p>
        </p:txBody>
      </p:sp>
      <p:sp>
        <p:nvSpPr>
          <p:cNvPr id="131" name="Shape 129"/>
          <p:cNvSpPr/>
          <p:nvPr/>
        </p:nvSpPr>
        <p:spPr>
          <a:xfrm>
            <a:off x="10600944" y="5303520"/>
            <a:ext cx="545592" cy="256032"/>
          </a:xfrm>
          <a:prstGeom prst="roundRect">
            <a:avLst>
              <a:gd name="adj" fmla="val 28571"/>
            </a:avLst>
          </a:prstGeom>
          <a:solidFill>
            <a:srgbClr val="F8FFF9"/>
          </a:solidFill>
          <a:ln w="8890">
            <a:solidFill>
              <a:srgbClr val="C9E5D4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0674096" y="5358384"/>
            <a:ext cx="39928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07152D"/>
                </a:solidFill>
              </a:rPr>
              <a:t>Text models</a:t>
            </a:r>
            <a:endParaRPr lang="en-US" sz="680" dirty="0"/>
          </a:p>
        </p:txBody>
      </p:sp>
      <p:sp>
        <p:nvSpPr>
          <p:cNvPr id="133" name="Shape 131"/>
          <p:cNvSpPr/>
          <p:nvPr/>
        </p:nvSpPr>
        <p:spPr>
          <a:xfrm>
            <a:off x="2743200" y="6236208"/>
            <a:ext cx="6949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8890">
            <a:solidFill>
              <a:srgbClr val="A6D5B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816352" y="6291072"/>
            <a:ext cx="680313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63A"/>
                </a:solidFill>
              </a:rPr>
              <a:t>Final model selection depends on the consuming tool and current availability.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Offer by Profile</dc:title>
  <dc:subject>Group AI Offer by Profile</dc:subject>
  <dc:creator>OpenAI</dc:creator>
  <cp:lastModifiedBy>OpenAI</cp:lastModifiedBy>
  <cp:revision>1</cp:revision>
  <dcterms:created xsi:type="dcterms:W3CDTF">2026-08-05T14:31:39Z</dcterms:created>
  <dcterms:modified xsi:type="dcterms:W3CDTF">2026-08-05T14:31:39Z</dcterms:modified>
</cp:coreProperties>
</file>