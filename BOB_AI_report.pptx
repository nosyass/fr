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9753600" cy="5486400"/>
  <p:notesSz cx="9753600" cy="5486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1698815"/>
            <a:ext cx="8290560" cy="1150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A82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3068828"/>
            <a:ext cx="6827520" cy="13700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A82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A82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260411"/>
            <a:ext cx="4242816" cy="36168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260411"/>
            <a:ext cx="4242816" cy="36168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A82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9212" y="232409"/>
            <a:ext cx="2795175" cy="53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A825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93413" y="1216913"/>
            <a:ext cx="5250815" cy="1354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16224" y="5096446"/>
            <a:ext cx="3121152" cy="2740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87680" y="5096446"/>
            <a:ext cx="2243328" cy="2740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022592" y="5096446"/>
            <a:ext cx="2243328" cy="2740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Relationship Id="rId12" Type="http://schemas.openxmlformats.org/officeDocument/2006/relationships/image" Target="../media/image22.jpg"/><Relationship Id="rId13" Type="http://schemas.openxmlformats.org/officeDocument/2006/relationships/image" Target="../media/image23.jpg"/><Relationship Id="rId14" Type="http://schemas.openxmlformats.org/officeDocument/2006/relationships/image" Target="../media/image2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2374803" y="134366"/>
            <a:ext cx="1106805" cy="4597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50" spc="-265">
                <a:solidFill>
                  <a:srgbClr val="087949"/>
                </a:solidFill>
              </a:rPr>
              <a:t>BOB</a:t>
            </a:r>
            <a:r>
              <a:rPr dirty="0" sz="2850" spc="40">
                <a:solidFill>
                  <a:srgbClr val="087949"/>
                </a:solidFill>
              </a:rPr>
              <a:t> </a:t>
            </a:r>
            <a:r>
              <a:rPr dirty="0" sz="2850" spc="-95">
                <a:solidFill>
                  <a:srgbClr val="0A8248"/>
                </a:solidFill>
              </a:rPr>
              <a:t>AI</a:t>
            </a:r>
            <a:endParaRPr sz="2850"/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60064" y="402336"/>
            <a:ext cx="176784" cy="365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7654" y="1869731"/>
            <a:ext cx="446405" cy="64325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620"/>
              </a:lnSpc>
            </a:pPr>
            <a:r>
              <a:rPr dirty="0" sz="1400">
                <a:latin typeface="Arial"/>
                <a:cs typeface="Arial"/>
              </a:rPr>
              <a:t>BOB</a:t>
            </a:r>
            <a:r>
              <a:rPr dirty="0" sz="1400" spc="7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AI</a:t>
            </a:r>
            <a:endParaRPr sz="1400">
              <a:latin typeface="Arial"/>
              <a:cs typeface="Arial"/>
            </a:endParaRPr>
          </a:p>
          <a:p>
            <a:pPr marL="53340">
              <a:lnSpc>
                <a:spcPts val="1775"/>
              </a:lnSpc>
            </a:pPr>
            <a:r>
              <a:rPr dirty="0" sz="1500" spc="-10">
                <a:latin typeface="Arial"/>
                <a:cs typeface="Arial"/>
              </a:rPr>
              <a:t>Usage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3855" y="1359408"/>
            <a:ext cx="8321040" cy="164592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515226" y="1280507"/>
            <a:ext cx="983615" cy="1663064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12700" marR="5080" indent="20955">
              <a:lnSpc>
                <a:spcPct val="148300"/>
              </a:lnSpc>
              <a:spcBef>
                <a:spcPts val="35"/>
              </a:spcBef>
            </a:pPr>
            <a:r>
              <a:rPr dirty="0" sz="1450" spc="-10">
                <a:latin typeface="Arial"/>
                <a:cs typeface="Arial"/>
              </a:rPr>
              <a:t>Monday </a:t>
            </a:r>
            <a:r>
              <a:rPr dirty="0" sz="1500" spc="-10">
                <a:latin typeface="Arial"/>
                <a:cs typeface="Arial"/>
              </a:rPr>
              <a:t>Tuesday </a:t>
            </a:r>
            <a:r>
              <a:rPr dirty="0" sz="1400" spc="-10">
                <a:latin typeface="Arial"/>
                <a:cs typeface="Arial"/>
              </a:rPr>
              <a:t>Wednesday </a:t>
            </a:r>
            <a:r>
              <a:rPr dirty="0" sz="1450" spc="-10" b="1">
                <a:latin typeface="Arial"/>
                <a:cs typeface="Arial"/>
              </a:rPr>
              <a:t>Thursday </a:t>
            </a:r>
            <a:r>
              <a:rPr dirty="0" sz="1500" spc="-10">
                <a:latin typeface="Arial"/>
                <a:cs typeface="Arial"/>
              </a:rPr>
              <a:t>Friday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96820" y="-45379"/>
            <a:ext cx="3853179" cy="2978150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325755">
              <a:lnSpc>
                <a:spcPct val="100000"/>
              </a:lnSpc>
              <a:spcBef>
                <a:spcPts val="1515"/>
              </a:spcBef>
            </a:pPr>
            <a:r>
              <a:rPr dirty="0" sz="2850" spc="-300">
                <a:solidFill>
                  <a:srgbClr val="0C7B4D"/>
                </a:solidFill>
                <a:latin typeface="Arial"/>
                <a:cs typeface="Arial"/>
              </a:rPr>
              <a:t>FLASH</a:t>
            </a:r>
            <a:r>
              <a:rPr dirty="0" sz="2850" spc="5">
                <a:solidFill>
                  <a:srgbClr val="0C7B4D"/>
                </a:solidFill>
                <a:latin typeface="Arial"/>
                <a:cs typeface="Arial"/>
              </a:rPr>
              <a:t> </a:t>
            </a:r>
            <a:r>
              <a:rPr dirty="0" sz="2850" spc="-365">
                <a:solidFill>
                  <a:srgbClr val="0E794F"/>
                </a:solidFill>
                <a:latin typeface="Arial"/>
                <a:cs typeface="Arial"/>
              </a:rPr>
              <a:t>REPORT</a:t>
            </a:r>
            <a:r>
              <a:rPr dirty="0" sz="2850" spc="220">
                <a:solidFill>
                  <a:srgbClr val="0E794F"/>
                </a:solidFill>
                <a:latin typeface="Arial"/>
                <a:cs typeface="Arial"/>
              </a:rPr>
              <a:t> </a:t>
            </a:r>
            <a:r>
              <a:rPr dirty="0" sz="2850">
                <a:solidFill>
                  <a:srgbClr val="0F744B"/>
                </a:solidFill>
                <a:latin typeface="Arial"/>
                <a:cs typeface="Arial"/>
              </a:rPr>
              <a:t>-</a:t>
            </a:r>
            <a:r>
              <a:rPr dirty="0" sz="2850" spc="-45">
                <a:solidFill>
                  <a:srgbClr val="0F744B"/>
                </a:solidFill>
                <a:latin typeface="Arial"/>
                <a:cs typeface="Arial"/>
              </a:rPr>
              <a:t> </a:t>
            </a:r>
            <a:r>
              <a:rPr dirty="0" sz="2850" spc="-365">
                <a:solidFill>
                  <a:srgbClr val="007C41"/>
                </a:solidFill>
                <a:latin typeface="Arial"/>
                <a:cs typeface="Arial"/>
              </a:rPr>
              <a:t>AECC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2650" spc="-100">
                <a:solidFill>
                  <a:srgbClr val="187C54"/>
                </a:solidFill>
                <a:latin typeface="Arial"/>
                <a:cs typeface="Arial"/>
              </a:rPr>
              <a:t>06/10</a:t>
            </a:r>
            <a:r>
              <a:rPr dirty="0" sz="2650" spc="-80">
                <a:solidFill>
                  <a:srgbClr val="187C54"/>
                </a:solidFill>
                <a:latin typeface="Arial"/>
                <a:cs typeface="Arial"/>
              </a:rPr>
              <a:t> </a:t>
            </a:r>
            <a:r>
              <a:rPr dirty="0" sz="2650" spc="-1405">
                <a:solidFill>
                  <a:srgbClr val="1F8059"/>
                </a:solidFill>
                <a:latin typeface="Arial"/>
                <a:cs typeface="Arial"/>
              </a:rPr>
              <a:t>—</a:t>
            </a:r>
            <a:r>
              <a:rPr dirty="0" sz="2650" spc="-120">
                <a:solidFill>
                  <a:srgbClr val="1F8059"/>
                </a:solidFill>
                <a:latin typeface="Arial"/>
                <a:cs typeface="Arial"/>
              </a:rPr>
              <a:t> </a:t>
            </a:r>
            <a:r>
              <a:rPr dirty="0" sz="2650" spc="-110">
                <a:solidFill>
                  <a:srgbClr val="08794D"/>
                </a:solidFill>
                <a:latin typeface="Arial"/>
                <a:cs typeface="Arial"/>
              </a:rPr>
              <a:t>10/10</a:t>
            </a:r>
            <a:r>
              <a:rPr dirty="0" sz="2650" spc="-65">
                <a:solidFill>
                  <a:srgbClr val="08794D"/>
                </a:solidFill>
                <a:latin typeface="Arial"/>
                <a:cs typeface="Arial"/>
              </a:rPr>
              <a:t> </a:t>
            </a:r>
            <a:r>
              <a:rPr dirty="0" sz="2650" spc="-275">
                <a:solidFill>
                  <a:srgbClr val="03693D"/>
                </a:solidFill>
                <a:latin typeface="Arial"/>
                <a:cs typeface="Arial"/>
              </a:rPr>
              <a:t>Week</a:t>
            </a:r>
            <a:endParaRPr sz="2650">
              <a:latin typeface="Arial"/>
              <a:cs typeface="Arial"/>
            </a:endParaRPr>
          </a:p>
          <a:p>
            <a:pPr algn="just" marL="341630" marR="925830">
              <a:lnSpc>
                <a:spcPct val="163100"/>
              </a:lnSpc>
              <a:spcBef>
                <a:spcPts val="960"/>
              </a:spcBef>
            </a:pPr>
            <a:r>
              <a:rPr dirty="0" sz="1350" spc="-65">
                <a:latin typeface="Arial"/>
                <a:cs typeface="Arial"/>
              </a:rPr>
              <a:t>Service</a:t>
            </a:r>
            <a:r>
              <a:rPr dirty="0" sz="1350" spc="50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availabfe</a:t>
            </a:r>
            <a:r>
              <a:rPr dirty="0" sz="1350" spc="45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-</a:t>
            </a:r>
            <a:r>
              <a:rPr dirty="0" sz="1350" spc="275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normal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operation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00" spc="-50">
                <a:latin typeface="Arial"/>
                <a:cs typeface="Arial"/>
              </a:rPr>
              <a:t>Service</a:t>
            </a:r>
            <a:r>
              <a:rPr dirty="0" sz="1300" spc="40">
                <a:latin typeface="Arial"/>
                <a:cs typeface="Arial"/>
              </a:rPr>
              <a:t> </a:t>
            </a:r>
            <a:r>
              <a:rPr dirty="0" sz="1300" spc="-40">
                <a:latin typeface="Arial"/>
                <a:cs typeface="Arial"/>
              </a:rPr>
              <a:t>available</a:t>
            </a:r>
            <a:r>
              <a:rPr dirty="0" sz="1300" spc="90">
                <a:latin typeface="Arial"/>
                <a:cs typeface="Arial"/>
              </a:rPr>
              <a:t> </a:t>
            </a:r>
            <a:r>
              <a:rPr dirty="0" sz="1300" spc="-650">
                <a:solidFill>
                  <a:srgbClr val="262626"/>
                </a:solidFill>
                <a:latin typeface="Arial"/>
                <a:cs typeface="Arial"/>
              </a:rPr>
              <a:t>—</a:t>
            </a:r>
            <a:r>
              <a:rPr dirty="0" sz="1300" spc="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35">
                <a:latin typeface="Arial"/>
                <a:cs typeface="Arial"/>
              </a:rPr>
              <a:t>normal</a:t>
            </a:r>
            <a:r>
              <a:rPr dirty="0" sz="1300">
                <a:latin typeface="Arial"/>
                <a:cs typeface="Arial"/>
              </a:rPr>
              <a:t> </a:t>
            </a:r>
            <a:r>
              <a:rPr dirty="0" sz="1300" spc="-40">
                <a:latin typeface="Arial"/>
                <a:cs typeface="Arial"/>
              </a:rPr>
              <a:t>operation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-45">
                <a:latin typeface="Arial"/>
                <a:cs typeface="Arial"/>
              </a:rPr>
              <a:t>Service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-40">
                <a:latin typeface="Arial"/>
                <a:cs typeface="Arial"/>
              </a:rPr>
              <a:t>available</a:t>
            </a:r>
            <a:r>
              <a:rPr dirty="0" sz="1300" spc="90">
                <a:latin typeface="Arial"/>
                <a:cs typeface="Arial"/>
              </a:rPr>
              <a:t> </a:t>
            </a:r>
            <a:r>
              <a:rPr dirty="0" sz="1300" spc="-650">
                <a:solidFill>
                  <a:srgbClr val="282828"/>
                </a:solidFill>
                <a:latin typeface="Arial"/>
                <a:cs typeface="Arial"/>
              </a:rPr>
              <a:t>—</a:t>
            </a:r>
            <a:r>
              <a:rPr dirty="0" sz="1300" spc="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normal</a:t>
            </a:r>
            <a:r>
              <a:rPr dirty="0" sz="1300" spc="-40">
                <a:latin typeface="Arial"/>
                <a:cs typeface="Arial"/>
              </a:rPr>
              <a:t> operation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Service</a:t>
            </a:r>
            <a:r>
              <a:rPr dirty="0" sz="1350" spc="50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availabfe</a:t>
            </a:r>
            <a:r>
              <a:rPr dirty="0" sz="1350" spc="45"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181818"/>
                </a:solidFill>
                <a:latin typeface="Arial"/>
                <a:cs typeface="Arial"/>
              </a:rPr>
              <a:t>-</a:t>
            </a:r>
            <a:r>
              <a:rPr dirty="0" sz="1350" spc="27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normal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operation</a:t>
            </a:r>
            <a:r>
              <a:rPr dirty="0" sz="1350" spc="-35">
                <a:latin typeface="Arial"/>
                <a:cs typeface="Arial"/>
              </a:rPr>
              <a:t> </a:t>
            </a:r>
            <a:r>
              <a:rPr dirty="0" sz="1300" spc="-45">
                <a:latin typeface="Arial"/>
                <a:cs typeface="Arial"/>
              </a:rPr>
              <a:t>Service</a:t>
            </a:r>
            <a:r>
              <a:rPr dirty="0" sz="1300" spc="45">
                <a:latin typeface="Arial"/>
                <a:cs typeface="Arial"/>
              </a:rPr>
              <a:t> </a:t>
            </a:r>
            <a:r>
              <a:rPr dirty="0" sz="1300" spc="-40">
                <a:latin typeface="Arial"/>
                <a:cs typeface="Arial"/>
              </a:rPr>
              <a:t>available</a:t>
            </a:r>
            <a:r>
              <a:rPr dirty="0" sz="1300" spc="90">
                <a:latin typeface="Arial"/>
                <a:cs typeface="Arial"/>
              </a:rPr>
              <a:t> </a:t>
            </a:r>
            <a:r>
              <a:rPr dirty="0" sz="1300" spc="-650">
                <a:solidFill>
                  <a:srgbClr val="181818"/>
                </a:solidFill>
                <a:latin typeface="Arial"/>
                <a:cs typeface="Arial"/>
              </a:rPr>
              <a:t>—</a:t>
            </a:r>
            <a:r>
              <a:rPr dirty="0" sz="1300" spc="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normal</a:t>
            </a:r>
            <a:r>
              <a:rPr dirty="0" sz="1300" spc="-40">
                <a:latin typeface="Arial"/>
                <a:cs typeface="Arial"/>
              </a:rPr>
              <a:t> operation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45252" y="238760"/>
            <a:ext cx="8540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Arial"/>
                <a:cs typeface="Arial"/>
              </a:rPr>
              <a:t>T</a:t>
            </a:r>
            <a:r>
              <a:rPr dirty="0" sz="1500" spc="295">
                <a:latin typeface="Arial"/>
                <a:cs typeface="Arial"/>
              </a:rPr>
              <a:t> </a:t>
            </a:r>
            <a:r>
              <a:rPr dirty="0" sz="1500" spc="-114">
                <a:solidFill>
                  <a:srgbClr val="3B3B3B"/>
                </a:solidFill>
                <a:latin typeface="Arial"/>
                <a:cs typeface="Arial"/>
              </a:rPr>
              <a:t>GROUP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7408" y="3560064"/>
            <a:ext cx="165100" cy="707390"/>
            <a:chOff x="597408" y="3560064"/>
            <a:chExt cx="165100" cy="70739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7408" y="3560064"/>
              <a:ext cx="128015" cy="975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3984" y="3663696"/>
              <a:ext cx="128015" cy="10363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3984" y="3980688"/>
              <a:ext cx="128015" cy="10972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7408" y="4090416"/>
              <a:ext cx="128015" cy="17678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7408" y="3767328"/>
              <a:ext cx="128015" cy="20726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135380" y="3223260"/>
            <a:ext cx="8315325" cy="1347470"/>
          </a:xfrm>
          <a:prstGeom prst="rect">
            <a:avLst/>
          </a:prstGeom>
          <a:ln w="9144">
            <a:solidFill>
              <a:srgbClr val="1F1F1F"/>
            </a:solidFill>
          </a:ln>
        </p:spPr>
        <p:txBody>
          <a:bodyPr wrap="square" lIns="0" tIns="149860" rIns="0" bIns="0" rtlCol="0" vert="horz">
            <a:spAutoFit/>
          </a:bodyPr>
          <a:lstStyle/>
          <a:p>
            <a:pPr marL="179705" marR="271780" indent="-4445">
              <a:lnSpc>
                <a:spcPct val="94300"/>
              </a:lnSpc>
              <a:spcBef>
                <a:spcPts val="1180"/>
              </a:spcBef>
            </a:pPr>
            <a:r>
              <a:rPr dirty="0" sz="1400">
                <a:latin typeface="Calibri"/>
                <a:cs typeface="Calibri"/>
              </a:rPr>
              <a:t>(+)</a:t>
            </a:r>
            <a:r>
              <a:rPr dirty="0" sz="1400" spc="-114">
                <a:latin typeface="Calibri"/>
                <a:cs typeface="Calibri"/>
              </a:rPr>
              <a:t> </a:t>
            </a:r>
            <a:r>
              <a:rPr dirty="0" sz="1400" spc="-495">
                <a:solidFill>
                  <a:srgbClr val="181818"/>
                </a:solidFill>
                <a:latin typeface="Calibri"/>
                <a:cs typeface="Calibri"/>
              </a:rPr>
              <a:t>—</a:t>
            </a:r>
            <a:r>
              <a:rPr dirty="0" sz="1400" spc="-5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service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interruption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45">
                <a:latin typeface="Calibri"/>
                <a:cs typeface="Calibri"/>
              </a:rPr>
              <a:t>reported</a:t>
            </a:r>
            <a:r>
              <a:rPr dirty="0" sz="1400" spc="-20">
                <a:latin typeface="Calibri"/>
                <a:cs typeface="Calibri"/>
              </a:rPr>
              <a:t> this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week.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technical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feedback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session </a:t>
            </a:r>
            <a:r>
              <a:rPr dirty="0" sz="1400" spc="-40">
                <a:latin typeface="Calibri"/>
                <a:cs typeface="Calibri"/>
              </a:rPr>
              <a:t>was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held</a:t>
            </a:r>
            <a:r>
              <a:rPr dirty="0" sz="1400" spc="-55">
                <a:latin typeface="Calibri"/>
                <a:cs typeface="Calibri"/>
              </a:rPr>
              <a:t> with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BOB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users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to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collect </a:t>
            </a:r>
            <a:r>
              <a:rPr dirty="0" sz="1400" spc="-25">
                <a:latin typeface="Calibri"/>
                <a:cs typeface="Calibri"/>
              </a:rPr>
              <a:t>usage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patterns,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pain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points </a:t>
            </a:r>
            <a:r>
              <a:rPr dirty="0" sz="1400" spc="-3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55">
                <a:latin typeface="Calibri"/>
                <a:cs typeface="Calibri"/>
              </a:rPr>
              <a:t>improvement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opportunities.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Main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topics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raised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60">
                <a:latin typeface="Calibri"/>
                <a:cs typeface="Calibri"/>
              </a:rPr>
              <a:t>were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context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groMh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during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long </a:t>
            </a:r>
            <a:r>
              <a:rPr dirty="0" sz="1400" spc="-25">
                <a:latin typeface="Calibri"/>
                <a:cs typeface="Calibri"/>
              </a:rPr>
              <a:t>sessions,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45">
                <a:latin typeface="Calibri"/>
                <a:cs typeface="Calibri"/>
              </a:rPr>
              <a:t>increasing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 spc="-55">
                <a:latin typeface="Calibri"/>
                <a:cs typeface="Calibri"/>
              </a:rPr>
              <a:t>token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65">
                <a:solidFill>
                  <a:srgbClr val="181818"/>
                </a:solidFill>
                <a:latin typeface="Calibri"/>
                <a:cs typeface="Calibri"/>
              </a:rPr>
              <a:t>/</a:t>
            </a:r>
            <a:r>
              <a:rPr dirty="0" sz="1400" spc="-5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Bob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Coin</a:t>
            </a:r>
            <a:r>
              <a:rPr dirty="0" sz="1400" spc="-40">
                <a:latin typeface="Calibri"/>
                <a:cs typeface="Calibri"/>
              </a:rPr>
              <a:t> consumption,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early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MCP</a:t>
            </a:r>
            <a:r>
              <a:rPr dirty="0" sz="1400" spc="-20">
                <a:latin typeface="Calibri"/>
                <a:cs typeface="Calibri"/>
              </a:rPr>
              <a:t> usage,</a:t>
            </a:r>
            <a:r>
              <a:rPr dirty="0" sz="1400" spc="-10">
                <a:latin typeface="Calibri"/>
                <a:cs typeface="Calibri"/>
              </a:rPr>
              <a:t> Skills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and </a:t>
            </a:r>
            <a:r>
              <a:rPr dirty="0" sz="1400" spc="-25">
                <a:latin typeface="Calibri"/>
                <a:cs typeface="Calibri"/>
              </a:rPr>
              <a:t>Rules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sharing,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IDE </a:t>
            </a:r>
            <a:r>
              <a:rPr dirty="0" sz="1400" spc="-50">
                <a:latin typeface="Calibri"/>
                <a:cs typeface="Calibri"/>
              </a:rPr>
              <a:t>integration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30">
                <a:latin typeface="Calibri"/>
                <a:cs typeface="Calibri"/>
              </a:rPr>
              <a:t>licence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60">
                <a:latin typeface="Calibri"/>
                <a:cs typeface="Calibri"/>
              </a:rPr>
              <a:t>avaitability.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Several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55">
                <a:latin typeface="Calibri"/>
                <a:cs typeface="Calibri"/>
              </a:rPr>
              <a:t>teams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55">
                <a:latin typeface="Calibri"/>
                <a:cs typeface="Calibri"/>
              </a:rPr>
              <a:t>are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already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experimenting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 spc="-55">
                <a:latin typeface="Calibri"/>
                <a:cs typeface="Calibri"/>
              </a:rPr>
              <a:t>with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55">
                <a:latin typeface="Calibri"/>
                <a:cs typeface="Calibri"/>
              </a:rPr>
              <a:t>reusabte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Skills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project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specific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 spc="-35">
                <a:latin typeface="Calibri"/>
                <a:cs typeface="Calibri"/>
              </a:rPr>
              <a:t>instructions.</a:t>
            </a:r>
            <a:r>
              <a:rPr dirty="0" sz="1400" spc="185">
                <a:latin typeface="Calibri"/>
                <a:cs typeface="Calibri"/>
              </a:rPr>
              <a:t> </a:t>
            </a:r>
            <a:r>
              <a:rPr dirty="0" sz="1400" spc="-50">
                <a:solidFill>
                  <a:srgbClr val="0E0E0E"/>
                </a:solidFill>
                <a:latin typeface="Calibri"/>
                <a:cs typeface="Calibri"/>
              </a:rPr>
              <a:t>A </a:t>
            </a:r>
            <a:r>
              <a:rPr dirty="0" sz="1400" spc="-40">
                <a:latin typeface="Calibri"/>
                <a:cs typeface="Calibri"/>
              </a:rPr>
              <a:t>consolidation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of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existing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assets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from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Git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and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Confluence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being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initiated.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65120" y="4748784"/>
            <a:ext cx="1402080" cy="34137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498283" y="4793742"/>
            <a:ext cx="1014094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65">
                <a:latin typeface="Arial"/>
                <a:cs typeface="Arial"/>
              </a:rPr>
              <a:t>Partiat</a:t>
            </a:r>
            <a:r>
              <a:rPr dirty="0" sz="1250" spc="-50">
                <a:latin typeface="Arial"/>
                <a:cs typeface="Arial"/>
              </a:rPr>
              <a:t> </a:t>
            </a:r>
            <a:r>
              <a:rPr dirty="0" sz="1250" spc="-105" b="1">
                <a:latin typeface="Arial"/>
                <a:cs typeface="Arial"/>
              </a:rPr>
              <a:t>blockers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60720" y="4754879"/>
            <a:ext cx="1432559" cy="329184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" y="4888992"/>
            <a:ext cx="377952" cy="38404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41429" y="4931917"/>
            <a:ext cx="143764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2445" algn="l"/>
              </a:tabLst>
            </a:pPr>
            <a:r>
              <a:rPr dirty="0" sz="1650" spc="-25">
                <a:latin typeface="Calibri"/>
                <a:cs typeface="Calibri"/>
              </a:rPr>
              <a:t>BNP</a:t>
            </a:r>
            <a:r>
              <a:rPr dirty="0" sz="1650">
                <a:latin typeface="Calibri"/>
                <a:cs typeface="Calibri"/>
              </a:rPr>
              <a:t>	</a:t>
            </a:r>
            <a:r>
              <a:rPr dirty="0" sz="1650" spc="195">
                <a:latin typeface="Calibri"/>
                <a:cs typeface="Calibri"/>
              </a:rPr>
              <a:t>PAßIBAS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10279" y="5100828"/>
            <a:ext cx="10941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800" spc="100">
                <a:solidFill>
                  <a:srgbClr val="0F0F0F"/>
                </a:solidFill>
                <a:latin typeface="Arial"/>
                <a:cs typeface="Arial"/>
              </a:rPr>
              <a:t>‹iei</a:t>
            </a:r>
            <a:r>
              <a:rPr dirty="0" baseline="6944" sz="1200" spc="150">
                <a:solidFill>
                  <a:srgbClr val="0F0F0F"/>
                </a:solidFill>
                <a:latin typeface="Arial"/>
                <a:cs typeface="Arial"/>
              </a:rPr>
              <a:t>T</a:t>
            </a:r>
            <a:r>
              <a:rPr dirty="0" baseline="6944" sz="1200" spc="-202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282828"/>
                </a:solidFill>
                <a:latin typeface="Arial"/>
                <a:cs typeface="Arial"/>
              </a:rPr>
              <a:t>Payment</a:t>
            </a:r>
            <a:r>
              <a:rPr dirty="0" sz="800" spc="2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262626"/>
                </a:solidFill>
                <a:latin typeface="Arial"/>
                <a:cs typeface="Arial"/>
              </a:rPr>
              <a:t>Services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97899" y="5097780"/>
            <a:ext cx="5797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06/10/2026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41778" y="254761"/>
            <a:ext cx="2647315" cy="50545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>
                <a:solidFill>
                  <a:srgbClr val="087950"/>
                </a:solidFill>
                <a:latin typeface="Calibri"/>
                <a:cs typeface="Calibri"/>
              </a:rPr>
              <a:t>Global</a:t>
            </a:r>
            <a:r>
              <a:rPr dirty="0" sz="3150" spc="-65">
                <a:solidFill>
                  <a:srgbClr val="087950"/>
                </a:solidFill>
                <a:latin typeface="Calibri"/>
                <a:cs typeface="Calibri"/>
              </a:rPr>
              <a:t> </a:t>
            </a:r>
            <a:r>
              <a:rPr dirty="0" sz="3150" spc="-50">
                <a:solidFill>
                  <a:srgbClr val="0A7752"/>
                </a:solidFill>
                <a:latin typeface="Calibri"/>
                <a:cs typeface="Calibri"/>
              </a:rPr>
              <a:t>Overview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87033" y="389382"/>
            <a:ext cx="92265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>
                <a:solidFill>
                  <a:srgbClr val="343434"/>
                </a:solidFill>
                <a:latin typeface="Calibri"/>
                <a:cs typeface="Calibri"/>
              </a:rPr>
              <a:t>T</a:t>
            </a:r>
            <a:r>
              <a:rPr dirty="0" sz="1850" spc="47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850" spc="-45">
                <a:solidFill>
                  <a:srgbClr val="3B3B3B"/>
                </a:solidFill>
                <a:latin typeface="Calibri"/>
                <a:cs typeface="Calibri"/>
              </a:rPr>
              <a:t>GROUP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554" y="769467"/>
            <a:ext cx="3328035" cy="1802130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2350" spc="-35">
                <a:solidFill>
                  <a:srgbClr val="1C7759"/>
                </a:solidFill>
                <a:latin typeface="Calibri"/>
                <a:cs typeface="Calibri"/>
              </a:rPr>
              <a:t>Progress </a:t>
            </a:r>
            <a:r>
              <a:rPr dirty="0" sz="2350" spc="-10">
                <a:solidFill>
                  <a:srgbClr val="16724F"/>
                </a:solidFill>
                <a:latin typeface="Calibri"/>
                <a:cs typeface="Calibri"/>
              </a:rPr>
              <a:t>observed</a:t>
            </a:r>
            <a:endParaRPr sz="2350">
              <a:latin typeface="Calibri"/>
              <a:cs typeface="Calibri"/>
            </a:endParaRPr>
          </a:p>
          <a:p>
            <a:pPr marL="231775" marR="344170">
              <a:lnSpc>
                <a:spcPts val="2060"/>
              </a:lnSpc>
              <a:spcBef>
                <a:spcPts val="45"/>
              </a:spcBef>
            </a:pPr>
            <a:r>
              <a:rPr dirty="0" sz="1250" spc="-55">
                <a:latin typeface="Calibri"/>
                <a:cs typeface="Calibri"/>
              </a:rPr>
              <a:t>Growing</a:t>
            </a:r>
            <a:r>
              <a:rPr dirty="0" sz="1250" spc="10">
                <a:latin typeface="Calibri"/>
                <a:cs typeface="Calibri"/>
              </a:rPr>
              <a:t> </a:t>
            </a:r>
            <a:r>
              <a:rPr dirty="0" sz="1250" spc="-50">
                <a:latin typeface="Calibri"/>
                <a:cs typeface="Calibri"/>
              </a:rPr>
              <a:t>adoption</a:t>
            </a:r>
            <a:r>
              <a:rPr dirty="0" sz="1250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across</a:t>
            </a:r>
            <a:r>
              <a:rPr dirty="0" sz="1250" spc="-45">
                <a:latin typeface="Calibri"/>
                <a:cs typeface="Calibri"/>
              </a:rPr>
              <a:t> </a:t>
            </a:r>
            <a:r>
              <a:rPr dirty="0" sz="1250" spc="-60">
                <a:latin typeface="Calibri"/>
                <a:cs typeface="Calibri"/>
              </a:rPr>
              <a:t>development</a:t>
            </a:r>
            <a:r>
              <a:rPr dirty="0" sz="1250" spc="65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teams </a:t>
            </a:r>
            <a:r>
              <a:rPr dirty="0" sz="1250" spc="-20">
                <a:solidFill>
                  <a:srgbClr val="1C1C1C"/>
                </a:solidFill>
                <a:latin typeface="Calibri"/>
                <a:cs typeface="Calibri"/>
              </a:rPr>
              <a:t>Use</a:t>
            </a:r>
            <a:r>
              <a:rPr dirty="0" sz="1250" spc="-3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1250" spc="-60">
                <a:solidFill>
                  <a:srgbClr val="181818"/>
                </a:solidFill>
                <a:latin typeface="Calibri"/>
                <a:cs typeface="Calibri"/>
              </a:rPr>
              <a:t>of</a:t>
            </a:r>
            <a:r>
              <a:rPr dirty="0" sz="1250" spc="-1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reusable</a:t>
            </a:r>
            <a:r>
              <a:rPr dirty="0" sz="1250" spc="40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Skills</a:t>
            </a:r>
            <a:r>
              <a:rPr dirty="0" sz="1250" spc="-30">
                <a:latin typeface="Calibri"/>
                <a:cs typeface="Calibri"/>
              </a:rPr>
              <a:t> </a:t>
            </a:r>
            <a:r>
              <a:rPr dirty="0" sz="1250" spc="-50">
                <a:latin typeface="Calibri"/>
                <a:cs typeface="Calibri"/>
              </a:rPr>
              <a:t>and</a:t>
            </a:r>
            <a:r>
              <a:rPr dirty="0" sz="1250" spc="-25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Rules</a:t>
            </a:r>
            <a:endParaRPr sz="1250">
              <a:latin typeface="Calibri"/>
              <a:cs typeface="Calibri"/>
            </a:endParaRPr>
          </a:p>
          <a:p>
            <a:pPr marL="231140">
              <a:lnSpc>
                <a:spcPct val="100000"/>
              </a:lnSpc>
              <a:spcBef>
                <a:spcPts val="450"/>
              </a:spcBef>
            </a:pPr>
            <a:r>
              <a:rPr dirty="0" sz="1250" spc="-40">
                <a:latin typeface="Calibri"/>
                <a:cs typeface="Calibri"/>
              </a:rPr>
              <a:t>Interest</a:t>
            </a:r>
            <a:r>
              <a:rPr dirty="0" sz="1250" spc="-30"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31313"/>
                </a:solidFill>
                <a:latin typeface="Calibri"/>
                <a:cs typeface="Calibri"/>
              </a:rPr>
              <a:t>in</a:t>
            </a:r>
            <a:r>
              <a:rPr dirty="0" sz="1250" spc="-45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MCP</a:t>
            </a:r>
            <a:endParaRPr sz="1250">
              <a:latin typeface="Calibri"/>
              <a:cs typeface="Calibri"/>
            </a:endParaRPr>
          </a:p>
          <a:p>
            <a:pPr marL="231140" marR="5080">
              <a:lnSpc>
                <a:spcPct val="140800"/>
              </a:lnSpc>
            </a:pPr>
            <a:r>
              <a:rPr dirty="0" sz="1250" spc="-65">
                <a:latin typeface="Calibri"/>
                <a:cs typeface="Calibri"/>
              </a:rPr>
              <a:t>Improved</a:t>
            </a:r>
            <a:r>
              <a:rPr dirty="0" sz="1250" spc="-10">
                <a:latin typeface="Calibri"/>
                <a:cs typeface="Calibri"/>
              </a:rPr>
              <a:t> </a:t>
            </a:r>
            <a:r>
              <a:rPr dirty="0" sz="1250" spc="-60">
                <a:latin typeface="Calibri"/>
                <a:cs typeface="Calibri"/>
              </a:rPr>
              <a:t>developer</a:t>
            </a:r>
            <a:r>
              <a:rPr dirty="0" sz="1250" spc="-10">
                <a:latin typeface="Calibri"/>
                <a:cs typeface="Calibri"/>
              </a:rPr>
              <a:t> </a:t>
            </a:r>
            <a:r>
              <a:rPr dirty="0" sz="1250" spc="-60">
                <a:latin typeface="Calibri"/>
                <a:cs typeface="Calibri"/>
              </a:rPr>
              <a:t>experience</a:t>
            </a:r>
            <a:r>
              <a:rPr dirty="0" sz="1250" spc="30">
                <a:latin typeface="Calibri"/>
                <a:cs typeface="Calibri"/>
              </a:rPr>
              <a:t> </a:t>
            </a:r>
            <a:r>
              <a:rPr dirty="0" sz="1250" spc="-70">
                <a:latin typeface="Calibri"/>
                <a:cs typeface="Calibri"/>
              </a:rPr>
              <a:t>with</a:t>
            </a:r>
            <a:r>
              <a:rPr dirty="0" sz="1250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IDE</a:t>
            </a:r>
            <a:r>
              <a:rPr dirty="0" sz="1250" spc="-55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integration </a:t>
            </a:r>
            <a:r>
              <a:rPr dirty="0" sz="1250" spc="-40">
                <a:latin typeface="Calibri"/>
                <a:cs typeface="Calibri"/>
              </a:rPr>
              <a:t>Regular</a:t>
            </a:r>
            <a:r>
              <a:rPr dirty="0" sz="1250" spc="-5">
                <a:latin typeface="Calibri"/>
                <a:cs typeface="Calibri"/>
              </a:rPr>
              <a:t> </a:t>
            </a:r>
            <a:r>
              <a:rPr dirty="0" sz="1250" spc="-50">
                <a:latin typeface="Calibri"/>
                <a:cs typeface="Calibri"/>
              </a:rPr>
              <a:t>technica(</a:t>
            </a:r>
            <a:r>
              <a:rPr dirty="0" sz="1250" spc="-15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BOB </a:t>
            </a:r>
            <a:r>
              <a:rPr dirty="0" sz="1250" spc="-70">
                <a:latin typeface="Calibri"/>
                <a:cs typeface="Calibri"/>
              </a:rPr>
              <a:t>community</a:t>
            </a:r>
            <a:r>
              <a:rPr dirty="0" sz="1250" spc="35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exchanges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8415" indent="-635">
              <a:lnSpc>
                <a:spcPct val="137600"/>
              </a:lnSpc>
              <a:spcBef>
                <a:spcPts val="100"/>
              </a:spcBef>
            </a:pPr>
            <a:r>
              <a:rPr dirty="0" spc="-35"/>
              <a:t>Concrete</a:t>
            </a:r>
            <a:r>
              <a:rPr dirty="0" spc="-40"/>
              <a:t> </a:t>
            </a:r>
            <a:r>
              <a:rPr dirty="0" spc="-10">
                <a:solidFill>
                  <a:srgbClr val="111111"/>
                </a:solidFill>
              </a:rPr>
              <a:t>use</a:t>
            </a:r>
            <a:r>
              <a:rPr dirty="0" spc="-40">
                <a:solidFill>
                  <a:srgbClr val="111111"/>
                </a:solidFill>
              </a:rPr>
              <a:t> </a:t>
            </a:r>
            <a:r>
              <a:rPr dirty="0" spc="-10">
                <a:solidFill>
                  <a:srgbClr val="0E0E0E"/>
                </a:solidFill>
              </a:rPr>
              <a:t>cases </a:t>
            </a:r>
            <a:r>
              <a:rPr dirty="0" spc="-45"/>
              <a:t>around</a:t>
            </a:r>
            <a:r>
              <a:rPr dirty="0" spc="30"/>
              <a:t> </a:t>
            </a:r>
            <a:r>
              <a:rPr dirty="0"/>
              <a:t>Java</a:t>
            </a:r>
            <a:r>
              <a:rPr dirty="0" spc="-50"/>
              <a:t> migration,</a:t>
            </a:r>
            <a:r>
              <a:rPr dirty="0" spc="40"/>
              <a:t> </a:t>
            </a:r>
            <a:r>
              <a:rPr dirty="0" spc="-40"/>
              <a:t>testing,</a:t>
            </a:r>
            <a:r>
              <a:rPr dirty="0" spc="5"/>
              <a:t> </a:t>
            </a:r>
            <a:r>
              <a:rPr dirty="0" spc="-60"/>
              <a:t>documentation</a:t>
            </a:r>
            <a:r>
              <a:rPr dirty="0" spc="110"/>
              <a:t> </a:t>
            </a:r>
            <a:r>
              <a:rPr dirty="0" spc="-45">
                <a:solidFill>
                  <a:srgbClr val="0C0C0C"/>
                </a:solidFill>
              </a:rPr>
              <a:t>and</a:t>
            </a:r>
            <a:r>
              <a:rPr dirty="0" spc="-30">
                <a:solidFill>
                  <a:srgbClr val="0C0C0C"/>
                </a:solidFill>
              </a:rPr>
              <a:t> </a:t>
            </a:r>
            <a:r>
              <a:rPr dirty="0" spc="-35"/>
              <a:t>code </a:t>
            </a:r>
            <a:r>
              <a:rPr dirty="0" spc="-10"/>
              <a:t>analysis. </a:t>
            </a:r>
            <a:r>
              <a:rPr dirty="0" spc="-35">
                <a:solidFill>
                  <a:srgbClr val="111111"/>
                </a:solidFill>
              </a:rPr>
              <a:t>Teams</a:t>
            </a:r>
            <a:r>
              <a:rPr dirty="0" spc="-40">
                <a:solidFill>
                  <a:srgbClr val="111111"/>
                </a:solidFill>
              </a:rPr>
              <a:t> </a:t>
            </a:r>
            <a:r>
              <a:rPr dirty="0" spc="-65"/>
              <a:t>are</a:t>
            </a:r>
            <a:r>
              <a:rPr dirty="0" spc="-5"/>
              <a:t> </a:t>
            </a:r>
            <a:r>
              <a:rPr dirty="0" spc="-35"/>
              <a:t>starting</a:t>
            </a:r>
            <a:r>
              <a:rPr dirty="0" spc="50"/>
              <a:t> </a:t>
            </a:r>
            <a:r>
              <a:rPr dirty="0" spc="-90"/>
              <a:t>to</a:t>
            </a:r>
            <a:r>
              <a:rPr dirty="0" spc="15"/>
              <a:t> </a:t>
            </a:r>
            <a:r>
              <a:rPr dirty="0" spc="-40"/>
              <a:t>create</a:t>
            </a:r>
            <a:r>
              <a:rPr dirty="0" spc="-25"/>
              <a:t> </a:t>
            </a:r>
            <a:r>
              <a:rPr dirty="0" spc="-35"/>
              <a:t>reusable</a:t>
            </a:r>
            <a:r>
              <a:rPr dirty="0" spc="20"/>
              <a:t> </a:t>
            </a:r>
            <a:r>
              <a:rPr dirty="0" spc="-10"/>
              <a:t>Skills,</a:t>
            </a:r>
            <a:r>
              <a:rPr dirty="0" spc="-35"/>
              <a:t> </a:t>
            </a:r>
            <a:r>
              <a:rPr dirty="0" spc="-20"/>
              <a:t>Rules</a:t>
            </a:r>
            <a:r>
              <a:rPr dirty="0" spc="-5"/>
              <a:t> </a:t>
            </a:r>
            <a:r>
              <a:rPr dirty="0" spc="-45"/>
              <a:t>and</a:t>
            </a:r>
            <a:r>
              <a:rPr dirty="0" spc="-30"/>
              <a:t> </a:t>
            </a:r>
            <a:r>
              <a:rPr dirty="0" spc="-35"/>
              <a:t>project</a:t>
            </a:r>
            <a:r>
              <a:rPr dirty="0" spc="-10"/>
              <a:t> </a:t>
            </a:r>
            <a:r>
              <a:rPr dirty="0" spc="-35"/>
              <a:t>context</a:t>
            </a:r>
            <a:r>
              <a:rPr dirty="0" spc="5"/>
              <a:t> </a:t>
            </a:r>
            <a:r>
              <a:rPr dirty="0" spc="-10"/>
              <a:t>files.</a:t>
            </a:r>
          </a:p>
          <a:p>
            <a:pPr marL="12700" marR="5080">
              <a:lnSpc>
                <a:spcPct val="140800"/>
              </a:lnSpc>
            </a:pPr>
            <a:r>
              <a:rPr dirty="0" spc="-35"/>
              <a:t>Increasing</a:t>
            </a:r>
            <a:r>
              <a:rPr dirty="0" spc="35"/>
              <a:t> </a:t>
            </a:r>
            <a:r>
              <a:rPr dirty="0" spc="-50"/>
              <a:t>interest,</a:t>
            </a:r>
            <a:r>
              <a:rPr dirty="0" spc="35"/>
              <a:t> </a:t>
            </a:r>
            <a:r>
              <a:rPr dirty="0" spc="-30"/>
              <a:t>especially</a:t>
            </a:r>
            <a:r>
              <a:rPr dirty="0" spc="55"/>
              <a:t> </a:t>
            </a:r>
            <a:r>
              <a:rPr dirty="0" spc="-60"/>
              <a:t>for</a:t>
            </a:r>
            <a:r>
              <a:rPr dirty="0" spc="-15"/>
              <a:t> </a:t>
            </a:r>
            <a:r>
              <a:rPr dirty="0" spc="-20"/>
              <a:t>accessing</a:t>
            </a:r>
            <a:r>
              <a:rPr dirty="0" spc="50"/>
              <a:t> </a:t>
            </a:r>
            <a:r>
              <a:rPr dirty="0" spc="-40"/>
              <a:t>internal</a:t>
            </a:r>
            <a:r>
              <a:rPr dirty="0" spc="-5"/>
              <a:t> </a:t>
            </a:r>
            <a:r>
              <a:rPr dirty="0" spc="-60"/>
              <a:t>documentation</a:t>
            </a:r>
            <a:r>
              <a:rPr dirty="0" spc="114"/>
              <a:t> </a:t>
            </a:r>
            <a:r>
              <a:rPr dirty="0" spc="-20">
                <a:solidFill>
                  <a:srgbClr val="131313"/>
                </a:solidFill>
              </a:rPr>
              <a:t>(e.g.</a:t>
            </a:r>
            <a:r>
              <a:rPr dirty="0" spc="-30">
                <a:solidFill>
                  <a:srgbClr val="131313"/>
                </a:solidFill>
              </a:rPr>
              <a:t> </a:t>
            </a:r>
            <a:r>
              <a:rPr dirty="0" spc="-10"/>
              <a:t>Confluence). </a:t>
            </a:r>
            <a:r>
              <a:rPr dirty="0"/>
              <a:t>BOB</a:t>
            </a:r>
            <a:r>
              <a:rPr dirty="0" spc="-60"/>
              <a:t> </a:t>
            </a:r>
            <a:r>
              <a:rPr dirty="0" spc="-50">
                <a:solidFill>
                  <a:srgbClr val="0C0C0C"/>
                </a:solidFill>
              </a:rPr>
              <a:t>in</a:t>
            </a:r>
            <a:r>
              <a:rPr dirty="0" spc="-20">
                <a:solidFill>
                  <a:srgbClr val="0C0C0C"/>
                </a:solidFill>
              </a:rPr>
              <a:t> </a:t>
            </a:r>
            <a:r>
              <a:rPr dirty="0" spc="-10"/>
              <a:t>IntelliJ</a:t>
            </a:r>
            <a:r>
              <a:rPr dirty="0" spc="-30"/>
              <a:t> </a:t>
            </a:r>
            <a:r>
              <a:rPr dirty="0">
                <a:solidFill>
                  <a:srgbClr val="212121"/>
                </a:solidFill>
              </a:rPr>
              <a:t>is</a:t>
            </a:r>
            <a:r>
              <a:rPr dirty="0" spc="-35">
                <a:solidFill>
                  <a:srgbClr val="212121"/>
                </a:solidFill>
              </a:rPr>
              <a:t> </a:t>
            </a:r>
            <a:r>
              <a:rPr dirty="0" spc="-45"/>
              <a:t>perceived</a:t>
            </a:r>
            <a:r>
              <a:rPr dirty="0" spc="30"/>
              <a:t> </a:t>
            </a:r>
            <a:r>
              <a:rPr dirty="0">
                <a:solidFill>
                  <a:srgbClr val="181818"/>
                </a:solidFill>
              </a:rPr>
              <a:t>as</a:t>
            </a:r>
            <a:r>
              <a:rPr dirty="0" spc="-70">
                <a:solidFill>
                  <a:srgbClr val="181818"/>
                </a:solidFill>
              </a:rPr>
              <a:t> </a:t>
            </a:r>
            <a:r>
              <a:rPr dirty="0" spc="-55"/>
              <a:t>more</a:t>
            </a:r>
            <a:r>
              <a:rPr dirty="0" spc="-15"/>
              <a:t> </a:t>
            </a:r>
            <a:r>
              <a:rPr dirty="0" spc="-45"/>
              <a:t>convenient</a:t>
            </a:r>
            <a:r>
              <a:rPr dirty="0" spc="-15"/>
              <a:t> </a:t>
            </a:r>
            <a:r>
              <a:rPr dirty="0" spc="-35"/>
              <a:t>for</a:t>
            </a:r>
            <a:r>
              <a:rPr dirty="0" spc="-40"/>
              <a:t> </a:t>
            </a:r>
            <a:r>
              <a:rPr dirty="0" spc="-35"/>
              <a:t>backend</a:t>
            </a:r>
            <a:r>
              <a:rPr dirty="0" spc="20"/>
              <a:t> </a:t>
            </a:r>
            <a:r>
              <a:rPr dirty="0" spc="-20">
                <a:solidFill>
                  <a:srgbClr val="0F0F0F"/>
                </a:solidFill>
              </a:rPr>
              <a:t>and</a:t>
            </a:r>
            <a:r>
              <a:rPr dirty="0" spc="-10">
                <a:solidFill>
                  <a:srgbClr val="0F0F0F"/>
                </a:solidFill>
              </a:rPr>
              <a:t> </a:t>
            </a:r>
            <a:r>
              <a:rPr dirty="0" spc="-10">
                <a:solidFill>
                  <a:srgbClr val="0C0C0C"/>
                </a:solidFill>
              </a:rPr>
              <a:t>Java</a:t>
            </a:r>
            <a:r>
              <a:rPr dirty="0" spc="-60">
                <a:solidFill>
                  <a:srgbClr val="0C0C0C"/>
                </a:solidFill>
              </a:rPr>
              <a:t> </a:t>
            </a:r>
            <a:r>
              <a:rPr dirty="0" spc="-10"/>
              <a:t>development.</a:t>
            </a:r>
          </a:p>
          <a:p>
            <a:pPr marL="17145">
              <a:lnSpc>
                <a:spcPct val="100000"/>
              </a:lnSpc>
              <a:spcBef>
                <a:spcPts val="610"/>
              </a:spcBef>
            </a:pPr>
            <a:r>
              <a:rPr dirty="0"/>
              <a:t>A</a:t>
            </a:r>
            <a:r>
              <a:rPr dirty="0" spc="-75"/>
              <a:t> </a:t>
            </a:r>
            <a:r>
              <a:rPr dirty="0" spc="-40"/>
              <a:t>technica(</a:t>
            </a:r>
            <a:r>
              <a:rPr dirty="0" spc="-30"/>
              <a:t> </a:t>
            </a:r>
            <a:r>
              <a:rPr dirty="0" spc="-40"/>
              <a:t>feedback</a:t>
            </a:r>
            <a:r>
              <a:rPr dirty="0" spc="15"/>
              <a:t> </a:t>
            </a:r>
            <a:r>
              <a:rPr dirty="0" spc="-25"/>
              <a:t>session</a:t>
            </a:r>
            <a:r>
              <a:rPr dirty="0"/>
              <a:t> </a:t>
            </a:r>
            <a:r>
              <a:rPr dirty="0">
                <a:solidFill>
                  <a:srgbClr val="1C1C1C"/>
                </a:solidFill>
              </a:rPr>
              <a:t>is</a:t>
            </a:r>
            <a:r>
              <a:rPr dirty="0" spc="-40">
                <a:solidFill>
                  <a:srgbClr val="1C1C1C"/>
                </a:solidFill>
              </a:rPr>
              <a:t> </a:t>
            </a:r>
            <a:r>
              <a:rPr dirty="0" spc="-70"/>
              <a:t>now</a:t>
            </a:r>
            <a:r>
              <a:rPr dirty="0"/>
              <a:t> </a:t>
            </a:r>
            <a:r>
              <a:rPr dirty="0">
                <a:solidFill>
                  <a:srgbClr val="212121"/>
                </a:solidFill>
              </a:rPr>
              <a:t>in</a:t>
            </a:r>
            <a:r>
              <a:rPr dirty="0" spc="-20">
                <a:solidFill>
                  <a:srgbClr val="212121"/>
                </a:solidFill>
              </a:rPr>
              <a:t> </a:t>
            </a:r>
            <a:r>
              <a:rPr dirty="0" spc="-25"/>
              <a:t>place</a:t>
            </a:r>
            <a:r>
              <a:rPr dirty="0" spc="-20"/>
              <a:t> </a:t>
            </a:r>
            <a:r>
              <a:rPr dirty="0" spc="-30">
                <a:solidFill>
                  <a:srgbClr val="131313"/>
                </a:solidFill>
              </a:rPr>
              <a:t>to</a:t>
            </a:r>
            <a:r>
              <a:rPr dirty="0" spc="-35">
                <a:solidFill>
                  <a:srgbClr val="131313"/>
                </a:solidFill>
              </a:rPr>
              <a:t> </a:t>
            </a:r>
            <a:r>
              <a:rPr dirty="0" spc="-35"/>
              <a:t>share</a:t>
            </a:r>
            <a:r>
              <a:rPr dirty="0" spc="-10"/>
              <a:t> </a:t>
            </a:r>
            <a:r>
              <a:rPr dirty="0" spc="-25"/>
              <a:t>issues</a:t>
            </a:r>
            <a:r>
              <a:rPr dirty="0" spc="-5"/>
              <a:t> </a:t>
            </a:r>
            <a:r>
              <a:rPr dirty="0" spc="-20">
                <a:solidFill>
                  <a:srgbClr val="111111"/>
                </a:solidFill>
              </a:rPr>
              <a:t>and</a:t>
            </a:r>
            <a:r>
              <a:rPr dirty="0" spc="-50">
                <a:solidFill>
                  <a:srgbClr val="111111"/>
                </a:solidFill>
              </a:rPr>
              <a:t> </a:t>
            </a:r>
            <a:r>
              <a:rPr dirty="0" spc="-50"/>
              <a:t>best</a:t>
            </a:r>
            <a:r>
              <a:rPr dirty="0" spc="-35"/>
              <a:t> </a:t>
            </a:r>
            <a:r>
              <a:rPr dirty="0" spc="-10"/>
              <a:t>practices.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5002" y="2629650"/>
            <a:ext cx="1918970" cy="1847214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2400" spc="-125">
                <a:solidFill>
                  <a:srgbClr val="137B56"/>
                </a:solidFill>
                <a:latin typeface="Calibri"/>
                <a:cs typeface="Calibri"/>
              </a:rPr>
              <a:t>To</a:t>
            </a:r>
            <a:r>
              <a:rPr dirty="0" sz="2400" spc="-15">
                <a:solidFill>
                  <a:srgbClr val="137B56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825B"/>
                </a:solidFill>
                <a:latin typeface="Calibri"/>
                <a:cs typeface="Calibri"/>
              </a:rPr>
              <a:t>Improve</a:t>
            </a:r>
            <a:endParaRPr sz="240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530"/>
              </a:spcBef>
            </a:pPr>
            <a:r>
              <a:rPr dirty="0" sz="1150">
                <a:latin typeface="Calibri"/>
                <a:cs typeface="Calibri"/>
              </a:rPr>
              <a:t>Context</a:t>
            </a:r>
            <a:r>
              <a:rPr dirty="0" sz="1150" spc="10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management</a:t>
            </a:r>
            <a:endParaRPr sz="1150">
              <a:latin typeface="Calibri"/>
              <a:cs typeface="Calibri"/>
            </a:endParaRPr>
          </a:p>
          <a:p>
            <a:pPr marL="252729">
              <a:lnSpc>
                <a:spcPct val="100000"/>
              </a:lnSpc>
              <a:spcBef>
                <a:spcPts val="630"/>
              </a:spcBef>
            </a:pPr>
            <a:r>
              <a:rPr dirty="0" sz="1250" spc="-10">
                <a:latin typeface="Calibri"/>
                <a:cs typeface="Calibri"/>
              </a:rPr>
              <a:t>Skil(s</a:t>
            </a:r>
            <a:r>
              <a:rPr dirty="0" sz="1250" spc="-40"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32323"/>
                </a:solidFill>
                <a:latin typeface="Calibri"/>
                <a:cs typeface="Calibri"/>
              </a:rPr>
              <a:t>/</a:t>
            </a:r>
            <a:r>
              <a:rPr dirty="0" sz="1250" spc="-7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Rules</a:t>
            </a:r>
            <a:r>
              <a:rPr dirty="0" sz="1250" spc="-40">
                <a:latin typeface="Calibri"/>
                <a:cs typeface="Calibri"/>
              </a:rPr>
              <a:t> </a:t>
            </a:r>
            <a:r>
              <a:rPr dirty="0" sz="1250" spc="-25">
                <a:latin typeface="Calibri"/>
                <a:cs typeface="Calibri"/>
              </a:rPr>
              <a:t>centralization</a:t>
            </a:r>
            <a:endParaRPr sz="1250">
              <a:latin typeface="Calibri"/>
              <a:cs typeface="Calibri"/>
            </a:endParaRPr>
          </a:p>
          <a:p>
            <a:pPr marL="252095">
              <a:lnSpc>
                <a:spcPct val="100000"/>
              </a:lnSpc>
              <a:spcBef>
                <a:spcPts val="715"/>
              </a:spcBef>
            </a:pPr>
            <a:r>
              <a:rPr dirty="0" sz="1150">
                <a:latin typeface="Calibri"/>
                <a:cs typeface="Calibri"/>
              </a:rPr>
              <a:t>Licence</a:t>
            </a:r>
            <a:r>
              <a:rPr dirty="0" sz="1150" spc="235">
                <a:latin typeface="Calibri"/>
                <a:cs typeface="Calibri"/>
              </a:rPr>
              <a:t> </a:t>
            </a:r>
            <a:r>
              <a:rPr dirty="0" sz="1150" spc="-10">
                <a:latin typeface="Calibri"/>
                <a:cs typeface="Calibri"/>
              </a:rPr>
              <a:t>availability</a:t>
            </a:r>
            <a:endParaRPr sz="115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635"/>
              </a:spcBef>
            </a:pPr>
            <a:r>
              <a:rPr dirty="0" sz="1200">
                <a:latin typeface="Calibri"/>
                <a:cs typeface="Calibri"/>
              </a:rPr>
              <a:t>MCP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adoption</a:t>
            </a:r>
            <a:endParaRPr sz="120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645"/>
              </a:spcBef>
            </a:pPr>
            <a:r>
              <a:rPr dirty="0" sz="1250">
                <a:latin typeface="Calibri"/>
                <a:cs typeface="Calibri"/>
              </a:rPr>
              <a:t>IDE</a:t>
            </a:r>
            <a:r>
              <a:rPr dirty="0" sz="1250" spc="-65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and</a:t>
            </a:r>
            <a:r>
              <a:rPr dirty="0" sz="1250" spc="-10">
                <a:latin typeface="Calibri"/>
                <a:cs typeface="Calibri"/>
              </a:rPr>
              <a:t> installation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93695" y="3112770"/>
            <a:ext cx="5269230" cy="136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89560">
              <a:lnSpc>
                <a:spcPct val="140800"/>
              </a:lnSpc>
              <a:spcBef>
                <a:spcPts val="100"/>
              </a:spcBef>
            </a:pPr>
            <a:r>
              <a:rPr dirty="0" sz="1250">
                <a:latin typeface="Calibri"/>
                <a:cs typeface="Calibri"/>
              </a:rPr>
              <a:t>Long</a:t>
            </a:r>
            <a:r>
              <a:rPr dirty="0" sz="1250" spc="-65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sessions</a:t>
            </a:r>
            <a:r>
              <a:rPr dirty="0" sz="1250" spc="-30"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increase</a:t>
            </a:r>
            <a:r>
              <a:rPr dirty="0" sz="1250" spc="5">
                <a:latin typeface="Calibri"/>
                <a:cs typeface="Calibri"/>
              </a:rPr>
              <a:t> </a:t>
            </a:r>
            <a:r>
              <a:rPr dirty="0" sz="1250" spc="-35">
                <a:latin typeface="Calibri"/>
                <a:cs typeface="Calibri"/>
              </a:rPr>
              <a:t>context</a:t>
            </a:r>
            <a:r>
              <a:rPr dirty="0" sz="1250" spc="-2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size</a:t>
            </a:r>
            <a:r>
              <a:rPr dirty="0" sz="1250" spc="-45">
                <a:latin typeface="Calibri"/>
                <a:cs typeface="Calibri"/>
              </a:rPr>
              <a:t> </a:t>
            </a:r>
            <a:r>
              <a:rPr dirty="0" sz="1250" spc="-35">
                <a:solidFill>
                  <a:srgbClr val="0F0F0F"/>
                </a:solidFill>
                <a:latin typeface="Calibri"/>
                <a:cs typeface="Calibri"/>
              </a:rPr>
              <a:t>and</a:t>
            </a:r>
            <a:r>
              <a:rPr dirty="0" sz="1250" spc="-25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dirty="0" sz="1250" spc="-35">
                <a:latin typeface="Calibri"/>
                <a:cs typeface="Calibri"/>
              </a:rPr>
              <a:t>token</a:t>
            </a:r>
            <a:r>
              <a:rPr dirty="0" sz="1250" spc="35">
                <a:latin typeface="Calibri"/>
                <a:cs typeface="Calibri"/>
              </a:rPr>
              <a:t> </a:t>
            </a:r>
            <a:r>
              <a:rPr dirty="0" sz="1250" spc="-114">
                <a:latin typeface="Calibri"/>
                <a:cs typeface="Calibri"/>
              </a:rPr>
              <a:t>/</a:t>
            </a:r>
            <a:r>
              <a:rPr dirty="0" sz="1250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Bob</a:t>
            </a:r>
            <a:r>
              <a:rPr dirty="0" sz="1250" spc="-50"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0A0A"/>
                </a:solidFill>
                <a:latin typeface="Calibri"/>
                <a:cs typeface="Calibri"/>
              </a:rPr>
              <a:t>Coin </a:t>
            </a:r>
            <a:r>
              <a:rPr dirty="0" sz="1250" spc="-10">
                <a:latin typeface="Calibri"/>
                <a:cs typeface="Calibri"/>
              </a:rPr>
              <a:t>consumption.</a:t>
            </a:r>
            <a:r>
              <a:rPr dirty="0" sz="1250" spc="500"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Elements</a:t>
            </a:r>
            <a:r>
              <a:rPr dirty="0" sz="1250" spc="15"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are</a:t>
            </a:r>
            <a:r>
              <a:rPr dirty="0" sz="1250" spc="-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still</a:t>
            </a:r>
            <a:r>
              <a:rPr dirty="0" sz="1250" spc="-55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created</a:t>
            </a:r>
            <a:r>
              <a:rPr dirty="0" sz="1250" spc="10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independently, </a:t>
            </a:r>
            <a:r>
              <a:rPr dirty="0" sz="1250" spc="-50">
                <a:latin typeface="Calibri"/>
                <a:cs typeface="Calibri"/>
              </a:rPr>
              <a:t>need</a:t>
            </a:r>
            <a:r>
              <a:rPr dirty="0" sz="1250" spc="-20"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2D2D2D"/>
                </a:solidFill>
                <a:latin typeface="Calibri"/>
                <a:cs typeface="Calibri"/>
              </a:rPr>
              <a:t>a</a:t>
            </a:r>
            <a:r>
              <a:rPr dirty="0" sz="1250" spc="-1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shared</a:t>
            </a:r>
            <a:r>
              <a:rPr dirty="0" sz="1250" spc="-30"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dirty="0" sz="1250" spc="4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validated</a:t>
            </a:r>
            <a:r>
              <a:rPr dirty="0" sz="1250" spc="40"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0A0A0A"/>
                </a:solidFill>
                <a:latin typeface="Calibri"/>
                <a:cs typeface="Calibri"/>
              </a:rPr>
              <a:t>repository. </a:t>
            </a:r>
            <a:r>
              <a:rPr dirty="0" sz="1250" spc="-40">
                <a:latin typeface="Calibri"/>
                <a:cs typeface="Calibri"/>
              </a:rPr>
              <a:t>Not</a:t>
            </a:r>
            <a:r>
              <a:rPr dirty="0" sz="1250" spc="-35"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0E0E0E"/>
                </a:solidFill>
                <a:latin typeface="Calibri"/>
                <a:cs typeface="Calibri"/>
              </a:rPr>
              <a:t>all</a:t>
            </a:r>
            <a:r>
              <a:rPr dirty="0" sz="1250" spc="-9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developers</a:t>
            </a:r>
            <a:r>
              <a:rPr dirty="0" sz="1250" spc="45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have</a:t>
            </a:r>
            <a:r>
              <a:rPr dirty="0" sz="1250" spc="10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access</a:t>
            </a:r>
            <a:r>
              <a:rPr dirty="0" sz="1250" spc="-5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to</a:t>
            </a:r>
            <a:r>
              <a:rPr dirty="0" sz="1250" spc="-20">
                <a:latin typeface="Calibri"/>
                <a:cs typeface="Calibri"/>
              </a:rPr>
              <a:t> BOB,</a:t>
            </a:r>
            <a:r>
              <a:rPr dirty="0" sz="1250" spc="-30">
                <a:latin typeface="Calibri"/>
                <a:cs typeface="Calibri"/>
              </a:rPr>
              <a:t> </a:t>
            </a:r>
            <a:r>
              <a:rPr dirty="0" sz="1250" spc="-35">
                <a:latin typeface="Calibri"/>
                <a:cs typeface="Calibri"/>
              </a:rPr>
              <a:t>creating</a:t>
            </a:r>
            <a:r>
              <a:rPr dirty="0" sz="1250" spc="50"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different</a:t>
            </a:r>
            <a:r>
              <a:rPr dirty="0" sz="1250" spc="20"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working</a:t>
            </a:r>
            <a:r>
              <a:rPr dirty="0" sz="1250" spc="35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practices.</a:t>
            </a:r>
            <a:endParaRPr sz="125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560"/>
              </a:spcBef>
            </a:pPr>
            <a:r>
              <a:rPr dirty="0" sz="1250" spc="-10">
                <a:solidFill>
                  <a:srgbClr val="0C0C0C"/>
                </a:solidFill>
                <a:latin typeface="Calibri"/>
                <a:cs typeface="Calibri"/>
              </a:rPr>
              <a:t>Still</a:t>
            </a:r>
            <a:r>
              <a:rPr dirty="0" sz="1250" spc="-65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dirty="0" sz="1250" spc="-50">
                <a:latin typeface="Calibri"/>
                <a:cs typeface="Calibri"/>
              </a:rPr>
              <a:t>limited,</a:t>
            </a:r>
            <a:r>
              <a:rPr dirty="0" sz="1250" spc="-20">
                <a:latin typeface="Calibri"/>
                <a:cs typeface="Calibri"/>
              </a:rPr>
              <a:t> </a:t>
            </a:r>
            <a:r>
              <a:rPr dirty="0" sz="1250" spc="-35">
                <a:latin typeface="Calibri"/>
                <a:cs typeface="Calibri"/>
              </a:rPr>
              <a:t>existing</a:t>
            </a:r>
            <a:r>
              <a:rPr dirty="0" sz="1250" spc="10">
                <a:latin typeface="Calibri"/>
                <a:cs typeface="Calibri"/>
              </a:rPr>
              <a:t> </a:t>
            </a:r>
            <a:r>
              <a:rPr dirty="0" sz="1250" spc="-50">
                <a:latin typeface="Calibri"/>
                <a:cs typeface="Calibri"/>
              </a:rPr>
              <a:t>integrations</a:t>
            </a:r>
            <a:r>
              <a:rPr dirty="0" sz="1250" spc="40"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are</a:t>
            </a:r>
            <a:r>
              <a:rPr dirty="0" sz="1250" spc="-5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not</a:t>
            </a:r>
            <a:r>
              <a:rPr dirty="0" sz="1250">
                <a:latin typeface="Calibri"/>
                <a:cs typeface="Calibri"/>
              </a:rPr>
              <a:t> </a:t>
            </a:r>
            <a:r>
              <a:rPr dirty="0" sz="1250" spc="-65">
                <a:latin typeface="Calibri"/>
                <a:cs typeface="Calibri"/>
              </a:rPr>
              <a:t>yet</a:t>
            </a:r>
            <a:r>
              <a:rPr dirty="0" sz="1250" spc="-10">
                <a:latin typeface="Calibri"/>
                <a:cs typeface="Calibri"/>
              </a:rPr>
              <a:t> </a:t>
            </a:r>
            <a:r>
              <a:rPr dirty="0" sz="1250" spc="-55">
                <a:latin typeface="Calibri"/>
                <a:cs typeface="Calibri"/>
              </a:rPr>
              <a:t>widely</a:t>
            </a:r>
            <a:r>
              <a:rPr dirty="0" sz="1250" spc="15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shared.</a:t>
            </a:r>
            <a:endParaRPr sz="125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640"/>
              </a:spcBef>
            </a:pPr>
            <a:r>
              <a:rPr dirty="0" sz="1250" spc="-50">
                <a:latin typeface="Calibri"/>
                <a:cs typeface="Calibri"/>
              </a:rPr>
              <a:t>Some</a:t>
            </a:r>
            <a:r>
              <a:rPr dirty="0" sz="1250" spc="-25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users</a:t>
            </a:r>
            <a:r>
              <a:rPr dirty="0" sz="1250" spc="-50">
                <a:latin typeface="Calibri"/>
                <a:cs typeface="Calibri"/>
              </a:rPr>
              <a:t> reported</a:t>
            </a:r>
            <a:r>
              <a:rPr dirty="0" sz="1250" spc="-5">
                <a:latin typeface="Calibri"/>
                <a:cs typeface="Calibri"/>
              </a:rPr>
              <a:t> </a:t>
            </a:r>
            <a:r>
              <a:rPr dirty="0" sz="1250" spc="-10">
                <a:latin typeface="Calibri"/>
                <a:cs typeface="Calibri"/>
              </a:rPr>
              <a:t>issues</a:t>
            </a:r>
            <a:r>
              <a:rPr dirty="0" sz="1250" spc="10">
                <a:latin typeface="Calibri"/>
                <a:cs typeface="Calibri"/>
              </a:rPr>
              <a:t> </a:t>
            </a:r>
            <a:r>
              <a:rPr dirty="0" sz="1250" spc="-50">
                <a:latin typeface="Calibri"/>
                <a:cs typeface="Calibri"/>
              </a:rPr>
              <a:t>with</a:t>
            </a:r>
            <a:r>
              <a:rPr dirty="0" sz="1250" spc="-20"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installation,</a:t>
            </a:r>
            <a:r>
              <a:rPr dirty="0" sz="1250" spc="55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proxy</a:t>
            </a:r>
            <a:r>
              <a:rPr dirty="0" sz="1250" spc="20">
                <a:latin typeface="Calibri"/>
                <a:cs typeface="Calibri"/>
              </a:rPr>
              <a:t> </a:t>
            </a:r>
            <a:r>
              <a:rPr dirty="0" sz="1250" spc="-20">
                <a:latin typeface="Calibri"/>
                <a:cs typeface="Calibri"/>
              </a:rPr>
              <a:t>or</a:t>
            </a:r>
            <a:r>
              <a:rPr dirty="0" sz="1250" spc="-40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requests</a:t>
            </a:r>
            <a:r>
              <a:rPr dirty="0" sz="1250" spc="30">
                <a:latin typeface="Calibri"/>
                <a:cs typeface="Calibri"/>
              </a:rPr>
              <a:t> </a:t>
            </a:r>
            <a:r>
              <a:rPr dirty="0" sz="1250" spc="-40">
                <a:latin typeface="Calibri"/>
                <a:cs typeface="Calibri"/>
              </a:rPr>
              <a:t>not</a:t>
            </a:r>
            <a:r>
              <a:rPr dirty="0" sz="1250" spc="-30">
                <a:latin typeface="Calibri"/>
                <a:cs typeface="Calibri"/>
              </a:rPr>
              <a:t> </a:t>
            </a:r>
            <a:r>
              <a:rPr dirty="0" sz="1250" spc="-45">
                <a:latin typeface="Calibri"/>
                <a:cs typeface="Calibri"/>
              </a:rPr>
              <a:t>completing</a:t>
            </a:r>
            <a:r>
              <a:rPr dirty="0" sz="1250" spc="3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in</a:t>
            </a:r>
            <a:r>
              <a:rPr dirty="0" sz="1250" spc="-20">
                <a:latin typeface="Calibri"/>
                <a:cs typeface="Calibri"/>
              </a:rPr>
              <a:t> IDE.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" y="4785359"/>
            <a:ext cx="402335" cy="4023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8747" y="4780279"/>
            <a:ext cx="150050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spc="-30" b="1">
                <a:latin typeface="Calibri"/>
                <a:cs typeface="Calibri"/>
              </a:rPr>
              <a:t>DNp</a:t>
            </a:r>
            <a:r>
              <a:rPr dirty="0" sz="2100" spc="-75" b="1">
                <a:latin typeface="Calibri"/>
                <a:cs typeface="Calibri"/>
              </a:rPr>
              <a:t> </a:t>
            </a:r>
            <a:r>
              <a:rPr dirty="0" sz="2100" spc="-10" b="1">
                <a:latin typeface="Calibri"/>
                <a:cs typeface="Calibri"/>
              </a:rPr>
              <a:t>eAnioAs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1007" y="4877308"/>
            <a:ext cx="1181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">
                <a:latin typeface="Calibri"/>
                <a:cs typeface="Calibri"/>
              </a:rPr>
              <a:t>AI@IT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1D1D1D"/>
                </a:solidFill>
                <a:latin typeface="Calibri"/>
                <a:cs typeface="Calibri"/>
              </a:rPr>
              <a:t>Payment</a:t>
            </a:r>
            <a:r>
              <a:rPr dirty="0" sz="1000" spc="5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D1D1D"/>
                </a:solidFill>
                <a:latin typeface="Calibri"/>
                <a:cs typeface="Calibri"/>
              </a:rPr>
              <a:t>Services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89092" y="4877308"/>
            <a:ext cx="6134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0F0F0F"/>
                </a:solidFill>
                <a:latin typeface="Calibri"/>
                <a:cs typeface="Calibri"/>
              </a:rPr>
              <a:t>06/10/2026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0">
                <a:solidFill>
                  <a:srgbClr val="0A895D"/>
                </a:solidFill>
              </a:rPr>
              <a:t>Main</a:t>
            </a:r>
            <a:r>
              <a:rPr dirty="0" spc="-120">
                <a:solidFill>
                  <a:srgbClr val="0A895D"/>
                </a:solidFill>
              </a:rPr>
              <a:t> </a:t>
            </a:r>
            <a:r>
              <a:rPr dirty="0" spc="-200">
                <a:solidFill>
                  <a:srgbClr val="0E7552"/>
                </a:solidFill>
              </a:rPr>
              <a:t>pain</a:t>
            </a:r>
            <a:r>
              <a:rPr dirty="0" spc="-165">
                <a:solidFill>
                  <a:srgbClr val="0E7552"/>
                </a:solidFill>
              </a:rPr>
              <a:t> </a:t>
            </a:r>
            <a:r>
              <a:rPr dirty="0" spc="-105"/>
              <a:t>points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353655" y="347217"/>
            <a:ext cx="114617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79DD08"/>
                </a:solidFill>
                <a:latin typeface="Arial"/>
                <a:cs typeface="Arial"/>
              </a:rPr>
              <a:t>QT</a:t>
            </a:r>
            <a:r>
              <a:rPr dirty="0" sz="1750" spc="300">
                <a:solidFill>
                  <a:srgbClr val="79DD08"/>
                </a:solidFill>
                <a:latin typeface="Arial"/>
                <a:cs typeface="Arial"/>
              </a:rPr>
              <a:t> </a:t>
            </a:r>
            <a:r>
              <a:rPr dirty="0" sz="1750" spc="-160">
                <a:solidFill>
                  <a:srgbClr val="313131"/>
                </a:solidFill>
                <a:latin typeface="Arial"/>
                <a:cs typeface="Arial"/>
              </a:rPr>
              <a:t>GROUP</a:t>
            </a:r>
            <a:endParaRPr sz="17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456" y="1036319"/>
            <a:ext cx="9326880" cy="3474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9391" y="1493519"/>
            <a:ext cx="176784" cy="18287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14513" y="1484629"/>
            <a:ext cx="11252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85">
                <a:latin typeface="Arial"/>
                <a:cs typeface="Arial"/>
              </a:rPr>
              <a:t>Context</a:t>
            </a:r>
            <a:r>
              <a:rPr dirty="0" sz="1050" spc="35">
                <a:latin typeface="Arial"/>
                <a:cs typeface="Arial"/>
              </a:rPr>
              <a:t> </a:t>
            </a:r>
            <a:r>
              <a:rPr dirty="0" sz="1050" spc="-65">
                <a:solidFill>
                  <a:srgbClr val="181818"/>
                </a:solidFill>
                <a:latin typeface="Arial"/>
                <a:cs typeface="Arial"/>
              </a:rPr>
              <a:t>consumption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44413" y="1417828"/>
            <a:ext cx="3082925" cy="325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150"/>
              </a:lnSpc>
              <a:spcBef>
                <a:spcPts val="100"/>
              </a:spcBef>
            </a:pPr>
            <a:r>
              <a:rPr dirty="0" sz="1000" spc="-50">
                <a:solidFill>
                  <a:srgbClr val="212121"/>
                </a:solidFill>
                <a:latin typeface="Arial"/>
                <a:cs typeface="Arial"/>
              </a:rPr>
              <a:t>Long</a:t>
            </a:r>
            <a:r>
              <a:rPr dirty="0" sz="1000" spc="-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181818"/>
                </a:solidFill>
                <a:latin typeface="Arial"/>
                <a:cs typeface="Arial"/>
              </a:rPr>
              <a:t>sessions</a:t>
            </a:r>
            <a:r>
              <a:rPr dirty="0" sz="100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000" spc="-4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1D1D1D"/>
                </a:solidFill>
                <a:latin typeface="Arial"/>
                <a:cs typeface="Arial"/>
              </a:rPr>
              <a:t>iterative</a:t>
            </a:r>
            <a:r>
              <a:rPr dirty="0" sz="1000" spc="-3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1C1C1C"/>
                </a:solidFill>
                <a:latin typeface="Arial"/>
                <a:cs typeface="Arial"/>
              </a:rPr>
              <a:t>prompts</a:t>
            </a:r>
            <a:r>
              <a:rPr dirty="0" sz="1000" spc="-4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333333"/>
                </a:solidFill>
                <a:latin typeface="Arial"/>
                <a:cs typeface="Arial"/>
              </a:rPr>
              <a:t>increase</a:t>
            </a:r>
            <a:r>
              <a:rPr dirty="0" sz="100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0F0F0F"/>
                </a:solidFill>
                <a:latin typeface="Arial"/>
                <a:cs typeface="Arial"/>
              </a:rPr>
              <a:t>context</a:t>
            </a:r>
            <a:r>
              <a:rPr dirty="0" sz="1000" spc="4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F2F2F"/>
                </a:solidFill>
                <a:latin typeface="Arial"/>
                <a:cs typeface="Arial"/>
              </a:rPr>
              <a:t>size</a:t>
            </a:r>
            <a:endParaRPr sz="1000">
              <a:latin typeface="Arial"/>
              <a:cs typeface="Arial"/>
            </a:endParaRPr>
          </a:p>
          <a:p>
            <a:pPr marL="22860">
              <a:lnSpc>
                <a:spcPts val="1210"/>
              </a:lnSpc>
            </a:pPr>
            <a:r>
              <a:rPr dirty="0" sz="1050" spc="-80">
                <a:solidFill>
                  <a:srgbClr val="3A3A3A"/>
                </a:solidFill>
                <a:latin typeface="Arial"/>
                <a:cs typeface="Arial"/>
              </a:rPr>
              <a:t>and</a:t>
            </a:r>
            <a:r>
              <a:rPr dirty="0" sz="1050" spc="-105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3D3D3D"/>
                </a:solidFill>
                <a:latin typeface="Arial"/>
                <a:cs typeface="Arial"/>
              </a:rPr>
              <a:t>Bob</a:t>
            </a:r>
            <a:r>
              <a:rPr dirty="0" sz="1050" spc="-45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1F1F1F"/>
                </a:solidFill>
                <a:latin typeface="Arial"/>
                <a:cs typeface="Arial"/>
              </a:rPr>
              <a:t>Coin</a:t>
            </a:r>
            <a:r>
              <a:rPr dirty="0" sz="1050" spc="-5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0C0C0C"/>
                </a:solidFill>
                <a:latin typeface="Arial"/>
                <a:cs typeface="Arial"/>
              </a:rPr>
              <a:t>consumption.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1338" y="1881123"/>
            <a:ext cx="14103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0F0F0F"/>
                </a:solidFill>
                <a:latin typeface="Arial"/>
                <a:cs typeface="Arial"/>
              </a:rPr>
              <a:t>Skills</a:t>
            </a:r>
            <a:r>
              <a:rPr dirty="0" sz="1000">
                <a:solidFill>
                  <a:srgbClr val="5E5E5E"/>
                </a:solidFill>
                <a:latin typeface="Arial"/>
                <a:cs typeface="Arial"/>
              </a:rPr>
              <a:t>/</a:t>
            </a:r>
            <a:r>
              <a:rPr dirty="0" sz="1000" spc="-25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dirty="0" sz="1000" spc="-75">
                <a:latin typeface="Arial"/>
                <a:cs typeface="Arial"/>
              </a:rPr>
              <a:t>Rules</a:t>
            </a:r>
            <a:r>
              <a:rPr dirty="0" sz="1000" spc="-35"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0F0F0F"/>
                </a:solidFill>
                <a:latin typeface="Arial"/>
                <a:cs typeface="Arial"/>
              </a:rPr>
              <a:t>fragrr›eritation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65516" y="1947926"/>
            <a:ext cx="158813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161616"/>
                </a:solidFill>
                <a:latin typeface="Arial"/>
                <a:cs typeface="Arial"/>
              </a:rPr>
              <a:t>without</a:t>
            </a:r>
            <a:r>
              <a:rPr dirty="0" sz="1050" spc="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363636"/>
                </a:solidFill>
                <a:latin typeface="Arial"/>
                <a:cs typeface="Arial"/>
              </a:rPr>
              <a:t>a</a:t>
            </a:r>
            <a:r>
              <a:rPr dirty="0" sz="1050" spc="-8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050" spc="-85">
                <a:solidFill>
                  <a:srgbClr val="343434"/>
                </a:solidFill>
                <a:latin typeface="Arial"/>
                <a:cs typeface="Arial"/>
              </a:rPr>
              <a:t>common</a:t>
            </a:r>
            <a:r>
              <a:rPr dirty="0" sz="10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131313"/>
                </a:solidFill>
                <a:latin typeface="Arial"/>
                <a:cs typeface="Arial"/>
              </a:rPr>
              <a:t>repository.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33526" y="1931670"/>
            <a:ext cx="50165" cy="12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solidFill>
                  <a:srgbClr val="1C1C1C"/>
                </a:solidFill>
                <a:latin typeface="Arial"/>
                <a:cs typeface="Arial"/>
              </a:rPr>
              <a:t>’</a:t>
            </a:r>
            <a:endParaRPr sz="6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66371" y="1883664"/>
            <a:ext cx="4870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35">
                <a:solidFill>
                  <a:srgbClr val="1C1C1C"/>
                </a:solidFill>
                <a:latin typeface="Arial"/>
                <a:cs typeface="Arial"/>
              </a:rPr>
              <a:t>"</a:t>
            </a:r>
            <a:r>
              <a:rPr dirty="0" sz="1100" spc="-11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100" spc="140">
                <a:solidFill>
                  <a:srgbClr val="1C1C1C"/>
                </a:solidFill>
                <a:latin typeface="Arial"/>
                <a:cs typeface="Arial"/>
              </a:rPr>
              <a:t>*”</a:t>
            </a:r>
            <a:r>
              <a:rPr dirty="0" sz="1100" spc="434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100" spc="70">
                <a:solidFill>
                  <a:srgbClr val="1C1C1C"/>
                </a:solidFill>
                <a:latin typeface="Arial"/>
                <a:cs typeface="Arial"/>
              </a:rPr>
              <a:t>'</a:t>
            </a:r>
            <a:r>
              <a:rPr dirty="0" sz="1100" spc="21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1C1C1C"/>
                </a:solidFill>
                <a:latin typeface="Arial"/>
                <a:cs typeface="Arial"/>
              </a:rPr>
              <a:t>'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62782" y="1751076"/>
            <a:ext cx="32639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4800" algn="l"/>
              </a:tabLst>
            </a:pPr>
            <a:r>
              <a:rPr dirty="0" sz="1050" spc="-125">
                <a:solidFill>
                  <a:srgbClr val="232323"/>
                </a:solidFill>
                <a:latin typeface="Arial"/>
                <a:cs typeface="Arial"/>
              </a:rPr>
              <a:t>Teams</a:t>
            </a:r>
            <a:r>
              <a:rPr dirty="0" sz="1050" spc="-4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050" spc="-55">
                <a:solidFill>
                  <a:srgbClr val="424242"/>
                </a:solidFill>
                <a:latin typeface="Arial"/>
                <a:cs typeface="Arial"/>
              </a:rPr>
              <a:t>are</a:t>
            </a:r>
            <a:r>
              <a:rPr dirty="0" sz="1050" spc="-9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1050" spc="-60">
                <a:solidFill>
                  <a:srgbClr val="333333"/>
                </a:solidFill>
                <a:latin typeface="Arial"/>
                <a:cs typeface="Arial"/>
              </a:rPr>
              <a:t>creating</a:t>
            </a:r>
            <a:r>
              <a:rPr dirty="0" sz="1050" spc="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their</a:t>
            </a:r>
            <a:r>
              <a:rPr dirty="0" sz="1050" spc="-5"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2D2D2D"/>
                </a:solidFill>
                <a:latin typeface="Arial"/>
                <a:cs typeface="Arial"/>
              </a:rPr>
              <a:t>own</a:t>
            </a:r>
            <a:r>
              <a:rPr dirty="0" sz="1050" spc="-4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050" spc="-75">
                <a:solidFill>
                  <a:srgbClr val="1F1F1F"/>
                </a:solidFill>
                <a:latin typeface="Arial"/>
                <a:cs typeface="Arial"/>
              </a:rPr>
              <a:t>Skills,</a:t>
            </a:r>
            <a:r>
              <a:rPr dirty="0" sz="1050" spc="-4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50" spc="-110">
                <a:solidFill>
                  <a:srgbClr val="1A1A1A"/>
                </a:solidFill>
                <a:latin typeface="Arial"/>
                <a:cs typeface="Arial"/>
              </a:rPr>
              <a:t>Rules</a:t>
            </a:r>
            <a:r>
              <a:rPr dirty="0" sz="1050" spc="2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050" spc="-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82828"/>
                </a:solidFill>
                <a:latin typeface="Arial"/>
                <a:cs typeface="Arial"/>
              </a:rPr>
              <a:t>.md</a:t>
            </a:r>
            <a:r>
              <a:rPr dirty="0" sz="105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dirty="0" sz="750" spc="190">
                <a:solidFill>
                  <a:srgbClr val="1C1C1C"/>
                </a:solidFill>
                <a:latin typeface="Arial"/>
                <a:cs typeface="Arial"/>
              </a:rPr>
              <a:t>U</a:t>
            </a:r>
            <a:r>
              <a:rPr dirty="0" sz="750" spc="7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400" spc="135">
                <a:solidFill>
                  <a:srgbClr val="1C1C1C"/>
                </a:solidFill>
                <a:latin typeface="Arial"/>
                <a:cs typeface="Arial"/>
              </a:rPr>
              <a:t>t</a:t>
            </a:r>
            <a:r>
              <a:rPr dirty="0" sz="1400" spc="32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300" spc="-195">
                <a:solidFill>
                  <a:srgbClr val="1C1C1C"/>
                </a:solidFill>
                <a:latin typeface="Arial"/>
                <a:cs typeface="Arial"/>
              </a:rPr>
              <a:t>ns</a:t>
            </a:r>
            <a:endParaRPr sz="1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3295" y="2286000"/>
            <a:ext cx="182879" cy="18288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178444" y="2271014"/>
            <a:ext cx="9988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90">
                <a:solidFill>
                  <a:srgbClr val="0A0A0A"/>
                </a:solidFill>
                <a:latin typeface="Arial"/>
                <a:cs typeface="Arial"/>
              </a:rPr>
              <a:t>Licence</a:t>
            </a:r>
            <a:r>
              <a:rPr dirty="0" sz="1050" spc="45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availability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46464" y="2237232"/>
            <a:ext cx="274320" cy="28041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9391" y="2694432"/>
            <a:ext cx="176784" cy="18288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94610" y="2685795"/>
            <a:ext cx="7734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solidFill>
                  <a:srgbClr val="1C1C1C"/>
                </a:solidFill>
                <a:latin typeface="Arial"/>
                <a:cs typeface="Arial"/>
              </a:rPr>
              <a:t>MCP</a:t>
            </a:r>
            <a:r>
              <a:rPr dirty="0" sz="1000" spc="-5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51515"/>
                </a:solidFill>
                <a:latin typeface="Arial"/>
                <a:cs typeface="Arial"/>
              </a:rPr>
              <a:t>adoption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9391" y="3108960"/>
            <a:ext cx="176784" cy="18288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261118" y="3097022"/>
            <a:ext cx="8153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14">
                <a:solidFill>
                  <a:srgbClr val="212121"/>
                </a:solidFill>
                <a:latin typeface="Arial"/>
                <a:cs typeface="Arial"/>
              </a:rPr>
              <a:t>IDE</a:t>
            </a:r>
            <a:r>
              <a:rPr dirty="0" sz="10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0F0F0F"/>
                </a:solidFill>
                <a:latin typeface="Arial"/>
                <a:cs typeface="Arial"/>
              </a:rPr>
              <a:t>integration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9391" y="3535679"/>
            <a:ext cx="176784" cy="17678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169678" y="3520694"/>
            <a:ext cx="10134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latin typeface="Arial"/>
                <a:cs typeface="Arial"/>
              </a:rPr>
              <a:t>Installation</a:t>
            </a:r>
            <a:r>
              <a:rPr dirty="0" sz="1050" spc="20"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D5D5D"/>
                </a:solidFill>
                <a:latin typeface="Arial"/>
                <a:cs typeface="Arial"/>
              </a:rPr>
              <a:t>/</a:t>
            </a:r>
            <a:r>
              <a:rPr dirty="0" sz="1050" spc="2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Proxy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9391" y="3944111"/>
            <a:ext cx="176784" cy="18288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45500" y="3935221"/>
            <a:ext cx="8724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80">
                <a:solidFill>
                  <a:srgbClr val="313131"/>
                </a:solidFill>
                <a:latin typeface="Arial"/>
                <a:cs typeface="Arial"/>
              </a:rPr>
              <a:t>Bob</a:t>
            </a:r>
            <a:r>
              <a:rPr dirty="0" sz="1050" spc="-6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050" spc="-75">
                <a:solidFill>
                  <a:srgbClr val="1A1A1A"/>
                </a:solidFill>
                <a:latin typeface="Arial"/>
                <a:cs typeface="Arial"/>
              </a:rPr>
              <a:t>Coin</a:t>
            </a:r>
            <a:r>
              <a:rPr dirty="0" sz="1050" spc="-4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161616"/>
                </a:solidFill>
                <a:latin typeface="Arial"/>
                <a:cs typeface="Arial"/>
              </a:rPr>
              <a:t>reload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86289" y="4349750"/>
            <a:ext cx="11969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5">
                <a:solidFill>
                  <a:srgbClr val="2A2A2A"/>
                </a:solidFill>
                <a:latin typeface="Arial"/>
                <a:cs typeface="Arial"/>
              </a:rPr>
              <a:t>Usage</a:t>
            </a:r>
            <a:r>
              <a:rPr dirty="0" sz="1050" spc="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50" spc="-55">
                <a:solidFill>
                  <a:srgbClr val="111111"/>
                </a:solidFill>
                <a:latin typeface="Arial"/>
                <a:cs typeface="Arial"/>
              </a:rPr>
              <a:t>policy</a:t>
            </a:r>
            <a:r>
              <a:rPr dirty="0" sz="1050" spc="-2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5D5D5D"/>
                </a:solidFill>
                <a:latin typeface="Arial"/>
                <a:cs typeface="Arial"/>
              </a:rPr>
              <a:t>/</a:t>
            </a:r>
            <a:r>
              <a:rPr dirty="0" sz="1050" spc="5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1050" spc="-55">
                <a:solidFill>
                  <a:srgbClr val="161616"/>
                </a:solidFill>
                <a:latin typeface="Arial"/>
                <a:cs typeface="Arial"/>
              </a:rPr>
              <a:t>Charter</a:t>
            </a:r>
            <a:endParaRPr sz="1050">
              <a:latin typeface="Arial"/>
              <a:cs typeface="Arial"/>
            </a:endParaRPr>
          </a:p>
        </p:txBody>
      </p: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106957" y="1521806"/>
          <a:ext cx="2707640" cy="3001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8675"/>
                <a:gridCol w="882014"/>
                <a:gridCol w="920114"/>
              </a:tblGrid>
              <a:tr h="264795">
                <a:tc>
                  <a:txBody>
                    <a:bodyPr/>
                    <a:lstStyle/>
                    <a:p>
                      <a:pPr marL="32384">
                        <a:lnSpc>
                          <a:spcPts val="1105"/>
                        </a:lnSpc>
                      </a:pPr>
                      <a:r>
                        <a:rPr dirty="0" sz="1000" spc="-10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06/10/2026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1105"/>
                        </a:lnSpc>
                      </a:pPr>
                      <a:r>
                        <a:rPr dirty="0" sz="1000" spc="-8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BOB</a:t>
                      </a:r>
                      <a:r>
                        <a:rPr dirty="0" sz="1000" spc="1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team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4610">
                        <a:lnSpc>
                          <a:spcPts val="1105"/>
                        </a:lnSpc>
                      </a:pPr>
                      <a:r>
                        <a:rPr dirty="0" sz="1000" spc="-1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Investigating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3968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100" spc="-10">
                          <a:solidFill>
                            <a:srgbClr val="161616"/>
                          </a:solidFill>
                          <a:latin typeface="Arial"/>
                          <a:cs typeface="Arial"/>
                        </a:rPr>
                        <a:t>06/10/2026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9220"/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100" spc="-70"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10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>
                          <a:solidFill>
                            <a:srgbClr val="2F2F2F"/>
                          </a:solidFill>
                          <a:latin typeface="Arial"/>
                          <a:cs typeface="Arial"/>
                        </a:rPr>
                        <a:t>PS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9220"/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dirty="0" sz="1100" spc="-6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100" spc="-75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0A0A0A"/>
                          </a:solidFill>
                          <a:latin typeface="Arial"/>
                          <a:cs typeface="Arial"/>
                        </a:rPr>
                        <a:t>progr,e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09220"/>
                </a:tc>
              </a:tr>
              <a:tr h="3956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1050" spc="-10">
                          <a:solidFill>
                            <a:srgbClr val="151515"/>
                          </a:solidFill>
                          <a:latin typeface="Arial"/>
                          <a:cs typeface="Arial"/>
                        </a:rPr>
                        <a:t>06/10/2026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05410"/>
                </a:tc>
                <a:tc>
                  <a:txBody>
                    <a:bodyPr/>
                    <a:lstStyle/>
                    <a:p>
                      <a:pPr algn="ctr" marL="26034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1050" spc="-7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dirty="0" sz="1050" spc="-45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Group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05410"/>
                </a:tc>
                <a:tc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830"/>
                        </a:spcBef>
                      </a:pPr>
                      <a:r>
                        <a:rPr dirty="0" sz="1050" spc="-10">
                          <a:solidFill>
                            <a:srgbClr val="161616"/>
                          </a:solidFill>
                          <a:latin typeface="Arial"/>
                          <a:cs typeface="Arial"/>
                        </a:rPr>
                        <a:t>Pending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05410"/>
                </a:tc>
              </a:tr>
              <a:tr h="4210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150" spc="-3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06/</a:t>
                      </a:r>
                      <a:r>
                        <a:rPr dirty="0" sz="1150" spc="85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>
                          <a:solidFill>
                            <a:srgbClr val="414141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150" spc="-55">
                          <a:solidFill>
                            <a:srgbClr val="4141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2026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114300"/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150" spc="-19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BOB</a:t>
                      </a:r>
                      <a:r>
                        <a:rPr dirty="0" sz="1150" spc="-15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solidFill>
                            <a:srgbClr val="0C0C0C"/>
                          </a:solidFill>
                          <a:latin typeface="Arial"/>
                          <a:cs typeface="Arial"/>
                        </a:rPr>
                        <a:t>team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114300"/>
                </a:tc>
                <a:tc>
                  <a:txBody>
                    <a:bodyPr/>
                    <a:lstStyle/>
                    <a:p>
                      <a:pPr marL="249554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dirty="0" sz="1150" spc="-90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150" spc="-105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progre›,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114300"/>
                </a:tc>
              </a:tr>
              <a:tr h="404495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000" spc="-10">
                          <a:solidFill>
                            <a:srgbClr val="363636"/>
                          </a:solidFill>
                          <a:latin typeface="Arial"/>
                          <a:cs typeface="Arial"/>
                        </a:rPr>
                        <a:t>06/10/2026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17475"/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000" spc="-8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BOB</a:t>
                      </a:r>
                      <a:r>
                        <a:rPr dirty="0" sz="1000" spc="1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20">
                          <a:solidFill>
                            <a:srgbClr val="1A1A1A"/>
                          </a:solidFill>
                          <a:latin typeface="Arial"/>
                          <a:cs typeface="Arial"/>
                        </a:rPr>
                        <a:t>team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1747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000" spc="-125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investigate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17475"/>
                </a:tc>
              </a:tr>
              <a:tr h="426720">
                <a:tc>
                  <a:txBody>
                    <a:bodyPr/>
                    <a:lstStyle/>
                    <a:p>
                      <a:pPr marL="32384"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r>
                        <a:rPr dirty="0" sz="10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06/10/2026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39065"/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000" spc="-10">
                          <a:solidFill>
                            <a:srgbClr val="1C1C1C"/>
                          </a:solidFill>
                          <a:latin typeface="Arial"/>
                          <a:cs typeface="Arial"/>
                        </a:rPr>
                        <a:t>Support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2128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000" spc="-125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00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00" spc="-10">
                          <a:latin typeface="Arial"/>
                          <a:cs typeface="Arial"/>
                        </a:rPr>
                        <a:t>investigate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21285"/>
                </a:tc>
              </a:tr>
              <a:tr h="4146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06/10/2026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20650"/>
                </a:tc>
                <a:tc>
                  <a:txBody>
                    <a:bodyPr/>
                    <a:lstStyle/>
                    <a:p>
                      <a:pPr algn="ctr" marL="2159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114">
                          <a:solidFill>
                            <a:srgbClr val="414141"/>
                          </a:solidFill>
                          <a:latin typeface="Arial"/>
                          <a:cs typeface="Arial"/>
                        </a:rPr>
                        <a:t>BOB</a:t>
                      </a:r>
                      <a:r>
                        <a:rPr dirty="0" sz="1050" spc="-5">
                          <a:solidFill>
                            <a:srgbClr val="41414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0">
                          <a:solidFill>
                            <a:srgbClr val="1D1D1D"/>
                          </a:solidFill>
                          <a:latin typeface="Arial"/>
                          <a:cs typeface="Arial"/>
                        </a:rPr>
                        <a:t>team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20650"/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050" spc="-6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Follow</a:t>
                      </a:r>
                      <a:r>
                        <a:rPr dirty="0" sz="1050" spc="20">
                          <a:solidFill>
                            <a:srgbClr val="2D2D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>
                          <a:solidFill>
                            <a:srgbClr val="3D3D3D"/>
                          </a:solidFill>
                          <a:latin typeface="Arial"/>
                          <a:cs typeface="Arial"/>
                        </a:rPr>
                        <a:t>up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20650"/>
                </a:tc>
              </a:tr>
              <a:tr h="277495">
                <a:tc>
                  <a:txBody>
                    <a:bodyPr/>
                    <a:lstStyle/>
                    <a:p>
                      <a:pPr marL="32384">
                        <a:lnSpc>
                          <a:spcPts val="1110"/>
                        </a:lnSpc>
                        <a:spcBef>
                          <a:spcPts val="969"/>
                        </a:spcBef>
                      </a:pPr>
                      <a:r>
                        <a:rPr dirty="0" sz="1000" spc="-10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06/10/202s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23189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110"/>
                        </a:lnSpc>
                        <a:spcBef>
                          <a:spcPts val="969"/>
                        </a:spcBef>
                      </a:pPr>
                      <a:r>
                        <a:rPr dirty="0" sz="1000" spc="-1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Security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23189"/>
                </a:tc>
                <a:tc>
                  <a:txBody>
                    <a:bodyPr/>
                    <a:lstStyle/>
                    <a:p>
                      <a:pPr marL="301625">
                        <a:lnSpc>
                          <a:spcPts val="1135"/>
                        </a:lnSpc>
                        <a:spcBef>
                          <a:spcPts val="950"/>
                        </a:spcBef>
                      </a:pPr>
                      <a:r>
                        <a:rPr dirty="0" sz="1000" spc="-10">
                          <a:solidFill>
                            <a:srgbClr val="1F1F1F"/>
                          </a:solidFill>
                          <a:latin typeface="Arial"/>
                          <a:cs typeface="Arial"/>
                        </a:rPr>
                        <a:t>Ongoing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20650"/>
                </a:tc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8962580" y="1959864"/>
            <a:ext cx="946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08A815"/>
                </a:solidFill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56234" y="2210307"/>
            <a:ext cx="3321050" cy="2404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 marR="270510" indent="-381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313131"/>
                </a:solidFill>
                <a:latin typeface="Arial"/>
                <a:cs typeface="Arial"/>
              </a:rPr>
              <a:t>Not</a:t>
            </a:r>
            <a:r>
              <a:rPr dirty="0" sz="1000" spc="-2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363636"/>
                </a:solidFill>
                <a:latin typeface="Arial"/>
                <a:cs typeface="Arial"/>
              </a:rPr>
              <a:t>aft</a:t>
            </a:r>
            <a:r>
              <a:rPr dirty="0" sz="1000" spc="-1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"/>
                <a:cs typeface="Arial"/>
              </a:rPr>
              <a:t>developers</a:t>
            </a:r>
            <a:r>
              <a:rPr dirty="0" sz="1000" spc="3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262626"/>
                </a:solidFill>
                <a:latin typeface="Arial"/>
                <a:cs typeface="Arial"/>
              </a:rPr>
              <a:t>have</a:t>
            </a:r>
            <a:r>
              <a:rPr dirty="0" sz="1000" spc="-1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3B3B3B"/>
                </a:solidFill>
                <a:latin typeface="Arial"/>
                <a:cs typeface="Arial"/>
              </a:rPr>
              <a:t>access</a:t>
            </a:r>
            <a:r>
              <a:rPr dirty="0" sz="100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3F3F3F"/>
                </a:solidFill>
                <a:latin typeface="Arial"/>
                <a:cs typeface="Arial"/>
              </a:rPr>
              <a:t>to</a:t>
            </a:r>
            <a:r>
              <a:rPr dirty="0" sz="1000" spc="-5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000" spc="-65">
                <a:solidFill>
                  <a:srgbClr val="232323"/>
                </a:solidFill>
                <a:latin typeface="Arial"/>
                <a:cs typeface="Arial"/>
              </a:rPr>
              <a:t>BOB, </a:t>
            </a:r>
            <a:r>
              <a:rPr dirty="0" sz="1000" spc="-25">
                <a:solidFill>
                  <a:srgbClr val="151515"/>
                </a:solidFill>
                <a:latin typeface="Arial"/>
                <a:cs typeface="Arial"/>
              </a:rPr>
              <a:t>creating</a:t>
            </a:r>
            <a:r>
              <a:rPr dirty="0" sz="1000" spc="2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1F1F"/>
                </a:solidFill>
                <a:latin typeface="Arial"/>
                <a:cs typeface="Arial"/>
              </a:rPr>
              <a:t>different </a:t>
            </a:r>
            <a:r>
              <a:rPr dirty="0" sz="1000" spc="-30">
                <a:solidFill>
                  <a:srgbClr val="282828"/>
                </a:solidFill>
                <a:latin typeface="Arial"/>
                <a:cs typeface="Arial"/>
              </a:rPr>
              <a:t>working</a:t>
            </a:r>
            <a:r>
              <a:rPr dirty="0" sz="1000" spc="-1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32323"/>
                </a:solidFill>
                <a:latin typeface="Arial"/>
                <a:cs typeface="Arial"/>
              </a:rPr>
              <a:t>practices.</a:t>
            </a:r>
            <a:endParaRPr sz="1000">
              <a:latin typeface="Arial"/>
              <a:cs typeface="Arial"/>
            </a:endParaRPr>
          </a:p>
          <a:p>
            <a:pPr marL="17780" marR="586740" indent="635">
              <a:lnSpc>
                <a:spcPct val="104000"/>
              </a:lnSpc>
              <a:spcBef>
                <a:spcPts val="720"/>
              </a:spcBef>
            </a:pPr>
            <a:r>
              <a:rPr dirty="0" sz="1000" spc="-100">
                <a:solidFill>
                  <a:srgbClr val="3F3F3F"/>
                </a:solidFill>
                <a:latin typeface="Arial"/>
                <a:cs typeface="Arial"/>
              </a:rPr>
              <a:t>MCP</a:t>
            </a:r>
            <a:r>
              <a:rPr dirty="0" sz="1000" spc="-3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000" spc="-60">
                <a:solidFill>
                  <a:srgbClr val="282828"/>
                </a:solidFill>
                <a:latin typeface="Arial"/>
                <a:cs typeface="Arial"/>
              </a:rPr>
              <a:t>usage</a:t>
            </a:r>
            <a:r>
              <a:rPr dirty="0" sz="1000" spc="1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00" spc="-40">
                <a:solidFill>
                  <a:srgbClr val="363636"/>
                </a:solidFill>
                <a:latin typeface="Arial"/>
                <a:cs typeface="Arial"/>
              </a:rPr>
              <a:t>is</a:t>
            </a:r>
            <a:r>
              <a:rPr dirty="0" sz="1000" spc="-25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F1F1F"/>
                </a:solidFill>
                <a:latin typeface="Arial"/>
                <a:cs typeface="Arial"/>
              </a:rPr>
              <a:t>still</a:t>
            </a:r>
            <a:r>
              <a:rPr dirty="0" sz="1000" spc="-4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262626"/>
                </a:solidFill>
                <a:latin typeface="Arial"/>
                <a:cs typeface="Arial"/>
              </a:rPr>
              <a:t>limited.</a:t>
            </a:r>
            <a:r>
              <a:rPr dirty="0" sz="1000" spc="-2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131313"/>
                </a:solidFill>
                <a:latin typeface="Arial"/>
                <a:cs typeface="Arial"/>
              </a:rPr>
              <a:t>Existing</a:t>
            </a:r>
            <a:r>
              <a:rPr dirty="0" sz="1000" spc="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62626"/>
                </a:solidFill>
                <a:latin typeface="Arial"/>
                <a:cs typeface="Arial"/>
              </a:rPr>
              <a:t>integrations</a:t>
            </a:r>
            <a:r>
              <a:rPr dirty="0" sz="1000" spc="2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1A1A1A"/>
                </a:solidFill>
                <a:latin typeface="Arial"/>
                <a:cs typeface="Arial"/>
              </a:rPr>
              <a:t>and </a:t>
            </a:r>
            <a:r>
              <a:rPr dirty="0" sz="1000" spc="-35">
                <a:solidFill>
                  <a:srgbClr val="282828"/>
                </a:solidFill>
                <a:latin typeface="Arial"/>
                <a:cs typeface="Arial"/>
              </a:rPr>
              <a:t>documentation</a:t>
            </a:r>
            <a:r>
              <a:rPr dirty="0" sz="1000" spc="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151515"/>
                </a:solidFill>
                <a:latin typeface="Arial"/>
                <a:cs typeface="Arial"/>
              </a:rPr>
              <a:t>are</a:t>
            </a:r>
            <a:r>
              <a:rPr dirty="0" sz="1000" spc="-7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62626"/>
                </a:solidFill>
                <a:latin typeface="Arial"/>
                <a:cs typeface="Arial"/>
              </a:rPr>
              <a:t>not</a:t>
            </a:r>
            <a:r>
              <a:rPr dirty="0" sz="1000" spc="1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00" spc="-35">
                <a:solidFill>
                  <a:srgbClr val="242424"/>
                </a:solidFill>
                <a:latin typeface="Arial"/>
                <a:cs typeface="Arial"/>
              </a:rPr>
              <a:t>yet </a:t>
            </a:r>
            <a:r>
              <a:rPr dirty="0" sz="1000" spc="-30">
                <a:solidFill>
                  <a:srgbClr val="1A1A1A"/>
                </a:solidFill>
                <a:latin typeface="Arial"/>
                <a:cs typeface="Arial"/>
              </a:rPr>
              <a:t>widety</a:t>
            </a:r>
            <a:r>
              <a:rPr dirty="0" sz="100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32323"/>
                </a:solidFill>
                <a:latin typeface="Arial"/>
                <a:cs typeface="Arial"/>
              </a:rPr>
              <a:t>shared.</a:t>
            </a:r>
            <a:endParaRPr sz="1000">
              <a:latin typeface="Arial"/>
              <a:cs typeface="Arial"/>
            </a:endParaRPr>
          </a:p>
          <a:p>
            <a:pPr marL="17145" marR="308610" indent="5080">
              <a:lnSpc>
                <a:spcPts val="1250"/>
              </a:lnSpc>
              <a:spcBef>
                <a:spcPts val="815"/>
              </a:spcBef>
            </a:pPr>
            <a:r>
              <a:rPr dirty="0" sz="1050" spc="-120">
                <a:solidFill>
                  <a:srgbClr val="414141"/>
                </a:solidFill>
                <a:latin typeface="Arial"/>
                <a:cs typeface="Arial"/>
              </a:rPr>
              <a:t>Some</a:t>
            </a:r>
            <a:r>
              <a:rPr dirty="0" sz="1050" spc="-75">
                <a:solidFill>
                  <a:srgbClr val="414141"/>
                </a:solidFill>
                <a:latin typeface="Arial"/>
                <a:cs typeface="Arial"/>
              </a:rPr>
              <a:t> </a:t>
            </a:r>
            <a:r>
              <a:rPr dirty="0" sz="1050" spc="-70">
                <a:solidFill>
                  <a:srgbClr val="2D2D2D"/>
                </a:solidFill>
                <a:latin typeface="Arial"/>
                <a:cs typeface="Arial"/>
              </a:rPr>
              <a:t>requests</a:t>
            </a:r>
            <a:r>
              <a:rPr dirty="0" sz="1050" spc="3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1D1D1D"/>
                </a:solidFill>
                <a:latin typeface="Arial"/>
                <a:cs typeface="Arial"/>
              </a:rPr>
              <a:t>executed</a:t>
            </a:r>
            <a:r>
              <a:rPr dirty="0" sz="1050" spc="55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050" spc="-55">
                <a:solidFill>
                  <a:srgbClr val="3B3B3B"/>
                </a:solidFill>
                <a:latin typeface="Arial"/>
                <a:cs typeface="Arial"/>
              </a:rPr>
              <a:t>through</a:t>
            </a:r>
            <a:r>
              <a:rPr dirty="0" sz="1050" spc="5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dirty="0" sz="1050" spc="-30">
                <a:solidFill>
                  <a:srgbClr val="212121"/>
                </a:solidFill>
                <a:latin typeface="Arial"/>
                <a:cs typeface="Arial"/>
              </a:rPr>
              <a:t>IntetliJ</a:t>
            </a:r>
            <a:r>
              <a:rPr dirty="0" sz="10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262626"/>
                </a:solidFill>
                <a:latin typeface="Arial"/>
                <a:cs typeface="Arial"/>
              </a:rPr>
              <a:t>integrations</a:t>
            </a:r>
            <a:r>
              <a:rPr dirty="0" sz="1050" spc="7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444444"/>
                </a:solidFill>
                <a:latin typeface="Arial"/>
                <a:cs typeface="Arial"/>
              </a:rPr>
              <a:t>do </a:t>
            </a:r>
            <a:r>
              <a:rPr dirty="0" sz="1050" spc="-65">
                <a:solidFill>
                  <a:srgbClr val="212121"/>
                </a:solidFill>
                <a:latin typeface="Arial"/>
                <a:cs typeface="Arial"/>
              </a:rPr>
              <a:t>complete</a:t>
            </a:r>
            <a:r>
              <a:rPr dirty="0" sz="1050" spc="-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50" spc="-65">
                <a:solidFill>
                  <a:srgbClr val="262626"/>
                </a:solidFill>
                <a:latin typeface="Arial"/>
                <a:cs typeface="Arial"/>
              </a:rPr>
              <a:t>while</a:t>
            </a:r>
            <a:r>
              <a:rPr dirty="0" sz="1050" spc="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50" spc="-6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105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050" spc="-100">
                <a:solidFill>
                  <a:srgbClr val="242424"/>
                </a:solidFill>
                <a:latin typeface="Arial"/>
                <a:cs typeface="Arial"/>
              </a:rPr>
              <a:t>same</a:t>
            </a:r>
            <a:r>
              <a:rPr dirty="0" sz="1050" spc="-45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dirty="0" sz="1050" spc="-60">
                <a:solidFill>
                  <a:srgbClr val="2B2B2B"/>
                </a:solidFill>
                <a:latin typeface="Arial"/>
                <a:cs typeface="Arial"/>
              </a:rPr>
              <a:t>request</a:t>
            </a:r>
            <a:r>
              <a:rPr dirty="0" sz="1050" spc="8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050" spc="-75">
                <a:solidFill>
                  <a:srgbClr val="2D2D2D"/>
                </a:solidFill>
                <a:latin typeface="Arial"/>
                <a:cs typeface="Arial"/>
              </a:rPr>
              <a:t>works</a:t>
            </a:r>
            <a:r>
              <a:rPr dirty="0" sz="1050" spc="-6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1A1A1A"/>
                </a:solidFill>
                <a:latin typeface="Arial"/>
                <a:cs typeface="Arial"/>
              </a:rPr>
              <a:t>directly</a:t>
            </a:r>
            <a:r>
              <a:rPr dirty="0" sz="105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F2F2F"/>
                </a:solidFill>
                <a:latin typeface="Arial"/>
                <a:cs typeface="Arial"/>
              </a:rPr>
              <a:t>in</a:t>
            </a:r>
            <a:r>
              <a:rPr dirty="0" sz="1050" spc="-8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43434"/>
                </a:solidFill>
                <a:latin typeface="Arial"/>
                <a:cs typeface="Arial"/>
              </a:rPr>
              <a:t>BoB.</a:t>
            </a:r>
            <a:endParaRPr sz="1050">
              <a:latin typeface="Arial"/>
              <a:cs typeface="Arial"/>
            </a:endParaRPr>
          </a:p>
          <a:p>
            <a:pPr marL="19685" marR="52705" indent="2540">
              <a:lnSpc>
                <a:spcPct val="100000"/>
              </a:lnSpc>
              <a:spcBef>
                <a:spcPts val="860"/>
              </a:spcBef>
            </a:pPr>
            <a:r>
              <a:rPr dirty="0" baseline="2777" sz="1500" spc="-142">
                <a:solidFill>
                  <a:srgbClr val="2D2D2D"/>
                </a:solidFill>
                <a:latin typeface="Arial"/>
                <a:cs typeface="Arial"/>
              </a:rPr>
              <a:t>Some</a:t>
            </a:r>
            <a:r>
              <a:rPr dirty="0" baseline="2777" sz="1500" spc="-44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baseline="2777" sz="1500" spc="-60">
                <a:solidFill>
                  <a:srgbClr val="2A2A2A"/>
                </a:solidFill>
                <a:latin typeface="Arial"/>
                <a:cs typeface="Arial"/>
              </a:rPr>
              <a:t>users</a:t>
            </a:r>
            <a:r>
              <a:rPr dirty="0" baseline="2777" sz="1500" spc="-52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baseline="2777" sz="1500" spc="-15">
                <a:solidFill>
                  <a:srgbClr val="0F0F0F"/>
                </a:solidFill>
                <a:latin typeface="Arial"/>
                <a:cs typeface="Arial"/>
              </a:rPr>
              <a:t>reported</a:t>
            </a:r>
            <a:r>
              <a:rPr dirty="0" baseline="2777" sz="1500" spc="-7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baseline="2777" sz="1500" spc="-15">
                <a:solidFill>
                  <a:srgbClr val="131313"/>
                </a:solidFill>
                <a:latin typeface="Arial"/>
                <a:cs typeface="Arial"/>
              </a:rPr>
              <a:t>difficulties</a:t>
            </a:r>
            <a:r>
              <a:rPr dirty="0" baseline="2777" sz="1500" spc="7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baseline="2777" sz="1500" spc="-15">
                <a:solidFill>
                  <a:srgbClr val="181818"/>
                </a:solidFill>
                <a:latin typeface="Arial"/>
                <a:cs typeface="Arial"/>
              </a:rPr>
              <a:t>installing</a:t>
            </a:r>
            <a:r>
              <a:rPr dirty="0" baseline="2777" sz="1500" spc="37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baseline="2777" sz="1500" spc="-15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dirty="0" baseline="2777" sz="1500" spc="-89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baseline="2777" sz="1500" spc="-37">
                <a:solidFill>
                  <a:srgbClr val="151515"/>
                </a:solidFill>
                <a:latin typeface="Arial"/>
                <a:cs typeface="Arial"/>
              </a:rPr>
              <a:t>configuring</a:t>
            </a:r>
            <a:r>
              <a:rPr dirty="0" baseline="2777" sz="1500" spc="7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383838"/>
                </a:solidFill>
                <a:latin typeface="Arial"/>
                <a:cs typeface="Arial"/>
              </a:rPr>
              <a:t>BOB </a:t>
            </a:r>
            <a:r>
              <a:rPr dirty="0" sz="1000" spc="-20">
                <a:solidFill>
                  <a:srgbClr val="181818"/>
                </a:solidFill>
                <a:latin typeface="Arial"/>
                <a:cs typeface="Arial"/>
              </a:rPr>
              <a:t>particularly</a:t>
            </a:r>
            <a:r>
              <a:rPr dirty="0" sz="1000" spc="2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1C1C1C"/>
                </a:solidFill>
                <a:latin typeface="Arial"/>
                <a:cs typeface="Arial"/>
              </a:rPr>
              <a:t>behind</a:t>
            </a:r>
            <a:r>
              <a:rPr dirty="0" sz="1000" spc="-4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2A2A2A"/>
                </a:solidFill>
                <a:latin typeface="Arial"/>
                <a:cs typeface="Arial"/>
              </a:rPr>
              <a:t>corporate</a:t>
            </a:r>
            <a:r>
              <a:rPr dirty="0" sz="1000" spc="-2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61616"/>
                </a:solidFill>
                <a:latin typeface="Arial"/>
                <a:cs typeface="Arial"/>
              </a:rPr>
              <a:t>proxy</a:t>
            </a:r>
            <a:r>
              <a:rPr dirty="0" sz="100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1F1F1F"/>
                </a:solidFill>
                <a:latin typeface="Arial"/>
                <a:cs typeface="Arial"/>
              </a:rPr>
              <a:t>settings.</a:t>
            </a:r>
            <a:endParaRPr sz="1000">
              <a:latin typeface="Arial"/>
              <a:cs typeface="Arial"/>
            </a:endParaRPr>
          </a:p>
          <a:p>
            <a:pPr marL="19685" marR="5080" indent="-2540">
              <a:lnSpc>
                <a:spcPts val="1250"/>
              </a:lnSpc>
              <a:spcBef>
                <a:spcPts val="865"/>
              </a:spcBef>
            </a:pPr>
            <a:r>
              <a:rPr dirty="0" sz="1050" spc="-95">
                <a:solidFill>
                  <a:srgbClr val="181818"/>
                </a:solidFill>
                <a:latin typeface="Arial"/>
                <a:cs typeface="Arial"/>
              </a:rPr>
              <a:t>Reload</a:t>
            </a:r>
            <a:r>
              <a:rPr dirty="0" sz="105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050" spc="-75">
                <a:solidFill>
                  <a:srgbClr val="2A2A2A"/>
                </a:solidFill>
                <a:latin typeface="Arial"/>
                <a:cs typeface="Arial"/>
              </a:rPr>
              <a:t>process</a:t>
            </a:r>
            <a:r>
              <a:rPr dirty="0" sz="1050" spc="-15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383838"/>
                </a:solidFill>
                <a:latin typeface="Arial"/>
                <a:cs typeface="Arial"/>
              </a:rPr>
              <a:t>is</a:t>
            </a:r>
            <a:r>
              <a:rPr dirty="0" sz="1050" spc="10">
                <a:solidFill>
                  <a:srgbClr val="383838"/>
                </a:solidFill>
                <a:latin typeface="Arial"/>
                <a:cs typeface="Arial"/>
              </a:rPr>
              <a:t> </a:t>
            </a:r>
            <a:r>
              <a:rPr dirty="0" sz="1050" spc="-45">
                <a:solidFill>
                  <a:srgbClr val="0E0E0E"/>
                </a:solidFill>
                <a:latin typeface="Arial"/>
                <a:cs typeface="Arial"/>
              </a:rPr>
              <a:t>currently</a:t>
            </a:r>
            <a:r>
              <a:rPr dirty="0" sz="1050" spc="2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1050" spc="-85">
                <a:solidFill>
                  <a:srgbClr val="131313"/>
                </a:solidFill>
                <a:latin typeface="Arial"/>
                <a:cs typeface="Arial"/>
              </a:rPr>
              <a:t>manual.</a:t>
            </a:r>
            <a:r>
              <a:rPr dirty="0" sz="1050" spc="-3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050" spc="-65">
                <a:solidFill>
                  <a:srgbClr val="181818"/>
                </a:solidFill>
                <a:latin typeface="Arial"/>
                <a:cs typeface="Arial"/>
              </a:rPr>
              <a:t>Evolution</a:t>
            </a:r>
            <a:r>
              <a:rPr dirty="0" sz="1050" spc="1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050" spc="-85">
                <a:solidFill>
                  <a:srgbClr val="181818"/>
                </a:solidFill>
                <a:latin typeface="Arial"/>
                <a:cs typeface="Arial"/>
              </a:rPr>
              <a:t>expected</a:t>
            </a:r>
            <a:r>
              <a:rPr dirty="0" sz="1050" spc="3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A2A2A"/>
                </a:solidFill>
                <a:latin typeface="Arial"/>
                <a:cs typeface="Arial"/>
              </a:rPr>
              <a:t>toward </a:t>
            </a:r>
            <a:r>
              <a:rPr dirty="0" sz="1050" spc="-55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dirty="0" sz="1050" spc="-45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050" spc="-100">
                <a:solidFill>
                  <a:srgbClr val="1C1C1C"/>
                </a:solidFill>
                <a:latin typeface="Arial"/>
                <a:cs typeface="Arial"/>
              </a:rPr>
              <a:t>end</a:t>
            </a:r>
            <a:r>
              <a:rPr dirty="0" sz="1050" spc="5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050" spc="-45">
                <a:solidFill>
                  <a:srgbClr val="262626"/>
                </a:solidFill>
                <a:latin typeface="Arial"/>
                <a:cs typeface="Arial"/>
              </a:rPr>
              <a:t>of</a:t>
            </a:r>
            <a:r>
              <a:rPr dirty="0" sz="1050" spc="-5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50" spc="-45">
                <a:solidFill>
                  <a:srgbClr val="1D1D1D"/>
                </a:solidFill>
                <a:latin typeface="Arial"/>
                <a:cs typeface="Arial"/>
              </a:rPr>
              <a:t>the</a:t>
            </a:r>
            <a:r>
              <a:rPr dirty="0" sz="1050" spc="-60">
                <a:solidFill>
                  <a:srgbClr val="1D1D1D"/>
                </a:solidFill>
                <a:latin typeface="Arial"/>
                <a:cs typeface="Arial"/>
              </a:rPr>
              <a:t> </a:t>
            </a:r>
            <a:r>
              <a:rPr dirty="0" sz="1050" spc="-90">
                <a:solidFill>
                  <a:srgbClr val="1A1A1A"/>
                </a:solidFill>
                <a:latin typeface="Arial"/>
                <a:cs typeface="Arial"/>
              </a:rPr>
              <a:t>year,</a:t>
            </a:r>
            <a:r>
              <a:rPr dirty="0" sz="1050" spc="-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50" spc="-55">
                <a:solidFill>
                  <a:srgbClr val="2A2A2A"/>
                </a:solidFill>
                <a:latin typeface="Arial"/>
                <a:cs typeface="Arial"/>
              </a:rPr>
              <a:t>details</a:t>
            </a:r>
            <a:r>
              <a:rPr dirty="0" sz="1050" spc="-3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3D3D3D"/>
                </a:solidFill>
                <a:latin typeface="Arial"/>
                <a:cs typeface="Arial"/>
              </a:rPr>
              <a:t>to</a:t>
            </a:r>
            <a:r>
              <a:rPr dirty="0" sz="1050" spc="-5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1C1C1C"/>
                </a:solidFill>
                <a:latin typeface="Arial"/>
                <a:cs typeface="Arial"/>
              </a:rPr>
              <a:t>confirm.</a:t>
            </a:r>
            <a:endParaRPr sz="1050">
              <a:latin typeface="Arial"/>
              <a:cs typeface="Arial"/>
            </a:endParaRPr>
          </a:p>
          <a:p>
            <a:pPr marL="19685" marR="103505" indent="-3175">
              <a:lnSpc>
                <a:spcPts val="1220"/>
              </a:lnSpc>
              <a:spcBef>
                <a:spcPts val="765"/>
              </a:spcBef>
            </a:pPr>
            <a:r>
              <a:rPr dirty="0" sz="1050" spc="-80">
                <a:solidFill>
                  <a:srgbClr val="161616"/>
                </a:solidFill>
                <a:latin typeface="Arial"/>
                <a:cs typeface="Arial"/>
              </a:rPr>
              <a:t>Questions</a:t>
            </a:r>
            <a:r>
              <a:rPr dirty="0" sz="1050" spc="4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050" spc="-70">
                <a:solidFill>
                  <a:srgbClr val="181818"/>
                </a:solidFill>
                <a:latin typeface="Arial"/>
                <a:cs typeface="Arial"/>
              </a:rPr>
              <a:t>around</a:t>
            </a:r>
            <a:r>
              <a:rPr dirty="0" sz="1050" spc="-1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dirty="0" sz="1050" spc="-80">
                <a:solidFill>
                  <a:srgbClr val="2A2A2A"/>
                </a:solidFill>
                <a:latin typeface="Arial"/>
                <a:cs typeface="Arial"/>
              </a:rPr>
              <a:t>code</a:t>
            </a:r>
            <a:r>
              <a:rPr dirty="0" sz="1050" spc="-1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050" spc="-55">
                <a:solidFill>
                  <a:srgbClr val="1A1A1A"/>
                </a:solidFill>
                <a:latin typeface="Arial"/>
                <a:cs typeface="Arial"/>
              </a:rPr>
              <a:t>classification</a:t>
            </a:r>
            <a:r>
              <a:rPr dirty="0" sz="1050" spc="-7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and</a:t>
            </a:r>
            <a:r>
              <a:rPr dirty="0" sz="1050" spc="-10">
                <a:latin typeface="Arial"/>
                <a:cs typeface="Arial"/>
              </a:rPr>
              <a:t> </a:t>
            </a:r>
            <a:r>
              <a:rPr dirty="0" sz="1050" spc="-75">
                <a:solidFill>
                  <a:srgbClr val="0F0F0F"/>
                </a:solidFill>
                <a:latin typeface="Arial"/>
                <a:cs typeface="Arial"/>
              </a:rPr>
              <a:t>what</a:t>
            </a:r>
            <a:r>
              <a:rPr dirty="0" sz="1050" spc="3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050" spc="-75">
                <a:solidFill>
                  <a:srgbClr val="0C0C0C"/>
                </a:solidFill>
                <a:latin typeface="Arial"/>
                <a:cs typeface="Arial"/>
              </a:rPr>
              <a:t>can</a:t>
            </a:r>
            <a:r>
              <a:rPr dirty="0" sz="1050" spc="-4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050" spc="-40">
                <a:solidFill>
                  <a:srgbClr val="282828"/>
                </a:solidFill>
                <a:latin typeface="Arial"/>
                <a:cs typeface="Arial"/>
              </a:rPr>
              <a:t>or </a:t>
            </a:r>
            <a:r>
              <a:rPr dirty="0" sz="1050" spc="-25">
                <a:solidFill>
                  <a:srgbClr val="262626"/>
                </a:solidFill>
                <a:latin typeface="Arial"/>
                <a:cs typeface="Arial"/>
              </a:rPr>
              <a:t>cannot </a:t>
            </a:r>
            <a:r>
              <a:rPr dirty="0" sz="1050" spc="-80">
                <a:solidFill>
                  <a:srgbClr val="151515"/>
                </a:solidFill>
                <a:latin typeface="Arial"/>
                <a:cs typeface="Arial"/>
              </a:rPr>
              <a:t>be</a:t>
            </a:r>
            <a:r>
              <a:rPr dirty="0" sz="1050" spc="-2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050" spc="-60">
                <a:solidFill>
                  <a:srgbClr val="262626"/>
                </a:solidFill>
                <a:latin typeface="Arial"/>
                <a:cs typeface="Arial"/>
              </a:rPr>
              <a:t>submitted</a:t>
            </a:r>
            <a:r>
              <a:rPr dirty="0" sz="1050" spc="-2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161616"/>
                </a:solidFill>
                <a:latin typeface="Arial"/>
                <a:cs typeface="Arial"/>
              </a:rPr>
              <a:t>to</a:t>
            </a:r>
            <a:r>
              <a:rPr dirty="0" sz="1050" spc="-8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161616"/>
                </a:solidFill>
                <a:latin typeface="Arial"/>
                <a:cs typeface="Arial"/>
              </a:rPr>
              <a:t>BOB.</a:t>
            </a:r>
            <a:endParaRPr sz="10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59343" y="2758185"/>
            <a:ext cx="10096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01AC0A"/>
                </a:solidFill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40368" y="4309871"/>
            <a:ext cx="280416" cy="27432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743" y="4907279"/>
            <a:ext cx="353568" cy="35356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42975" y="4938267"/>
            <a:ext cx="12496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75">
                <a:latin typeface="Arial"/>
                <a:cs typeface="Arial"/>
              </a:rPr>
              <a:t>BNP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140" b="1">
                <a:latin typeface="Arial"/>
                <a:cs typeface="Arial"/>
              </a:rPr>
              <a:t>PARIDAS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6351" y="4834128"/>
            <a:ext cx="1347215" cy="32308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31791" y="4943855"/>
            <a:ext cx="902208" cy="10972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0032" y="4834128"/>
            <a:ext cx="1347215" cy="316991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630844" y="5005578"/>
            <a:ext cx="118618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5847" sz="1425" spc="-120">
                <a:solidFill>
                  <a:srgbClr val="2F2F2F"/>
                </a:solidFill>
                <a:latin typeface="Arial"/>
                <a:cs typeface="Arial"/>
              </a:rPr>
              <a:t>AI</a:t>
            </a:r>
            <a:r>
              <a:rPr dirty="0" sz="950" spc="-80">
                <a:solidFill>
                  <a:srgbClr val="2F2F2F"/>
                </a:solidFill>
                <a:latin typeface="Arial"/>
                <a:cs typeface="Arial"/>
              </a:rPr>
              <a:t>iE</a:t>
            </a:r>
            <a:r>
              <a:rPr dirty="0" baseline="5847" sz="1425" spc="-120">
                <a:solidFill>
                  <a:srgbClr val="2F2F2F"/>
                </a:solidFill>
                <a:latin typeface="Arial"/>
                <a:cs typeface="Arial"/>
              </a:rPr>
              <a:t>IT</a:t>
            </a:r>
            <a:r>
              <a:rPr dirty="0" baseline="2923" sz="1425" spc="-120">
                <a:solidFill>
                  <a:srgbClr val="232323"/>
                </a:solidFill>
                <a:latin typeface="Arial"/>
                <a:cs typeface="Arial"/>
              </a:rPr>
              <a:t>PaymeM</a:t>
            </a:r>
            <a:r>
              <a:rPr dirty="0" baseline="2923" sz="1425" spc="52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baseline="2923" sz="1425" spc="-67">
                <a:solidFill>
                  <a:srgbClr val="232323"/>
                </a:solidFill>
                <a:latin typeface="Arial"/>
                <a:cs typeface="Arial"/>
              </a:rPr>
              <a:t>Services</a:t>
            </a:r>
            <a:endParaRPr baseline="2923" sz="1425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961701" y="4996434"/>
            <a:ext cx="56324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50">
                <a:solidFill>
                  <a:srgbClr val="1F1F1F"/>
                </a:solidFill>
                <a:latin typeface="Arial"/>
                <a:cs typeface="Arial"/>
              </a:rPr>
              <a:t>06/10/2026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2026-10-12T06:47:12Z</dcterms:created>
  <dcterms:modified xsi:type="dcterms:W3CDTF">2026-10-12T06:47:12Z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2026-10-12T00:00:00Z</vt:filetime>
  </property>
  <property fmtid="{D5CDD505-2E9C-101B-9397-08002B2CF9AE}" pid="4" name="LastSaved">
    <vt:filetime>2026-10-12T00:00:00Z</vt:filetime>
  </property>
</Properties>
</file>