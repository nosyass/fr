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</p:sldIdLst>
  <p:notesMasterIdLst>
    <p:notesMasterId r:id="rId5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notesMaster" Target="notesMasters/notesMaster1.xml"/><Relationship Id="rId6" Type="http://schemas.openxmlformats.org/officeDocument/2006/relationships/presProps" Target="presProps.xml"/><Relationship Id="rId7" Type="http://schemas.openxmlformats.org/officeDocument/2006/relationships/viewProps" Target="viewProps.xml"/><Relationship Id="rId8" Type="http://schemas.openxmlformats.org/officeDocument/2006/relationships/theme" Target="theme/theme1.xml"/><Relationship Id="rId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82880" y="73152"/>
            <a:ext cx="11612880" cy="50292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008B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BOB AI – FLASH REPORT - AECC</a:t>
            </a:r>
            <a:endParaRPr lang="en-US" sz="2800" dirty="0"/>
          </a:p>
        </p:txBody>
      </p:sp>
      <p:pic>
        <p:nvPicPr>
          <p:cNvPr id="3" name="Image 0" descr="/mnt/data/it_group_crop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479024" y="100584"/>
            <a:ext cx="1005840" cy="310896"/>
          </a:xfrm>
          <a:prstGeom prst="rect">
            <a:avLst/>
          </a:prstGeom>
        </p:spPr>
      </p:pic>
      <p:sp>
        <p:nvSpPr>
          <p:cNvPr id="4" name="Shape 1"/>
          <p:cNvSpPr/>
          <p:nvPr/>
        </p:nvSpPr>
        <p:spPr>
          <a:xfrm>
            <a:off x="320040" y="704088"/>
            <a:ext cx="11521440" cy="0"/>
          </a:xfrm>
          <a:prstGeom prst="line">
            <a:avLst/>
          </a:prstGeom>
          <a:noFill/>
          <a:ln w="8890">
            <a:solidFill>
              <a:srgbClr val="8C8C8C"/>
            </a:solidFill>
            <a:prstDash val="solid"/>
          </a:ln>
        </p:spPr>
      </p:sp>
      <p:sp>
        <p:nvSpPr>
          <p:cNvPr id="5" name="Text 2"/>
          <p:cNvSpPr/>
          <p:nvPr/>
        </p:nvSpPr>
        <p:spPr>
          <a:xfrm>
            <a:off x="182880" y="960120"/>
            <a:ext cx="11795760" cy="41148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008B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06/10 – 10/10 Week</a:t>
            </a:r>
            <a:endParaRPr lang="en-US" sz="2400" dirty="0"/>
          </a:p>
        </p:txBody>
      </p:sp>
      <p:sp>
        <p:nvSpPr>
          <p:cNvPr id="6" name="Text 3"/>
          <p:cNvSpPr/>
          <p:nvPr/>
        </p:nvSpPr>
        <p:spPr>
          <a:xfrm rot="16200000">
            <a:off x="365760" y="1691640"/>
            <a:ext cx="822960" cy="1965960"/>
          </a:xfrm>
          <a:prstGeom prst="rect">
            <a:avLst/>
          </a:prstGeom>
          <a:solidFill>
            <a:srgbClr val="CBEAF5"/>
          </a:solidFill>
          <a:ln>
            <a:solidFill>
              <a:srgbClr val="CBEAF5"/>
            </a:solidFill>
          </a:ln>
        </p:spPr>
        <p:txBody>
          <a:bodyPr wrap="square" lIns="381" tIns="381" rIns="381" bIns="381" rtlCol="0" anchor="ctr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BOB AI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Usage</a:t>
            </a:r>
            <a:endParaRPr lang="en-US" sz="1400" dirty="0"/>
          </a:p>
        </p:txBody>
      </p:sp>
      <p:sp>
        <p:nvSpPr>
          <p:cNvPr id="7" name="Text 4"/>
          <p:cNvSpPr/>
          <p:nvPr/>
        </p:nvSpPr>
        <p:spPr>
          <a:xfrm>
            <a:off x="1325880" y="1664208"/>
            <a:ext cx="2057400" cy="393192"/>
          </a:xfrm>
          <a:prstGeom prst="rect">
            <a:avLst/>
          </a:prstGeom>
          <a:solidFill>
            <a:srgbClr val="FFFFFF"/>
          </a:solidFill>
          <a:ln w="6985">
            <a:solidFill>
              <a:srgbClr val="A8A8A8"/>
            </a:solidFill>
          </a:ln>
        </p:spPr>
        <p:txBody>
          <a:bodyPr wrap="square" lIns="381" tIns="381" rIns="381" bIns="381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Monday</a:t>
            </a:r>
            <a:endParaRPr lang="en-US" sz="1200" dirty="0"/>
          </a:p>
        </p:txBody>
      </p:sp>
      <p:sp>
        <p:nvSpPr>
          <p:cNvPr id="8" name="Text 5"/>
          <p:cNvSpPr/>
          <p:nvPr/>
        </p:nvSpPr>
        <p:spPr>
          <a:xfrm>
            <a:off x="3383280" y="1664208"/>
            <a:ext cx="960120" cy="393192"/>
          </a:xfrm>
          <a:prstGeom prst="rect">
            <a:avLst/>
          </a:prstGeom>
          <a:solidFill>
            <a:srgbClr val="00B050"/>
          </a:solidFill>
          <a:ln w="6985">
            <a:solidFill>
              <a:srgbClr val="A8A8A8"/>
            </a:solidFill>
          </a:ln>
        </p:spPr>
        <p:txBody>
          <a:bodyPr wrap="square" lIns="381" tIns="381" rIns="381" bIns="381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(+)</a:t>
            </a:r>
            <a:endParaRPr lang="en-US" sz="1200" dirty="0"/>
          </a:p>
        </p:txBody>
      </p:sp>
      <p:sp>
        <p:nvSpPr>
          <p:cNvPr id="9" name="Text 6"/>
          <p:cNvSpPr/>
          <p:nvPr/>
        </p:nvSpPr>
        <p:spPr>
          <a:xfrm>
            <a:off x="4343400" y="1664208"/>
            <a:ext cx="6903720" cy="393192"/>
          </a:xfrm>
          <a:prstGeom prst="rect">
            <a:avLst/>
          </a:prstGeom>
          <a:solidFill>
            <a:srgbClr val="FFFFFF"/>
          </a:solidFill>
          <a:ln w="6985">
            <a:solidFill>
              <a:srgbClr val="A8A8A8"/>
            </a:solidFill>
          </a:ln>
        </p:spPr>
        <p:txBody>
          <a:bodyPr wrap="square" lIns="381" tIns="381" rIns="381" bIns="381" rtlCol="0" anchor="ctr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Service available – normal operation</a:t>
            </a:r>
            <a:endParaRPr lang="en-US" sz="1200" dirty="0"/>
          </a:p>
        </p:txBody>
      </p:sp>
      <p:sp>
        <p:nvSpPr>
          <p:cNvPr id="10" name="Text 7"/>
          <p:cNvSpPr/>
          <p:nvPr/>
        </p:nvSpPr>
        <p:spPr>
          <a:xfrm>
            <a:off x="1325880" y="2057400"/>
            <a:ext cx="2057400" cy="393192"/>
          </a:xfrm>
          <a:prstGeom prst="rect">
            <a:avLst/>
          </a:prstGeom>
          <a:solidFill>
            <a:srgbClr val="FFFFFF"/>
          </a:solidFill>
          <a:ln w="6985">
            <a:solidFill>
              <a:srgbClr val="A8A8A8"/>
            </a:solidFill>
          </a:ln>
        </p:spPr>
        <p:txBody>
          <a:bodyPr wrap="square" lIns="381" tIns="381" rIns="381" bIns="381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Tuesday</a:t>
            </a:r>
            <a:endParaRPr lang="en-US" sz="1200" dirty="0"/>
          </a:p>
        </p:txBody>
      </p:sp>
      <p:sp>
        <p:nvSpPr>
          <p:cNvPr id="11" name="Text 8"/>
          <p:cNvSpPr/>
          <p:nvPr/>
        </p:nvSpPr>
        <p:spPr>
          <a:xfrm>
            <a:off x="3383280" y="2057400"/>
            <a:ext cx="960120" cy="393192"/>
          </a:xfrm>
          <a:prstGeom prst="rect">
            <a:avLst/>
          </a:prstGeom>
          <a:solidFill>
            <a:srgbClr val="00B050"/>
          </a:solidFill>
          <a:ln w="6985">
            <a:solidFill>
              <a:srgbClr val="A8A8A8"/>
            </a:solidFill>
          </a:ln>
        </p:spPr>
        <p:txBody>
          <a:bodyPr wrap="square" lIns="381" tIns="381" rIns="381" bIns="381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(+)</a:t>
            </a:r>
            <a:endParaRPr lang="en-US" sz="1200" dirty="0"/>
          </a:p>
        </p:txBody>
      </p:sp>
      <p:sp>
        <p:nvSpPr>
          <p:cNvPr id="12" name="Text 9"/>
          <p:cNvSpPr/>
          <p:nvPr/>
        </p:nvSpPr>
        <p:spPr>
          <a:xfrm>
            <a:off x="4343400" y="2057400"/>
            <a:ext cx="6903720" cy="393192"/>
          </a:xfrm>
          <a:prstGeom prst="rect">
            <a:avLst/>
          </a:prstGeom>
          <a:solidFill>
            <a:srgbClr val="FFFFFF"/>
          </a:solidFill>
          <a:ln w="6985">
            <a:solidFill>
              <a:srgbClr val="A8A8A8"/>
            </a:solidFill>
          </a:ln>
        </p:spPr>
        <p:txBody>
          <a:bodyPr wrap="square" lIns="381" tIns="381" rIns="381" bIns="381" rtlCol="0" anchor="ctr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Service available – normal operation</a:t>
            </a:r>
            <a:endParaRPr lang="en-US" sz="1200" dirty="0"/>
          </a:p>
        </p:txBody>
      </p:sp>
      <p:sp>
        <p:nvSpPr>
          <p:cNvPr id="13" name="Text 10"/>
          <p:cNvSpPr/>
          <p:nvPr/>
        </p:nvSpPr>
        <p:spPr>
          <a:xfrm>
            <a:off x="1325880" y="2450592"/>
            <a:ext cx="2057400" cy="393192"/>
          </a:xfrm>
          <a:prstGeom prst="rect">
            <a:avLst/>
          </a:prstGeom>
          <a:solidFill>
            <a:srgbClr val="FFFFFF"/>
          </a:solidFill>
          <a:ln w="6985">
            <a:solidFill>
              <a:srgbClr val="A8A8A8"/>
            </a:solidFill>
          </a:ln>
        </p:spPr>
        <p:txBody>
          <a:bodyPr wrap="square" lIns="381" tIns="381" rIns="381" bIns="381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Wednesday</a:t>
            </a:r>
            <a:endParaRPr lang="en-US" sz="1200" dirty="0"/>
          </a:p>
        </p:txBody>
      </p:sp>
      <p:sp>
        <p:nvSpPr>
          <p:cNvPr id="14" name="Text 11"/>
          <p:cNvSpPr/>
          <p:nvPr/>
        </p:nvSpPr>
        <p:spPr>
          <a:xfrm>
            <a:off x="3383280" y="2450592"/>
            <a:ext cx="960120" cy="393192"/>
          </a:xfrm>
          <a:prstGeom prst="rect">
            <a:avLst/>
          </a:prstGeom>
          <a:solidFill>
            <a:srgbClr val="00B050"/>
          </a:solidFill>
          <a:ln w="6985">
            <a:solidFill>
              <a:srgbClr val="A8A8A8"/>
            </a:solidFill>
          </a:ln>
        </p:spPr>
        <p:txBody>
          <a:bodyPr wrap="square" lIns="381" tIns="381" rIns="381" bIns="381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(+)</a:t>
            </a:r>
            <a:endParaRPr lang="en-US" sz="1200" dirty="0"/>
          </a:p>
        </p:txBody>
      </p:sp>
      <p:sp>
        <p:nvSpPr>
          <p:cNvPr id="15" name="Text 12"/>
          <p:cNvSpPr/>
          <p:nvPr/>
        </p:nvSpPr>
        <p:spPr>
          <a:xfrm>
            <a:off x="4343400" y="2450592"/>
            <a:ext cx="6903720" cy="393192"/>
          </a:xfrm>
          <a:prstGeom prst="rect">
            <a:avLst/>
          </a:prstGeom>
          <a:solidFill>
            <a:srgbClr val="FFFFFF"/>
          </a:solidFill>
          <a:ln w="6985">
            <a:solidFill>
              <a:srgbClr val="A8A8A8"/>
            </a:solidFill>
          </a:ln>
        </p:spPr>
        <p:txBody>
          <a:bodyPr wrap="square" lIns="381" tIns="381" rIns="381" bIns="381" rtlCol="0" anchor="ctr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Service available – normal operation</a:t>
            </a:r>
            <a:endParaRPr lang="en-US" sz="1200" dirty="0"/>
          </a:p>
        </p:txBody>
      </p:sp>
      <p:sp>
        <p:nvSpPr>
          <p:cNvPr id="16" name="Text 13"/>
          <p:cNvSpPr/>
          <p:nvPr/>
        </p:nvSpPr>
        <p:spPr>
          <a:xfrm>
            <a:off x="1325880" y="2843784"/>
            <a:ext cx="2057400" cy="393192"/>
          </a:xfrm>
          <a:prstGeom prst="rect">
            <a:avLst/>
          </a:prstGeom>
          <a:solidFill>
            <a:srgbClr val="FFFFFF"/>
          </a:solidFill>
          <a:ln w="6985">
            <a:solidFill>
              <a:srgbClr val="A8A8A8"/>
            </a:solidFill>
          </a:ln>
        </p:spPr>
        <p:txBody>
          <a:bodyPr wrap="square" lIns="381" tIns="381" rIns="381" bIns="381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Thursday</a:t>
            </a:r>
            <a:endParaRPr lang="en-US" sz="1200" dirty="0"/>
          </a:p>
        </p:txBody>
      </p:sp>
      <p:sp>
        <p:nvSpPr>
          <p:cNvPr id="17" name="Text 14"/>
          <p:cNvSpPr/>
          <p:nvPr/>
        </p:nvSpPr>
        <p:spPr>
          <a:xfrm>
            <a:off x="3383280" y="2843784"/>
            <a:ext cx="960120" cy="393192"/>
          </a:xfrm>
          <a:prstGeom prst="rect">
            <a:avLst/>
          </a:prstGeom>
          <a:solidFill>
            <a:srgbClr val="00B050"/>
          </a:solidFill>
          <a:ln w="6985">
            <a:solidFill>
              <a:srgbClr val="A8A8A8"/>
            </a:solidFill>
          </a:ln>
        </p:spPr>
        <p:txBody>
          <a:bodyPr wrap="square" lIns="381" tIns="381" rIns="381" bIns="381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(+)</a:t>
            </a:r>
            <a:endParaRPr lang="en-US" sz="1200" dirty="0"/>
          </a:p>
        </p:txBody>
      </p:sp>
      <p:sp>
        <p:nvSpPr>
          <p:cNvPr id="18" name="Text 15"/>
          <p:cNvSpPr/>
          <p:nvPr/>
        </p:nvSpPr>
        <p:spPr>
          <a:xfrm>
            <a:off x="4343400" y="2843784"/>
            <a:ext cx="6903720" cy="393192"/>
          </a:xfrm>
          <a:prstGeom prst="rect">
            <a:avLst/>
          </a:prstGeom>
          <a:solidFill>
            <a:srgbClr val="FFFFFF"/>
          </a:solidFill>
          <a:ln w="6985">
            <a:solidFill>
              <a:srgbClr val="A8A8A8"/>
            </a:solidFill>
          </a:ln>
        </p:spPr>
        <p:txBody>
          <a:bodyPr wrap="square" lIns="381" tIns="381" rIns="381" bIns="381" rtlCol="0" anchor="ctr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Service available – normal operation</a:t>
            </a:r>
            <a:endParaRPr lang="en-US" sz="1200" dirty="0"/>
          </a:p>
        </p:txBody>
      </p:sp>
      <p:sp>
        <p:nvSpPr>
          <p:cNvPr id="19" name="Text 16"/>
          <p:cNvSpPr/>
          <p:nvPr/>
        </p:nvSpPr>
        <p:spPr>
          <a:xfrm>
            <a:off x="1325880" y="3236976"/>
            <a:ext cx="2057400" cy="393192"/>
          </a:xfrm>
          <a:prstGeom prst="rect">
            <a:avLst/>
          </a:prstGeom>
          <a:solidFill>
            <a:srgbClr val="FFFFFF"/>
          </a:solidFill>
          <a:ln w="6985">
            <a:solidFill>
              <a:srgbClr val="A8A8A8"/>
            </a:solidFill>
          </a:ln>
        </p:spPr>
        <p:txBody>
          <a:bodyPr wrap="square" lIns="381" tIns="381" rIns="381" bIns="381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Friday</a:t>
            </a:r>
            <a:endParaRPr lang="en-US" sz="1200" dirty="0"/>
          </a:p>
        </p:txBody>
      </p:sp>
      <p:sp>
        <p:nvSpPr>
          <p:cNvPr id="20" name="Text 17"/>
          <p:cNvSpPr/>
          <p:nvPr/>
        </p:nvSpPr>
        <p:spPr>
          <a:xfrm>
            <a:off x="3383280" y="3236976"/>
            <a:ext cx="960120" cy="393192"/>
          </a:xfrm>
          <a:prstGeom prst="rect">
            <a:avLst/>
          </a:prstGeom>
          <a:solidFill>
            <a:srgbClr val="00B050"/>
          </a:solidFill>
          <a:ln w="6985">
            <a:solidFill>
              <a:srgbClr val="A8A8A8"/>
            </a:solidFill>
          </a:ln>
        </p:spPr>
        <p:txBody>
          <a:bodyPr wrap="square" lIns="381" tIns="381" rIns="381" bIns="381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(+)</a:t>
            </a:r>
            <a:endParaRPr lang="en-US" sz="1200" dirty="0"/>
          </a:p>
        </p:txBody>
      </p:sp>
      <p:sp>
        <p:nvSpPr>
          <p:cNvPr id="21" name="Text 18"/>
          <p:cNvSpPr/>
          <p:nvPr/>
        </p:nvSpPr>
        <p:spPr>
          <a:xfrm>
            <a:off x="4343400" y="3236976"/>
            <a:ext cx="6903720" cy="393192"/>
          </a:xfrm>
          <a:prstGeom prst="rect">
            <a:avLst/>
          </a:prstGeom>
          <a:solidFill>
            <a:srgbClr val="FFFFFF"/>
          </a:solidFill>
          <a:ln w="6985">
            <a:solidFill>
              <a:srgbClr val="A8A8A8"/>
            </a:solidFill>
          </a:ln>
        </p:spPr>
        <p:txBody>
          <a:bodyPr wrap="square" lIns="381" tIns="381" rIns="381" bIns="381" rtlCol="0" anchor="ctr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Service available – normal operation</a:t>
            </a:r>
            <a:endParaRPr lang="en-US" sz="1200" dirty="0"/>
          </a:p>
        </p:txBody>
      </p:sp>
      <p:sp>
        <p:nvSpPr>
          <p:cNvPr id="22" name="Text 19"/>
          <p:cNvSpPr/>
          <p:nvPr/>
        </p:nvSpPr>
        <p:spPr>
          <a:xfrm rot="16200000">
            <a:off x="365760" y="3977640"/>
            <a:ext cx="822960" cy="1508760"/>
          </a:xfrm>
          <a:prstGeom prst="rect">
            <a:avLst/>
          </a:prstGeom>
          <a:solidFill>
            <a:srgbClr val="CBEAF5"/>
          </a:solidFill>
          <a:ln>
            <a:solidFill>
              <a:srgbClr val="CBEAF5"/>
            </a:solidFill>
          </a:ln>
        </p:spPr>
        <p:txBody>
          <a:bodyPr wrap="square" lIns="381" tIns="381" rIns="381" bIns="381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Highlight</a:t>
            </a:r>
            <a:endParaRPr lang="en-US" sz="1300" dirty="0"/>
          </a:p>
        </p:txBody>
      </p:sp>
      <p:sp>
        <p:nvSpPr>
          <p:cNvPr id="23" name="Text 20"/>
          <p:cNvSpPr/>
          <p:nvPr/>
        </p:nvSpPr>
        <p:spPr>
          <a:xfrm>
            <a:off x="1325880" y="3950208"/>
            <a:ext cx="10149840" cy="1600200"/>
          </a:xfrm>
          <a:prstGeom prst="rect">
            <a:avLst/>
          </a:prstGeom>
          <a:solidFill>
            <a:srgbClr val="FFFFFF"/>
          </a:solidFill>
          <a:ln w="12700">
            <a:solidFill>
              <a:srgbClr val="000000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algn="l" indent="0" marL="0">
              <a:buNone/>
            </a:pPr>
            <a:r>
              <a:rPr lang="en-US" sz="103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(+) – No service interruption reported this week. A technical feedback session was held with BOB users to collect usage patterns, pain points and improvement opportunities. Main topics raised were context growth during long sessions, increasing token / Bob Coin consumption, early MCP usage, Skills and Rules sharing, IDE integration and licence availability. Several teams are already experimenting with reusable Skills and project specific instructions. A consolidation of existing assets from Git and Confluence is being initiated.</a:t>
            </a:r>
            <a:endParaRPr lang="en-US" sz="1030" dirty="0"/>
          </a:p>
        </p:txBody>
      </p:sp>
      <p:sp>
        <p:nvSpPr>
          <p:cNvPr id="24" name="Shape 21"/>
          <p:cNvSpPr/>
          <p:nvPr/>
        </p:nvSpPr>
        <p:spPr>
          <a:xfrm>
            <a:off x="320040" y="5961888"/>
            <a:ext cx="11521440" cy="0"/>
          </a:xfrm>
          <a:prstGeom prst="line">
            <a:avLst/>
          </a:prstGeom>
          <a:noFill/>
          <a:ln w="7620">
            <a:solidFill>
              <a:srgbClr val="9B9B9B"/>
            </a:solidFill>
            <a:prstDash val="solid"/>
          </a:ln>
        </p:spPr>
      </p:sp>
      <p:pic>
        <p:nvPicPr>
          <p:cNvPr id="25" name="Image 1" descr="/mnt/data/bnp_logo_crop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6144768"/>
            <a:ext cx="2377440" cy="502920"/>
          </a:xfrm>
          <a:prstGeom prst="rect">
            <a:avLst/>
          </a:prstGeom>
        </p:spPr>
      </p:pic>
      <p:sp>
        <p:nvSpPr>
          <p:cNvPr id="26" name="Text 22"/>
          <p:cNvSpPr/>
          <p:nvPr/>
        </p:nvSpPr>
        <p:spPr>
          <a:xfrm>
            <a:off x="8869680" y="6236208"/>
            <a:ext cx="2651760" cy="201168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r" indent="0" marL="0">
              <a:buNone/>
            </a:pPr>
            <a:r>
              <a:rPr lang="en-US" sz="75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AI@IT Payment Services   |   06/10/2026</a:t>
            </a:r>
            <a:endParaRPr lang="en-US" sz="750" dirty="0"/>
          </a:p>
        </p:txBody>
      </p:sp>
      <p:sp>
        <p:nvSpPr>
          <p:cNvPr id="27" name="Text 23"/>
          <p:cNvSpPr/>
          <p:nvPr/>
        </p:nvSpPr>
        <p:spPr>
          <a:xfrm>
            <a:off x="3337560" y="5925312"/>
            <a:ext cx="1600200" cy="384048"/>
          </a:xfrm>
          <a:prstGeom prst="rect">
            <a:avLst/>
          </a:prstGeom>
          <a:solidFill>
            <a:srgbClr val="FF0000"/>
          </a:solidFill>
          <a:ln w="6985">
            <a:solidFill>
              <a:srgbClr val="FF0000"/>
            </a:solidFill>
          </a:ln>
        </p:spPr>
        <p:txBody>
          <a:bodyPr wrap="square" lIns="381" tIns="381" rIns="381" bIns="381" rtlCol="0" anchor="ctr">
            <a:normAutofit/>
          </a:bodyPr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Critical blockers</a:t>
            </a:r>
            <a:endParaRPr lang="en-US" sz="900" dirty="0"/>
          </a:p>
        </p:txBody>
      </p:sp>
      <p:sp>
        <p:nvSpPr>
          <p:cNvPr id="28" name="Text 24"/>
          <p:cNvSpPr/>
          <p:nvPr/>
        </p:nvSpPr>
        <p:spPr>
          <a:xfrm>
            <a:off x="5029200" y="5925312"/>
            <a:ext cx="1691640" cy="384048"/>
          </a:xfrm>
          <a:prstGeom prst="rect">
            <a:avLst/>
          </a:prstGeom>
          <a:solidFill>
            <a:srgbClr val="FFFF00"/>
          </a:solidFill>
          <a:ln w="6985">
            <a:solidFill>
              <a:srgbClr val="FFFF00"/>
            </a:solidFill>
          </a:ln>
        </p:spPr>
        <p:txBody>
          <a:bodyPr wrap="square" lIns="381" tIns="381" rIns="381" bIns="381" rtlCol="0" anchor="ctr">
            <a:normAutofit/>
          </a:bodyPr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Partial blockers</a:t>
            </a:r>
            <a:endParaRPr lang="en-US" sz="900" dirty="0"/>
          </a:p>
        </p:txBody>
      </p:sp>
      <p:sp>
        <p:nvSpPr>
          <p:cNvPr id="29" name="Text 25"/>
          <p:cNvSpPr/>
          <p:nvPr/>
        </p:nvSpPr>
        <p:spPr>
          <a:xfrm>
            <a:off x="6812280" y="5925312"/>
            <a:ext cx="1828800" cy="384048"/>
          </a:xfrm>
          <a:prstGeom prst="rect">
            <a:avLst/>
          </a:prstGeom>
          <a:solidFill>
            <a:srgbClr val="00B050"/>
          </a:solidFill>
          <a:ln w="6985">
            <a:solidFill>
              <a:srgbClr val="00B050"/>
            </a:solidFill>
          </a:ln>
        </p:spPr>
        <p:txBody>
          <a:bodyPr wrap="square" lIns="381" tIns="381" rIns="381" bIns="381" rtlCol="0" anchor="ctr">
            <a:normAutofit/>
          </a:bodyPr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Smooth experience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82880" y="73152"/>
            <a:ext cx="11612880" cy="50292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008B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Global Overview</a:t>
            </a:r>
            <a:endParaRPr lang="en-US" sz="2800" dirty="0"/>
          </a:p>
        </p:txBody>
      </p:sp>
      <p:pic>
        <p:nvPicPr>
          <p:cNvPr id="3" name="Image 0" descr="/mnt/data/it_group_crop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479024" y="100584"/>
            <a:ext cx="1005840" cy="310896"/>
          </a:xfrm>
          <a:prstGeom prst="rect">
            <a:avLst/>
          </a:prstGeom>
        </p:spPr>
      </p:pic>
      <p:sp>
        <p:nvSpPr>
          <p:cNvPr id="4" name="Shape 1"/>
          <p:cNvSpPr/>
          <p:nvPr/>
        </p:nvSpPr>
        <p:spPr>
          <a:xfrm>
            <a:off x="320040" y="704088"/>
            <a:ext cx="11521440" cy="0"/>
          </a:xfrm>
          <a:prstGeom prst="line">
            <a:avLst/>
          </a:prstGeom>
          <a:noFill/>
          <a:ln w="8890">
            <a:solidFill>
              <a:srgbClr val="8C8C8C"/>
            </a:solidFill>
            <a:prstDash val="solid"/>
          </a:ln>
        </p:spPr>
      </p:sp>
      <p:sp>
        <p:nvSpPr>
          <p:cNvPr id="5" name="Text 2"/>
          <p:cNvSpPr/>
          <p:nvPr/>
        </p:nvSpPr>
        <p:spPr>
          <a:xfrm>
            <a:off x="320040" y="960120"/>
            <a:ext cx="5120640" cy="32004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008B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Progress observed</a:t>
            </a:r>
            <a:endParaRPr lang="en-US" sz="2200" dirty="0"/>
          </a:p>
        </p:txBody>
      </p:sp>
      <p:sp>
        <p:nvSpPr>
          <p:cNvPr id="6" name="Text 3"/>
          <p:cNvSpPr/>
          <p:nvPr/>
        </p:nvSpPr>
        <p:spPr>
          <a:xfrm>
            <a:off x="320040" y="1417320"/>
            <a:ext cx="4434840" cy="338328"/>
          </a:xfrm>
          <a:prstGeom prst="rect">
            <a:avLst/>
          </a:prstGeom>
          <a:solidFill>
            <a:srgbClr val="EDEFF1"/>
          </a:solidFill>
          <a:ln w="6985">
            <a:solidFill>
              <a:srgbClr val="FFFFFF"/>
            </a:solidFill>
          </a:ln>
        </p:spPr>
        <p:txBody>
          <a:bodyPr wrap="square" lIns="635" tIns="635" rIns="635" bIns="635" rtlCol="0" anchor="ctr">
            <a:normAutofit/>
          </a:bodyPr>
          <a:lstStyle/>
          <a:p>
            <a:pPr algn="l" indent="0" marL="0">
              <a:buNone/>
            </a:pPr>
            <a:r>
              <a:rPr lang="en-US" sz="95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Growing adoption across development teams</a:t>
            </a:r>
            <a:endParaRPr lang="en-US" sz="950" dirty="0"/>
          </a:p>
        </p:txBody>
      </p:sp>
      <p:sp>
        <p:nvSpPr>
          <p:cNvPr id="7" name="Text 4"/>
          <p:cNvSpPr/>
          <p:nvPr/>
        </p:nvSpPr>
        <p:spPr>
          <a:xfrm>
            <a:off x="4754880" y="1417320"/>
            <a:ext cx="6766560" cy="338328"/>
          </a:xfrm>
          <a:prstGeom prst="rect">
            <a:avLst/>
          </a:prstGeom>
          <a:solidFill>
            <a:srgbClr val="EDEFF1"/>
          </a:solidFill>
          <a:ln w="6985">
            <a:solidFill>
              <a:srgbClr val="FFFFFF"/>
            </a:solidFill>
          </a:ln>
        </p:spPr>
        <p:txBody>
          <a:bodyPr wrap="square" lIns="635" tIns="635" rIns="635" bIns="635" rtlCol="0" anchor="ctr">
            <a:normAutofit/>
          </a:bodyPr>
          <a:lstStyle/>
          <a:p>
            <a:pPr algn="l" indent="0" marL="0">
              <a:buNone/>
            </a:pPr>
            <a:r>
              <a:rPr lang="en-US" sz="95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Concrete use cases around Java migration, testing, documentation and code analysis.</a:t>
            </a:r>
            <a:endParaRPr lang="en-US" sz="950" dirty="0"/>
          </a:p>
        </p:txBody>
      </p:sp>
      <p:sp>
        <p:nvSpPr>
          <p:cNvPr id="8" name="Text 5"/>
          <p:cNvSpPr/>
          <p:nvPr/>
        </p:nvSpPr>
        <p:spPr>
          <a:xfrm>
            <a:off x="320040" y="1755648"/>
            <a:ext cx="4434840" cy="338328"/>
          </a:xfrm>
          <a:prstGeom prst="rect">
            <a:avLst/>
          </a:prstGeom>
          <a:solidFill>
            <a:srgbClr val="EDEFF1"/>
          </a:solidFill>
          <a:ln w="6985">
            <a:solidFill>
              <a:srgbClr val="FFFFFF"/>
            </a:solidFill>
          </a:ln>
        </p:spPr>
        <p:txBody>
          <a:bodyPr wrap="square" lIns="635" tIns="635" rIns="635" bIns="635" rtlCol="0" anchor="ctr">
            <a:normAutofit/>
          </a:bodyPr>
          <a:lstStyle/>
          <a:p>
            <a:pPr algn="l" indent="0" marL="0">
              <a:buNone/>
            </a:pPr>
            <a:r>
              <a:rPr lang="en-US" sz="95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Use of reusable Skills and Rules</a:t>
            </a:r>
            <a:endParaRPr lang="en-US" sz="950" dirty="0"/>
          </a:p>
        </p:txBody>
      </p:sp>
      <p:sp>
        <p:nvSpPr>
          <p:cNvPr id="9" name="Text 6"/>
          <p:cNvSpPr/>
          <p:nvPr/>
        </p:nvSpPr>
        <p:spPr>
          <a:xfrm>
            <a:off x="4754880" y="1755648"/>
            <a:ext cx="6766560" cy="338328"/>
          </a:xfrm>
          <a:prstGeom prst="rect">
            <a:avLst/>
          </a:prstGeom>
          <a:solidFill>
            <a:srgbClr val="EDEFF1"/>
          </a:solidFill>
          <a:ln w="6985">
            <a:solidFill>
              <a:srgbClr val="FFFFFF"/>
            </a:solidFill>
          </a:ln>
        </p:spPr>
        <p:txBody>
          <a:bodyPr wrap="square" lIns="635" tIns="635" rIns="635" bIns="635" rtlCol="0" anchor="ctr">
            <a:normAutofit/>
          </a:bodyPr>
          <a:lstStyle/>
          <a:p>
            <a:pPr algn="l" indent="0" marL="0">
              <a:buNone/>
            </a:pPr>
            <a:r>
              <a:rPr lang="en-US" sz="95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Teams are starting to create reusable Skills, Rules and project context files.</a:t>
            </a:r>
            <a:endParaRPr lang="en-US" sz="950" dirty="0"/>
          </a:p>
        </p:txBody>
      </p:sp>
      <p:sp>
        <p:nvSpPr>
          <p:cNvPr id="10" name="Text 7"/>
          <p:cNvSpPr/>
          <p:nvPr/>
        </p:nvSpPr>
        <p:spPr>
          <a:xfrm>
            <a:off x="320040" y="2093976"/>
            <a:ext cx="4434840" cy="338328"/>
          </a:xfrm>
          <a:prstGeom prst="rect">
            <a:avLst/>
          </a:prstGeom>
          <a:solidFill>
            <a:srgbClr val="EDEFF1"/>
          </a:solidFill>
          <a:ln w="6985">
            <a:solidFill>
              <a:srgbClr val="FFFFFF"/>
            </a:solidFill>
          </a:ln>
        </p:spPr>
        <p:txBody>
          <a:bodyPr wrap="square" lIns="635" tIns="635" rIns="635" bIns="635" rtlCol="0" anchor="ctr">
            <a:normAutofit/>
          </a:bodyPr>
          <a:lstStyle/>
          <a:p>
            <a:pPr algn="l" indent="0" marL="0">
              <a:buNone/>
            </a:pPr>
            <a:r>
              <a:rPr lang="en-US" sz="95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Interest in MCP</a:t>
            </a:r>
            <a:endParaRPr lang="en-US" sz="950" dirty="0"/>
          </a:p>
        </p:txBody>
      </p:sp>
      <p:sp>
        <p:nvSpPr>
          <p:cNvPr id="11" name="Text 8"/>
          <p:cNvSpPr/>
          <p:nvPr/>
        </p:nvSpPr>
        <p:spPr>
          <a:xfrm>
            <a:off x="4754880" y="2093976"/>
            <a:ext cx="6766560" cy="338328"/>
          </a:xfrm>
          <a:prstGeom prst="rect">
            <a:avLst/>
          </a:prstGeom>
          <a:solidFill>
            <a:srgbClr val="EDEFF1"/>
          </a:solidFill>
          <a:ln w="6985">
            <a:solidFill>
              <a:srgbClr val="FFFFFF"/>
            </a:solidFill>
          </a:ln>
        </p:spPr>
        <p:txBody>
          <a:bodyPr wrap="square" lIns="635" tIns="635" rIns="635" bIns="635" rtlCol="0" anchor="ctr">
            <a:normAutofit/>
          </a:bodyPr>
          <a:lstStyle/>
          <a:p>
            <a:pPr algn="l" indent="0" marL="0">
              <a:buNone/>
            </a:pPr>
            <a:r>
              <a:rPr lang="en-US" sz="95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Increasing interest, especially for accessing internal documentation (e.g. Confluence).</a:t>
            </a:r>
            <a:endParaRPr lang="en-US" sz="950" dirty="0"/>
          </a:p>
        </p:txBody>
      </p:sp>
      <p:sp>
        <p:nvSpPr>
          <p:cNvPr id="12" name="Text 9"/>
          <p:cNvSpPr/>
          <p:nvPr/>
        </p:nvSpPr>
        <p:spPr>
          <a:xfrm>
            <a:off x="320040" y="2432304"/>
            <a:ext cx="4434840" cy="338328"/>
          </a:xfrm>
          <a:prstGeom prst="rect">
            <a:avLst/>
          </a:prstGeom>
          <a:solidFill>
            <a:srgbClr val="EDEFF1"/>
          </a:solidFill>
          <a:ln w="6985">
            <a:solidFill>
              <a:srgbClr val="FFFFFF"/>
            </a:solidFill>
          </a:ln>
        </p:spPr>
        <p:txBody>
          <a:bodyPr wrap="square" lIns="635" tIns="635" rIns="635" bIns="635" rtlCol="0" anchor="ctr">
            <a:normAutofit/>
          </a:bodyPr>
          <a:lstStyle/>
          <a:p>
            <a:pPr algn="l" indent="0" marL="0">
              <a:buNone/>
            </a:pPr>
            <a:r>
              <a:rPr lang="en-US" sz="95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Improved developer experience with IDE integration</a:t>
            </a:r>
            <a:endParaRPr lang="en-US" sz="950" dirty="0"/>
          </a:p>
        </p:txBody>
      </p:sp>
      <p:sp>
        <p:nvSpPr>
          <p:cNvPr id="13" name="Text 10"/>
          <p:cNvSpPr/>
          <p:nvPr/>
        </p:nvSpPr>
        <p:spPr>
          <a:xfrm>
            <a:off x="4754880" y="2432304"/>
            <a:ext cx="6766560" cy="338328"/>
          </a:xfrm>
          <a:prstGeom prst="rect">
            <a:avLst/>
          </a:prstGeom>
          <a:solidFill>
            <a:srgbClr val="EDEFF1"/>
          </a:solidFill>
          <a:ln w="6985">
            <a:solidFill>
              <a:srgbClr val="FFFFFF"/>
            </a:solidFill>
          </a:ln>
        </p:spPr>
        <p:txBody>
          <a:bodyPr wrap="square" lIns="635" tIns="635" rIns="635" bIns="635" rtlCol="0" anchor="ctr">
            <a:normAutofit/>
          </a:bodyPr>
          <a:lstStyle/>
          <a:p>
            <a:pPr algn="l" indent="0" marL="0">
              <a:buNone/>
            </a:pPr>
            <a:r>
              <a:rPr lang="en-US" sz="95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BOB in IntelliJ is perceived as more convenient for backend and Java development.</a:t>
            </a:r>
            <a:endParaRPr lang="en-US" sz="950" dirty="0"/>
          </a:p>
        </p:txBody>
      </p:sp>
      <p:sp>
        <p:nvSpPr>
          <p:cNvPr id="14" name="Text 11"/>
          <p:cNvSpPr/>
          <p:nvPr/>
        </p:nvSpPr>
        <p:spPr>
          <a:xfrm>
            <a:off x="320040" y="2770632"/>
            <a:ext cx="4434840" cy="338328"/>
          </a:xfrm>
          <a:prstGeom prst="rect">
            <a:avLst/>
          </a:prstGeom>
          <a:solidFill>
            <a:srgbClr val="EDEFF1"/>
          </a:solidFill>
          <a:ln w="6985">
            <a:solidFill>
              <a:srgbClr val="FFFFFF"/>
            </a:solidFill>
          </a:ln>
        </p:spPr>
        <p:txBody>
          <a:bodyPr wrap="square" lIns="635" tIns="635" rIns="635" bIns="635" rtlCol="0" anchor="ctr">
            <a:normAutofit/>
          </a:bodyPr>
          <a:lstStyle/>
          <a:p>
            <a:pPr algn="l" indent="0" marL="0">
              <a:buNone/>
            </a:pPr>
            <a:r>
              <a:rPr lang="en-US" sz="95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Regular technical BOB community exchanges</a:t>
            </a:r>
            <a:endParaRPr lang="en-US" sz="950" dirty="0"/>
          </a:p>
        </p:txBody>
      </p:sp>
      <p:sp>
        <p:nvSpPr>
          <p:cNvPr id="15" name="Text 12"/>
          <p:cNvSpPr/>
          <p:nvPr/>
        </p:nvSpPr>
        <p:spPr>
          <a:xfrm>
            <a:off x="4754880" y="2770632"/>
            <a:ext cx="6766560" cy="338328"/>
          </a:xfrm>
          <a:prstGeom prst="rect">
            <a:avLst/>
          </a:prstGeom>
          <a:solidFill>
            <a:srgbClr val="EDEFF1"/>
          </a:solidFill>
          <a:ln w="6985">
            <a:solidFill>
              <a:srgbClr val="FFFFFF"/>
            </a:solidFill>
          </a:ln>
        </p:spPr>
        <p:txBody>
          <a:bodyPr wrap="square" lIns="635" tIns="635" rIns="635" bIns="635" rtlCol="0" anchor="ctr">
            <a:normAutofit/>
          </a:bodyPr>
          <a:lstStyle/>
          <a:p>
            <a:pPr algn="l" indent="0" marL="0">
              <a:buNone/>
            </a:pPr>
            <a:r>
              <a:rPr lang="en-US" sz="95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technical feedback session is now in place to share issues and best practices.</a:t>
            </a:r>
            <a:endParaRPr lang="en-US" sz="950" dirty="0"/>
          </a:p>
        </p:txBody>
      </p:sp>
      <p:sp>
        <p:nvSpPr>
          <p:cNvPr id="16" name="Text 13"/>
          <p:cNvSpPr/>
          <p:nvPr/>
        </p:nvSpPr>
        <p:spPr>
          <a:xfrm>
            <a:off x="320040" y="3611880"/>
            <a:ext cx="4572000" cy="36576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008B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 Improve</a:t>
            </a:r>
            <a:endParaRPr lang="en-US" sz="2200" dirty="0"/>
          </a:p>
        </p:txBody>
      </p:sp>
      <p:sp>
        <p:nvSpPr>
          <p:cNvPr id="17" name="Text 14"/>
          <p:cNvSpPr/>
          <p:nvPr/>
        </p:nvSpPr>
        <p:spPr>
          <a:xfrm>
            <a:off x="320040" y="4160520"/>
            <a:ext cx="4434840" cy="338328"/>
          </a:xfrm>
          <a:prstGeom prst="rect">
            <a:avLst/>
          </a:prstGeom>
          <a:solidFill>
            <a:srgbClr val="EDEFF1"/>
          </a:solidFill>
          <a:ln w="6985">
            <a:solidFill>
              <a:srgbClr val="FFFFFF"/>
            </a:solidFill>
          </a:ln>
        </p:spPr>
        <p:txBody>
          <a:bodyPr wrap="square" lIns="635" tIns="635" rIns="635" bIns="635" rtlCol="0" anchor="ctr">
            <a:normAutofit/>
          </a:bodyPr>
          <a:lstStyle/>
          <a:p>
            <a:pPr algn="l" indent="0" marL="0">
              <a:buNone/>
            </a:pPr>
            <a:r>
              <a:rPr lang="en-US" sz="95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Context management</a:t>
            </a:r>
            <a:endParaRPr lang="en-US" sz="950" dirty="0"/>
          </a:p>
        </p:txBody>
      </p:sp>
      <p:sp>
        <p:nvSpPr>
          <p:cNvPr id="18" name="Text 15"/>
          <p:cNvSpPr/>
          <p:nvPr/>
        </p:nvSpPr>
        <p:spPr>
          <a:xfrm>
            <a:off x="4754880" y="4160520"/>
            <a:ext cx="6766560" cy="338328"/>
          </a:xfrm>
          <a:prstGeom prst="rect">
            <a:avLst/>
          </a:prstGeom>
          <a:solidFill>
            <a:srgbClr val="EDEFF1"/>
          </a:solidFill>
          <a:ln w="6985">
            <a:solidFill>
              <a:srgbClr val="FFFFFF"/>
            </a:solidFill>
          </a:ln>
        </p:spPr>
        <p:txBody>
          <a:bodyPr wrap="square" lIns="635" tIns="635" rIns="635" bIns="635" rtlCol="0" anchor="ctr">
            <a:normAutofit/>
          </a:bodyPr>
          <a:lstStyle/>
          <a:p>
            <a:pPr algn="l" indent="0" marL="0">
              <a:buNone/>
            </a:pPr>
            <a:r>
              <a:rPr lang="en-US" sz="95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Long sessions increase context size and token / Bob Coin consumption.</a:t>
            </a:r>
            <a:endParaRPr lang="en-US" sz="950" dirty="0"/>
          </a:p>
        </p:txBody>
      </p:sp>
      <p:sp>
        <p:nvSpPr>
          <p:cNvPr id="19" name="Text 16"/>
          <p:cNvSpPr/>
          <p:nvPr/>
        </p:nvSpPr>
        <p:spPr>
          <a:xfrm>
            <a:off x="320040" y="4498848"/>
            <a:ext cx="4434840" cy="338328"/>
          </a:xfrm>
          <a:prstGeom prst="rect">
            <a:avLst/>
          </a:prstGeom>
          <a:solidFill>
            <a:srgbClr val="EDEFF1"/>
          </a:solidFill>
          <a:ln w="6985">
            <a:solidFill>
              <a:srgbClr val="FFFFFF"/>
            </a:solidFill>
          </a:ln>
        </p:spPr>
        <p:txBody>
          <a:bodyPr wrap="square" lIns="635" tIns="635" rIns="635" bIns="635" rtlCol="0" anchor="ctr">
            <a:normAutofit/>
          </a:bodyPr>
          <a:lstStyle/>
          <a:p>
            <a:pPr algn="l" indent="0" marL="0">
              <a:buNone/>
            </a:pPr>
            <a:r>
              <a:rPr lang="en-US" sz="95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Skills / Rules centralization</a:t>
            </a:r>
            <a:endParaRPr lang="en-US" sz="950" dirty="0"/>
          </a:p>
        </p:txBody>
      </p:sp>
      <p:sp>
        <p:nvSpPr>
          <p:cNvPr id="20" name="Text 17"/>
          <p:cNvSpPr/>
          <p:nvPr/>
        </p:nvSpPr>
        <p:spPr>
          <a:xfrm>
            <a:off x="4754880" y="4498848"/>
            <a:ext cx="6766560" cy="338328"/>
          </a:xfrm>
          <a:prstGeom prst="rect">
            <a:avLst/>
          </a:prstGeom>
          <a:solidFill>
            <a:srgbClr val="EDEFF1"/>
          </a:solidFill>
          <a:ln w="6985">
            <a:solidFill>
              <a:srgbClr val="FFFFFF"/>
            </a:solidFill>
          </a:ln>
        </p:spPr>
        <p:txBody>
          <a:bodyPr wrap="square" lIns="635" tIns="635" rIns="635" bIns="635" rtlCol="0" anchor="ctr">
            <a:normAutofit/>
          </a:bodyPr>
          <a:lstStyle/>
          <a:p>
            <a:pPr algn="l" indent="0" marL="0">
              <a:buNone/>
            </a:pPr>
            <a:r>
              <a:rPr lang="en-US" sz="95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Elements are still created independently, need a shared and validated repository.</a:t>
            </a:r>
            <a:endParaRPr lang="en-US" sz="950" dirty="0"/>
          </a:p>
        </p:txBody>
      </p:sp>
      <p:sp>
        <p:nvSpPr>
          <p:cNvPr id="21" name="Text 18"/>
          <p:cNvSpPr/>
          <p:nvPr/>
        </p:nvSpPr>
        <p:spPr>
          <a:xfrm>
            <a:off x="320040" y="4837176"/>
            <a:ext cx="4434840" cy="338328"/>
          </a:xfrm>
          <a:prstGeom prst="rect">
            <a:avLst/>
          </a:prstGeom>
          <a:solidFill>
            <a:srgbClr val="EDEFF1"/>
          </a:solidFill>
          <a:ln w="6985">
            <a:solidFill>
              <a:srgbClr val="FFFFFF"/>
            </a:solidFill>
          </a:ln>
        </p:spPr>
        <p:txBody>
          <a:bodyPr wrap="square" lIns="635" tIns="635" rIns="635" bIns="635" rtlCol="0" anchor="ctr">
            <a:normAutofit/>
          </a:bodyPr>
          <a:lstStyle/>
          <a:p>
            <a:pPr algn="l" indent="0" marL="0">
              <a:buNone/>
            </a:pPr>
            <a:r>
              <a:rPr lang="en-US" sz="95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Licence availability</a:t>
            </a:r>
            <a:endParaRPr lang="en-US" sz="950" dirty="0"/>
          </a:p>
        </p:txBody>
      </p:sp>
      <p:sp>
        <p:nvSpPr>
          <p:cNvPr id="22" name="Text 19"/>
          <p:cNvSpPr/>
          <p:nvPr/>
        </p:nvSpPr>
        <p:spPr>
          <a:xfrm>
            <a:off x="4754880" y="4837176"/>
            <a:ext cx="6766560" cy="338328"/>
          </a:xfrm>
          <a:prstGeom prst="rect">
            <a:avLst/>
          </a:prstGeom>
          <a:solidFill>
            <a:srgbClr val="EDEFF1"/>
          </a:solidFill>
          <a:ln w="6985">
            <a:solidFill>
              <a:srgbClr val="FFFFFF"/>
            </a:solidFill>
          </a:ln>
        </p:spPr>
        <p:txBody>
          <a:bodyPr wrap="square" lIns="635" tIns="635" rIns="635" bIns="635" rtlCol="0" anchor="ctr">
            <a:normAutofit/>
          </a:bodyPr>
          <a:lstStyle/>
          <a:p>
            <a:pPr algn="l" indent="0" marL="0">
              <a:buNone/>
            </a:pPr>
            <a:r>
              <a:rPr lang="en-US" sz="95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Not all developers have access to BOB, creating different working practices.</a:t>
            </a:r>
            <a:endParaRPr lang="en-US" sz="950" dirty="0"/>
          </a:p>
        </p:txBody>
      </p:sp>
      <p:sp>
        <p:nvSpPr>
          <p:cNvPr id="23" name="Text 20"/>
          <p:cNvSpPr/>
          <p:nvPr/>
        </p:nvSpPr>
        <p:spPr>
          <a:xfrm>
            <a:off x="320040" y="5175504"/>
            <a:ext cx="4434840" cy="338328"/>
          </a:xfrm>
          <a:prstGeom prst="rect">
            <a:avLst/>
          </a:prstGeom>
          <a:solidFill>
            <a:srgbClr val="EDEFF1"/>
          </a:solidFill>
          <a:ln w="6985">
            <a:solidFill>
              <a:srgbClr val="FFFFFF"/>
            </a:solidFill>
          </a:ln>
        </p:spPr>
        <p:txBody>
          <a:bodyPr wrap="square" lIns="635" tIns="635" rIns="635" bIns="635" rtlCol="0" anchor="ctr">
            <a:normAutofit/>
          </a:bodyPr>
          <a:lstStyle/>
          <a:p>
            <a:pPr algn="l" indent="0" marL="0">
              <a:buNone/>
            </a:pPr>
            <a:r>
              <a:rPr lang="en-US" sz="95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MCP adoption</a:t>
            </a:r>
            <a:endParaRPr lang="en-US" sz="950" dirty="0"/>
          </a:p>
        </p:txBody>
      </p:sp>
      <p:sp>
        <p:nvSpPr>
          <p:cNvPr id="24" name="Text 21"/>
          <p:cNvSpPr/>
          <p:nvPr/>
        </p:nvSpPr>
        <p:spPr>
          <a:xfrm>
            <a:off x="4754880" y="5175504"/>
            <a:ext cx="6766560" cy="338328"/>
          </a:xfrm>
          <a:prstGeom prst="rect">
            <a:avLst/>
          </a:prstGeom>
          <a:solidFill>
            <a:srgbClr val="EDEFF1"/>
          </a:solidFill>
          <a:ln w="6985">
            <a:solidFill>
              <a:srgbClr val="FFFFFF"/>
            </a:solidFill>
          </a:ln>
        </p:spPr>
        <p:txBody>
          <a:bodyPr wrap="square" lIns="635" tIns="635" rIns="635" bIns="635" rtlCol="0" anchor="ctr">
            <a:normAutofit/>
          </a:bodyPr>
          <a:lstStyle/>
          <a:p>
            <a:pPr algn="l" indent="0" marL="0">
              <a:buNone/>
            </a:pPr>
            <a:r>
              <a:rPr lang="en-US" sz="95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Still limited, existing integrations are not yet widely shared.</a:t>
            </a:r>
            <a:endParaRPr lang="en-US" sz="950" dirty="0"/>
          </a:p>
        </p:txBody>
      </p:sp>
      <p:sp>
        <p:nvSpPr>
          <p:cNvPr id="25" name="Text 22"/>
          <p:cNvSpPr/>
          <p:nvPr/>
        </p:nvSpPr>
        <p:spPr>
          <a:xfrm>
            <a:off x="320040" y="5513832"/>
            <a:ext cx="4434840" cy="338328"/>
          </a:xfrm>
          <a:prstGeom prst="rect">
            <a:avLst/>
          </a:prstGeom>
          <a:solidFill>
            <a:srgbClr val="EDEFF1"/>
          </a:solidFill>
          <a:ln w="6985">
            <a:solidFill>
              <a:srgbClr val="FFFFFF"/>
            </a:solidFill>
          </a:ln>
        </p:spPr>
        <p:txBody>
          <a:bodyPr wrap="square" lIns="635" tIns="635" rIns="635" bIns="635" rtlCol="0" anchor="ctr">
            <a:normAutofit/>
          </a:bodyPr>
          <a:lstStyle/>
          <a:p>
            <a:pPr algn="l" indent="0" marL="0">
              <a:buNone/>
            </a:pPr>
            <a:r>
              <a:rPr lang="en-US" sz="95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IDE and installation</a:t>
            </a:r>
            <a:endParaRPr lang="en-US" sz="950" dirty="0"/>
          </a:p>
        </p:txBody>
      </p:sp>
      <p:sp>
        <p:nvSpPr>
          <p:cNvPr id="26" name="Text 23"/>
          <p:cNvSpPr/>
          <p:nvPr/>
        </p:nvSpPr>
        <p:spPr>
          <a:xfrm>
            <a:off x="4754880" y="5513832"/>
            <a:ext cx="6766560" cy="338328"/>
          </a:xfrm>
          <a:prstGeom prst="rect">
            <a:avLst/>
          </a:prstGeom>
          <a:solidFill>
            <a:srgbClr val="EDEFF1"/>
          </a:solidFill>
          <a:ln w="6985">
            <a:solidFill>
              <a:srgbClr val="FFFFFF"/>
            </a:solidFill>
          </a:ln>
        </p:spPr>
        <p:txBody>
          <a:bodyPr wrap="square" lIns="635" tIns="635" rIns="635" bIns="635" rtlCol="0" anchor="ctr">
            <a:normAutofit/>
          </a:bodyPr>
          <a:lstStyle/>
          <a:p>
            <a:pPr algn="l" indent="0" marL="0">
              <a:buNone/>
            </a:pPr>
            <a:r>
              <a:rPr lang="en-US" sz="95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Some users reported issues with installation, proxy or requests not completing in IDE.</a:t>
            </a:r>
            <a:endParaRPr lang="en-US" sz="950" dirty="0"/>
          </a:p>
        </p:txBody>
      </p:sp>
      <p:sp>
        <p:nvSpPr>
          <p:cNvPr id="27" name="Shape 24"/>
          <p:cNvSpPr/>
          <p:nvPr/>
        </p:nvSpPr>
        <p:spPr>
          <a:xfrm>
            <a:off x="320040" y="5961888"/>
            <a:ext cx="11521440" cy="0"/>
          </a:xfrm>
          <a:prstGeom prst="line">
            <a:avLst/>
          </a:prstGeom>
          <a:noFill/>
          <a:ln w="7620">
            <a:solidFill>
              <a:srgbClr val="9B9B9B"/>
            </a:solidFill>
            <a:prstDash val="solid"/>
          </a:ln>
        </p:spPr>
      </p:sp>
      <p:pic>
        <p:nvPicPr>
          <p:cNvPr id="28" name="Image 1" descr="/mnt/data/bnp_logo_crop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6144768"/>
            <a:ext cx="2377440" cy="502920"/>
          </a:xfrm>
          <a:prstGeom prst="rect">
            <a:avLst/>
          </a:prstGeom>
        </p:spPr>
      </p:pic>
      <p:sp>
        <p:nvSpPr>
          <p:cNvPr id="29" name="Text 25"/>
          <p:cNvSpPr/>
          <p:nvPr/>
        </p:nvSpPr>
        <p:spPr>
          <a:xfrm>
            <a:off x="8869680" y="6236208"/>
            <a:ext cx="2651760" cy="201168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r" indent="0" marL="0">
              <a:buNone/>
            </a:pPr>
            <a:r>
              <a:rPr lang="en-US" sz="75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AI@IT Payment Services   |   06/10/2026</a:t>
            </a:r>
            <a:endParaRPr lang="en-US" sz="7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82880" y="73152"/>
            <a:ext cx="11612880" cy="50292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008B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Main pain points</a:t>
            </a:r>
            <a:endParaRPr lang="en-US" sz="2800" dirty="0"/>
          </a:p>
        </p:txBody>
      </p:sp>
      <p:pic>
        <p:nvPicPr>
          <p:cNvPr id="3" name="Image 0" descr="/mnt/data/it_group_crop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479024" y="100584"/>
            <a:ext cx="1005840" cy="310896"/>
          </a:xfrm>
          <a:prstGeom prst="rect">
            <a:avLst/>
          </a:prstGeom>
        </p:spPr>
      </p:pic>
      <p:sp>
        <p:nvSpPr>
          <p:cNvPr id="4" name="Shape 1"/>
          <p:cNvSpPr/>
          <p:nvPr/>
        </p:nvSpPr>
        <p:spPr>
          <a:xfrm>
            <a:off x="320040" y="704088"/>
            <a:ext cx="11521440" cy="0"/>
          </a:xfrm>
          <a:prstGeom prst="line">
            <a:avLst/>
          </a:prstGeom>
          <a:noFill/>
          <a:ln w="8890">
            <a:solidFill>
              <a:srgbClr val="8C8C8C"/>
            </a:solidFill>
            <a:prstDash val="solid"/>
          </a:ln>
        </p:spPr>
      </p:sp>
      <p:sp>
        <p:nvSpPr>
          <p:cNvPr id="5" name="Text 2"/>
          <p:cNvSpPr/>
          <p:nvPr/>
        </p:nvSpPr>
        <p:spPr>
          <a:xfrm>
            <a:off x="274320" y="1097280"/>
            <a:ext cx="822960" cy="393192"/>
          </a:xfrm>
          <a:prstGeom prst="rect">
            <a:avLst/>
          </a:prstGeom>
          <a:solidFill>
            <a:srgbClr val="006681"/>
          </a:solidFill>
          <a:ln w="6985">
            <a:solidFill>
              <a:srgbClr val="FFFFFF"/>
            </a:solidFill>
          </a:ln>
        </p:spPr>
        <p:txBody>
          <a:bodyPr wrap="square" lIns="381" tIns="381" rIns="381" bIns="381" rtlCol="0" anchor="ctr">
            <a:normAutofit/>
          </a:bodyPr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BOB AI</a:t>
            </a:r>
            <a:endParaRPr lang="en-US" sz="1050" dirty="0"/>
          </a:p>
        </p:txBody>
      </p:sp>
      <p:sp>
        <p:nvSpPr>
          <p:cNvPr id="6" name="Text 3"/>
          <p:cNvSpPr/>
          <p:nvPr/>
        </p:nvSpPr>
        <p:spPr>
          <a:xfrm>
            <a:off x="1097280" y="1097280"/>
            <a:ext cx="1965960" cy="393192"/>
          </a:xfrm>
          <a:prstGeom prst="rect">
            <a:avLst/>
          </a:prstGeom>
          <a:solidFill>
            <a:srgbClr val="006681"/>
          </a:solidFill>
          <a:ln w="6985">
            <a:solidFill>
              <a:srgbClr val="FFFFFF"/>
            </a:solidFill>
          </a:ln>
        </p:spPr>
        <p:txBody>
          <a:bodyPr wrap="square" lIns="381" tIns="381" rIns="381" bIns="381" rtlCol="0" anchor="ctr">
            <a:normAutofit/>
          </a:bodyPr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Title</a:t>
            </a:r>
            <a:endParaRPr lang="en-US" sz="1050" dirty="0"/>
          </a:p>
        </p:txBody>
      </p:sp>
      <p:sp>
        <p:nvSpPr>
          <p:cNvPr id="7" name="Text 4"/>
          <p:cNvSpPr/>
          <p:nvPr/>
        </p:nvSpPr>
        <p:spPr>
          <a:xfrm>
            <a:off x="3063240" y="1097280"/>
            <a:ext cx="4343400" cy="393192"/>
          </a:xfrm>
          <a:prstGeom prst="rect">
            <a:avLst/>
          </a:prstGeom>
          <a:solidFill>
            <a:srgbClr val="006681"/>
          </a:solidFill>
          <a:ln w="6985">
            <a:solidFill>
              <a:srgbClr val="FFFFFF"/>
            </a:solidFill>
          </a:ln>
        </p:spPr>
        <p:txBody>
          <a:bodyPr wrap="square" lIns="381" tIns="381" rIns="381" bIns="381" rtlCol="0" anchor="ctr">
            <a:normAutofit/>
          </a:bodyPr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Description</a:t>
            </a:r>
            <a:endParaRPr lang="en-US" sz="1050" dirty="0"/>
          </a:p>
        </p:txBody>
      </p:sp>
      <p:sp>
        <p:nvSpPr>
          <p:cNvPr id="8" name="Text 5"/>
          <p:cNvSpPr/>
          <p:nvPr/>
        </p:nvSpPr>
        <p:spPr>
          <a:xfrm>
            <a:off x="7406640" y="1097280"/>
            <a:ext cx="1143000" cy="393192"/>
          </a:xfrm>
          <a:prstGeom prst="rect">
            <a:avLst/>
          </a:prstGeom>
          <a:solidFill>
            <a:srgbClr val="006681"/>
          </a:solidFill>
          <a:ln w="6985">
            <a:solidFill>
              <a:srgbClr val="FFFFFF"/>
            </a:solidFill>
          </a:ln>
        </p:spPr>
        <p:txBody>
          <a:bodyPr wrap="square" lIns="381" tIns="381" rIns="381" bIns="381" rtlCol="0" anchor="ctr">
            <a:normAutofit/>
          </a:bodyPr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Reported</a:t>
            </a:r>
            <a:endParaRPr lang="en-US" sz="1050" dirty="0"/>
          </a:p>
        </p:txBody>
      </p:sp>
      <p:sp>
        <p:nvSpPr>
          <p:cNvPr id="9" name="Text 6"/>
          <p:cNvSpPr/>
          <p:nvPr/>
        </p:nvSpPr>
        <p:spPr>
          <a:xfrm>
            <a:off x="8549640" y="1097280"/>
            <a:ext cx="1097280" cy="393192"/>
          </a:xfrm>
          <a:prstGeom prst="rect">
            <a:avLst/>
          </a:prstGeom>
          <a:solidFill>
            <a:srgbClr val="006681"/>
          </a:solidFill>
          <a:ln w="6985">
            <a:solidFill>
              <a:srgbClr val="FFFFFF"/>
            </a:solidFill>
          </a:ln>
        </p:spPr>
        <p:txBody>
          <a:bodyPr wrap="square" lIns="381" tIns="381" rIns="381" bIns="381" rtlCol="0" anchor="ctr">
            <a:normAutofit/>
          </a:bodyPr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Owner</a:t>
            </a:r>
            <a:endParaRPr lang="en-US" sz="1050" dirty="0"/>
          </a:p>
        </p:txBody>
      </p:sp>
      <p:sp>
        <p:nvSpPr>
          <p:cNvPr id="10" name="Text 7"/>
          <p:cNvSpPr/>
          <p:nvPr/>
        </p:nvSpPr>
        <p:spPr>
          <a:xfrm>
            <a:off x="9646920" y="1097280"/>
            <a:ext cx="1234440" cy="393192"/>
          </a:xfrm>
          <a:prstGeom prst="rect">
            <a:avLst/>
          </a:prstGeom>
          <a:solidFill>
            <a:srgbClr val="006681"/>
          </a:solidFill>
          <a:ln w="6985">
            <a:solidFill>
              <a:srgbClr val="FFFFFF"/>
            </a:solidFill>
          </a:ln>
        </p:spPr>
        <p:txBody>
          <a:bodyPr wrap="square" lIns="381" tIns="381" rIns="381" bIns="381" rtlCol="0" anchor="ctr">
            <a:normAutofit/>
          </a:bodyPr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Status</a:t>
            </a:r>
            <a:endParaRPr lang="en-US" sz="1050" dirty="0"/>
          </a:p>
        </p:txBody>
      </p:sp>
      <p:sp>
        <p:nvSpPr>
          <p:cNvPr id="11" name="Text 8"/>
          <p:cNvSpPr/>
          <p:nvPr/>
        </p:nvSpPr>
        <p:spPr>
          <a:xfrm>
            <a:off x="10881360" y="1097280"/>
            <a:ext cx="731520" cy="393192"/>
          </a:xfrm>
          <a:prstGeom prst="rect">
            <a:avLst/>
          </a:prstGeom>
          <a:solidFill>
            <a:srgbClr val="006681"/>
          </a:solidFill>
          <a:ln w="6985">
            <a:solidFill>
              <a:srgbClr val="FFFFFF"/>
            </a:solidFill>
          </a:ln>
        </p:spPr>
        <p:txBody>
          <a:bodyPr wrap="square" lIns="381" tIns="381" rIns="381" bIns="381" rtlCol="0" anchor="ctr">
            <a:normAutofit/>
          </a:bodyPr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Trend</a:t>
            </a:r>
            <a:endParaRPr lang="en-US" sz="1050" dirty="0"/>
          </a:p>
        </p:txBody>
      </p:sp>
      <p:sp>
        <p:nvSpPr>
          <p:cNvPr id="12" name="Text 9"/>
          <p:cNvSpPr/>
          <p:nvPr/>
        </p:nvSpPr>
        <p:spPr>
          <a:xfrm>
            <a:off x="274320" y="1490472"/>
            <a:ext cx="822960" cy="502920"/>
          </a:xfrm>
          <a:prstGeom prst="rect">
            <a:avLst/>
          </a:prstGeom>
          <a:solidFill>
            <a:srgbClr val="EDEFF1"/>
          </a:solidFill>
          <a:ln w="6985">
            <a:solidFill>
              <a:srgbClr val="FFFFFF"/>
            </a:solidFill>
          </a:ln>
        </p:spPr>
        <p:txBody>
          <a:bodyPr wrap="square" lIns="381" tIns="381" rIns="381" bIns="381" rtlCol="0" anchor="ctr">
            <a:normAutofit/>
          </a:bodyPr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06C8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✖</a:t>
            </a:r>
            <a:endParaRPr lang="en-US" sz="1800" dirty="0"/>
          </a:p>
        </p:txBody>
      </p:sp>
      <p:sp>
        <p:nvSpPr>
          <p:cNvPr id="13" name="Text 10"/>
          <p:cNvSpPr/>
          <p:nvPr/>
        </p:nvSpPr>
        <p:spPr>
          <a:xfrm>
            <a:off x="1097280" y="1490472"/>
            <a:ext cx="1965960" cy="502920"/>
          </a:xfrm>
          <a:prstGeom prst="rect">
            <a:avLst/>
          </a:prstGeom>
          <a:solidFill>
            <a:srgbClr val="EDEFF1"/>
          </a:solidFill>
          <a:ln w="6985">
            <a:solidFill>
              <a:srgbClr val="FFFFFF"/>
            </a:solidFill>
          </a:ln>
        </p:spPr>
        <p:txBody>
          <a:bodyPr wrap="square" lIns="381" tIns="381" rIns="381" bIns="381" rtlCol="0" anchor="ctr">
            <a:normAutofit/>
          </a:bodyPr>
          <a:lstStyle/>
          <a:p>
            <a:pPr algn="ctr" indent="0" marL="0">
              <a:buNone/>
            </a:pPr>
            <a:r>
              <a:rPr lang="en-US" sz="88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Context consumption</a:t>
            </a:r>
            <a:endParaRPr lang="en-US" sz="880" dirty="0"/>
          </a:p>
        </p:txBody>
      </p:sp>
      <p:sp>
        <p:nvSpPr>
          <p:cNvPr id="14" name="Text 11"/>
          <p:cNvSpPr/>
          <p:nvPr/>
        </p:nvSpPr>
        <p:spPr>
          <a:xfrm>
            <a:off x="3063240" y="1490472"/>
            <a:ext cx="4343400" cy="502920"/>
          </a:xfrm>
          <a:prstGeom prst="rect">
            <a:avLst/>
          </a:prstGeom>
          <a:solidFill>
            <a:srgbClr val="EDEFF1"/>
          </a:solidFill>
          <a:ln w="6985">
            <a:solidFill>
              <a:srgbClr val="FFFFFF"/>
            </a:solidFill>
          </a:ln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84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Long sessions and iterative prompts increase context size</a:t>
            </a:r>
            <a:endParaRPr lang="en-US" sz="840" dirty="0"/>
          </a:p>
          <a:p>
            <a:pPr algn="l" indent="0" marL="0">
              <a:buNone/>
            </a:pPr>
            <a:r>
              <a:rPr lang="en-US" sz="84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and Bob Coin consumption.</a:t>
            </a:r>
            <a:endParaRPr lang="en-US" sz="840" dirty="0"/>
          </a:p>
        </p:txBody>
      </p:sp>
      <p:sp>
        <p:nvSpPr>
          <p:cNvPr id="15" name="Text 12"/>
          <p:cNvSpPr/>
          <p:nvPr/>
        </p:nvSpPr>
        <p:spPr>
          <a:xfrm>
            <a:off x="7406640" y="1490472"/>
            <a:ext cx="1143000" cy="502920"/>
          </a:xfrm>
          <a:prstGeom prst="rect">
            <a:avLst/>
          </a:prstGeom>
          <a:solidFill>
            <a:srgbClr val="EDEFF1"/>
          </a:solidFill>
          <a:ln w="6985">
            <a:solidFill>
              <a:srgbClr val="FFFFFF"/>
            </a:solidFill>
          </a:ln>
        </p:spPr>
        <p:txBody>
          <a:bodyPr wrap="square" lIns="381" tIns="381" rIns="381" bIns="381" rtlCol="0" anchor="ctr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06/10/2026</a:t>
            </a:r>
            <a:endParaRPr lang="en-US" sz="850" dirty="0"/>
          </a:p>
        </p:txBody>
      </p:sp>
      <p:sp>
        <p:nvSpPr>
          <p:cNvPr id="16" name="Text 13"/>
          <p:cNvSpPr/>
          <p:nvPr/>
        </p:nvSpPr>
        <p:spPr>
          <a:xfrm>
            <a:off x="8549640" y="1490472"/>
            <a:ext cx="1097280" cy="502920"/>
          </a:xfrm>
          <a:prstGeom prst="rect">
            <a:avLst/>
          </a:prstGeom>
          <a:solidFill>
            <a:srgbClr val="EDEFF1"/>
          </a:solidFill>
          <a:ln w="6985">
            <a:solidFill>
              <a:srgbClr val="FFFFFF"/>
            </a:solidFill>
          </a:ln>
        </p:spPr>
        <p:txBody>
          <a:bodyPr wrap="square" lIns="381" tIns="381" rIns="381" bIns="381" rtlCol="0" anchor="ctr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BOB team</a:t>
            </a:r>
            <a:endParaRPr lang="en-US" sz="850" dirty="0"/>
          </a:p>
        </p:txBody>
      </p:sp>
      <p:sp>
        <p:nvSpPr>
          <p:cNvPr id="17" name="Text 14"/>
          <p:cNvSpPr/>
          <p:nvPr/>
        </p:nvSpPr>
        <p:spPr>
          <a:xfrm>
            <a:off x="9646920" y="1490472"/>
            <a:ext cx="1234440" cy="502920"/>
          </a:xfrm>
          <a:prstGeom prst="rect">
            <a:avLst/>
          </a:prstGeom>
          <a:solidFill>
            <a:srgbClr val="EDEFF1"/>
          </a:solidFill>
          <a:ln w="6985">
            <a:solidFill>
              <a:srgbClr val="FFFFFF"/>
            </a:solidFill>
          </a:ln>
        </p:spPr>
        <p:txBody>
          <a:bodyPr wrap="square" lIns="381" tIns="381" rIns="381" bIns="381" rtlCol="0" anchor="ctr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Investigating</a:t>
            </a:r>
            <a:endParaRPr lang="en-US" sz="850" dirty="0"/>
          </a:p>
        </p:txBody>
      </p:sp>
      <p:sp>
        <p:nvSpPr>
          <p:cNvPr id="18" name="Text 15"/>
          <p:cNvSpPr/>
          <p:nvPr/>
        </p:nvSpPr>
        <p:spPr>
          <a:xfrm>
            <a:off x="10881360" y="1490472"/>
            <a:ext cx="731520" cy="502920"/>
          </a:xfrm>
          <a:prstGeom prst="rect">
            <a:avLst/>
          </a:prstGeom>
          <a:solidFill>
            <a:srgbClr val="EDEFF1"/>
          </a:solidFill>
          <a:ln w="6985">
            <a:solidFill>
              <a:srgbClr val="FFFFFF"/>
            </a:solidFill>
          </a:ln>
        </p:spPr>
        <p:txBody>
          <a:bodyPr wrap="square" lIns="381" tIns="381" rIns="381" bIns="381" rtlCol="0" anchor="ctr">
            <a:normAutofit/>
          </a:bodyPr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6A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●</a:t>
            </a:r>
            <a:endParaRPr lang="en-US" sz="1800" dirty="0"/>
          </a:p>
        </p:txBody>
      </p:sp>
      <p:sp>
        <p:nvSpPr>
          <p:cNvPr id="19" name="Text 16"/>
          <p:cNvSpPr/>
          <p:nvPr/>
        </p:nvSpPr>
        <p:spPr>
          <a:xfrm>
            <a:off x="274320" y="1993392"/>
            <a:ext cx="822960" cy="502920"/>
          </a:xfrm>
          <a:prstGeom prst="rect">
            <a:avLst/>
          </a:prstGeom>
          <a:solidFill>
            <a:srgbClr val="EDEFF1"/>
          </a:solidFill>
          <a:ln w="6985">
            <a:solidFill>
              <a:srgbClr val="FFFFFF"/>
            </a:solidFill>
          </a:ln>
        </p:spPr>
        <p:txBody>
          <a:bodyPr wrap="square" lIns="381" tIns="381" rIns="381" bIns="381" rtlCol="0" anchor="ctr">
            <a:normAutofit/>
          </a:bodyPr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06C8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✖</a:t>
            </a:r>
            <a:endParaRPr lang="en-US" sz="1800" dirty="0"/>
          </a:p>
        </p:txBody>
      </p:sp>
      <p:sp>
        <p:nvSpPr>
          <p:cNvPr id="20" name="Text 17"/>
          <p:cNvSpPr/>
          <p:nvPr/>
        </p:nvSpPr>
        <p:spPr>
          <a:xfrm>
            <a:off x="1097280" y="1993392"/>
            <a:ext cx="1965960" cy="502920"/>
          </a:xfrm>
          <a:prstGeom prst="rect">
            <a:avLst/>
          </a:prstGeom>
          <a:solidFill>
            <a:srgbClr val="EDEFF1"/>
          </a:solidFill>
          <a:ln w="6985">
            <a:solidFill>
              <a:srgbClr val="FFFFFF"/>
            </a:solidFill>
          </a:ln>
        </p:spPr>
        <p:txBody>
          <a:bodyPr wrap="square" lIns="381" tIns="381" rIns="381" bIns="381" rtlCol="0" anchor="ctr">
            <a:normAutofit/>
          </a:bodyPr>
          <a:lstStyle/>
          <a:p>
            <a:pPr algn="ctr" indent="0" marL="0">
              <a:buNone/>
            </a:pPr>
            <a:r>
              <a:rPr lang="en-US" sz="88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Skills / Rules fragmentation</a:t>
            </a:r>
            <a:endParaRPr lang="en-US" sz="880" dirty="0"/>
          </a:p>
        </p:txBody>
      </p:sp>
      <p:sp>
        <p:nvSpPr>
          <p:cNvPr id="21" name="Text 18"/>
          <p:cNvSpPr/>
          <p:nvPr/>
        </p:nvSpPr>
        <p:spPr>
          <a:xfrm>
            <a:off x="3063240" y="1993392"/>
            <a:ext cx="4343400" cy="502920"/>
          </a:xfrm>
          <a:prstGeom prst="rect">
            <a:avLst/>
          </a:prstGeom>
          <a:solidFill>
            <a:srgbClr val="EDEFF1"/>
          </a:solidFill>
          <a:ln w="6985">
            <a:solidFill>
              <a:srgbClr val="FFFFFF"/>
            </a:solidFill>
          </a:ln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84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Teams are creating their own Skills, Rules and .md instructions</a:t>
            </a:r>
            <a:endParaRPr lang="en-US" sz="840" dirty="0"/>
          </a:p>
          <a:p>
            <a:pPr algn="l" indent="0" marL="0">
              <a:buNone/>
            </a:pPr>
            <a:r>
              <a:rPr lang="en-US" sz="84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without a common repository.</a:t>
            </a:r>
            <a:endParaRPr lang="en-US" sz="840" dirty="0"/>
          </a:p>
        </p:txBody>
      </p:sp>
      <p:sp>
        <p:nvSpPr>
          <p:cNvPr id="22" name="Text 19"/>
          <p:cNvSpPr/>
          <p:nvPr/>
        </p:nvSpPr>
        <p:spPr>
          <a:xfrm>
            <a:off x="7406640" y="1993392"/>
            <a:ext cx="1143000" cy="502920"/>
          </a:xfrm>
          <a:prstGeom prst="rect">
            <a:avLst/>
          </a:prstGeom>
          <a:solidFill>
            <a:srgbClr val="EDEFF1"/>
          </a:solidFill>
          <a:ln w="6985">
            <a:solidFill>
              <a:srgbClr val="FFFFFF"/>
            </a:solidFill>
          </a:ln>
        </p:spPr>
        <p:txBody>
          <a:bodyPr wrap="square" lIns="381" tIns="381" rIns="381" bIns="381" rtlCol="0" anchor="ctr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06/10/2026</a:t>
            </a:r>
            <a:endParaRPr lang="en-US" sz="850" dirty="0"/>
          </a:p>
        </p:txBody>
      </p:sp>
      <p:sp>
        <p:nvSpPr>
          <p:cNvPr id="23" name="Text 20"/>
          <p:cNvSpPr/>
          <p:nvPr/>
        </p:nvSpPr>
        <p:spPr>
          <a:xfrm>
            <a:off x="8549640" y="1993392"/>
            <a:ext cx="1097280" cy="502920"/>
          </a:xfrm>
          <a:prstGeom prst="rect">
            <a:avLst/>
          </a:prstGeom>
          <a:solidFill>
            <a:srgbClr val="EDEFF1"/>
          </a:solidFill>
          <a:ln w="6985">
            <a:solidFill>
              <a:srgbClr val="FFFFFF"/>
            </a:solidFill>
          </a:ln>
        </p:spPr>
        <p:txBody>
          <a:bodyPr wrap="square" lIns="381" tIns="381" rIns="381" bIns="381" rtlCol="0" anchor="ctr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IT PS</a:t>
            </a:r>
            <a:endParaRPr lang="en-US" sz="850" dirty="0"/>
          </a:p>
        </p:txBody>
      </p:sp>
      <p:sp>
        <p:nvSpPr>
          <p:cNvPr id="24" name="Text 21"/>
          <p:cNvSpPr/>
          <p:nvPr/>
        </p:nvSpPr>
        <p:spPr>
          <a:xfrm>
            <a:off x="9646920" y="1993392"/>
            <a:ext cx="1234440" cy="502920"/>
          </a:xfrm>
          <a:prstGeom prst="rect">
            <a:avLst/>
          </a:prstGeom>
          <a:solidFill>
            <a:srgbClr val="EDEFF1"/>
          </a:solidFill>
          <a:ln w="6985">
            <a:solidFill>
              <a:srgbClr val="FFFFFF"/>
            </a:solidFill>
          </a:ln>
        </p:spPr>
        <p:txBody>
          <a:bodyPr wrap="square" lIns="381" tIns="381" rIns="381" bIns="381" rtlCol="0" anchor="ctr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 progress</a:t>
            </a:r>
            <a:endParaRPr lang="en-US" sz="850" dirty="0"/>
          </a:p>
        </p:txBody>
      </p:sp>
      <p:sp>
        <p:nvSpPr>
          <p:cNvPr id="25" name="Text 22"/>
          <p:cNvSpPr/>
          <p:nvPr/>
        </p:nvSpPr>
        <p:spPr>
          <a:xfrm>
            <a:off x="10881360" y="1993392"/>
            <a:ext cx="731520" cy="502920"/>
          </a:xfrm>
          <a:prstGeom prst="rect">
            <a:avLst/>
          </a:prstGeom>
          <a:solidFill>
            <a:srgbClr val="EDEFF1"/>
          </a:solidFill>
          <a:ln w="6985">
            <a:solidFill>
              <a:srgbClr val="FFFFFF"/>
            </a:solidFill>
          </a:ln>
        </p:spPr>
        <p:txBody>
          <a:bodyPr wrap="square" lIns="381" tIns="381" rIns="381" bIns="381" rtlCol="0" anchor="ctr">
            <a:normAutofit/>
          </a:bodyPr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0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⬆</a:t>
            </a:r>
            <a:endParaRPr lang="en-US" sz="1800" dirty="0"/>
          </a:p>
        </p:txBody>
      </p:sp>
      <p:sp>
        <p:nvSpPr>
          <p:cNvPr id="26" name="Text 23"/>
          <p:cNvSpPr/>
          <p:nvPr/>
        </p:nvSpPr>
        <p:spPr>
          <a:xfrm>
            <a:off x="274320" y="2496312"/>
            <a:ext cx="822960" cy="502920"/>
          </a:xfrm>
          <a:prstGeom prst="rect">
            <a:avLst/>
          </a:prstGeom>
          <a:solidFill>
            <a:srgbClr val="EDEFF1"/>
          </a:solidFill>
          <a:ln w="6985">
            <a:solidFill>
              <a:srgbClr val="FFFFFF"/>
            </a:solidFill>
          </a:ln>
        </p:spPr>
        <p:txBody>
          <a:bodyPr wrap="square" lIns="381" tIns="381" rIns="381" bIns="381" rtlCol="0" anchor="ctr">
            <a:normAutofit/>
          </a:bodyPr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06C8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✖</a:t>
            </a:r>
            <a:endParaRPr lang="en-US" sz="1800" dirty="0"/>
          </a:p>
        </p:txBody>
      </p:sp>
      <p:sp>
        <p:nvSpPr>
          <p:cNvPr id="27" name="Text 24"/>
          <p:cNvSpPr/>
          <p:nvPr/>
        </p:nvSpPr>
        <p:spPr>
          <a:xfrm>
            <a:off x="1097280" y="2496312"/>
            <a:ext cx="1965960" cy="502920"/>
          </a:xfrm>
          <a:prstGeom prst="rect">
            <a:avLst/>
          </a:prstGeom>
          <a:solidFill>
            <a:srgbClr val="EDEFF1"/>
          </a:solidFill>
          <a:ln w="6985">
            <a:solidFill>
              <a:srgbClr val="FFFFFF"/>
            </a:solidFill>
          </a:ln>
        </p:spPr>
        <p:txBody>
          <a:bodyPr wrap="square" lIns="381" tIns="381" rIns="381" bIns="381" rtlCol="0" anchor="ctr">
            <a:normAutofit/>
          </a:bodyPr>
          <a:lstStyle/>
          <a:p>
            <a:pPr algn="ctr" indent="0" marL="0">
              <a:buNone/>
            </a:pPr>
            <a:r>
              <a:rPr lang="en-US" sz="88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Licence availability</a:t>
            </a:r>
            <a:endParaRPr lang="en-US" sz="880" dirty="0"/>
          </a:p>
        </p:txBody>
      </p:sp>
      <p:sp>
        <p:nvSpPr>
          <p:cNvPr id="28" name="Text 25"/>
          <p:cNvSpPr/>
          <p:nvPr/>
        </p:nvSpPr>
        <p:spPr>
          <a:xfrm>
            <a:off x="3063240" y="2496312"/>
            <a:ext cx="4343400" cy="502920"/>
          </a:xfrm>
          <a:prstGeom prst="rect">
            <a:avLst/>
          </a:prstGeom>
          <a:solidFill>
            <a:srgbClr val="EDEFF1"/>
          </a:solidFill>
          <a:ln w="6985">
            <a:solidFill>
              <a:srgbClr val="FFFFFF"/>
            </a:solidFill>
          </a:ln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84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Not all developers have access to BOB, creating different</a:t>
            </a:r>
            <a:endParaRPr lang="en-US" sz="840" dirty="0"/>
          </a:p>
          <a:p>
            <a:pPr algn="l" indent="0" marL="0">
              <a:buNone/>
            </a:pPr>
            <a:r>
              <a:rPr lang="en-US" sz="84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working practices.</a:t>
            </a:r>
            <a:endParaRPr lang="en-US" sz="840" dirty="0"/>
          </a:p>
        </p:txBody>
      </p:sp>
      <p:sp>
        <p:nvSpPr>
          <p:cNvPr id="29" name="Text 26"/>
          <p:cNvSpPr/>
          <p:nvPr/>
        </p:nvSpPr>
        <p:spPr>
          <a:xfrm>
            <a:off x="7406640" y="2496312"/>
            <a:ext cx="1143000" cy="502920"/>
          </a:xfrm>
          <a:prstGeom prst="rect">
            <a:avLst/>
          </a:prstGeom>
          <a:solidFill>
            <a:srgbClr val="EDEFF1"/>
          </a:solidFill>
          <a:ln w="6985">
            <a:solidFill>
              <a:srgbClr val="FFFFFF"/>
            </a:solidFill>
          </a:ln>
        </p:spPr>
        <p:txBody>
          <a:bodyPr wrap="square" lIns="381" tIns="381" rIns="381" bIns="381" rtlCol="0" anchor="ctr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06/10/2026</a:t>
            </a:r>
            <a:endParaRPr lang="en-US" sz="850" dirty="0"/>
          </a:p>
        </p:txBody>
      </p:sp>
      <p:sp>
        <p:nvSpPr>
          <p:cNvPr id="30" name="Text 27"/>
          <p:cNvSpPr/>
          <p:nvPr/>
        </p:nvSpPr>
        <p:spPr>
          <a:xfrm>
            <a:off x="8549640" y="2496312"/>
            <a:ext cx="1097280" cy="502920"/>
          </a:xfrm>
          <a:prstGeom prst="rect">
            <a:avLst/>
          </a:prstGeom>
          <a:solidFill>
            <a:srgbClr val="EDEFF1"/>
          </a:solidFill>
          <a:ln w="6985">
            <a:solidFill>
              <a:srgbClr val="FFFFFF"/>
            </a:solidFill>
          </a:ln>
        </p:spPr>
        <p:txBody>
          <a:bodyPr wrap="square" lIns="381" tIns="381" rIns="381" bIns="381" rtlCol="0" anchor="ctr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IT Group</a:t>
            </a:r>
            <a:endParaRPr lang="en-US" sz="850" dirty="0"/>
          </a:p>
        </p:txBody>
      </p:sp>
      <p:sp>
        <p:nvSpPr>
          <p:cNvPr id="31" name="Text 28"/>
          <p:cNvSpPr/>
          <p:nvPr/>
        </p:nvSpPr>
        <p:spPr>
          <a:xfrm>
            <a:off x="9646920" y="2496312"/>
            <a:ext cx="1234440" cy="502920"/>
          </a:xfrm>
          <a:prstGeom prst="rect">
            <a:avLst/>
          </a:prstGeom>
          <a:solidFill>
            <a:srgbClr val="EDEFF1"/>
          </a:solidFill>
          <a:ln w="6985">
            <a:solidFill>
              <a:srgbClr val="FFFFFF"/>
            </a:solidFill>
          </a:ln>
        </p:spPr>
        <p:txBody>
          <a:bodyPr wrap="square" lIns="381" tIns="381" rIns="381" bIns="381" rtlCol="0" anchor="ctr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Pending</a:t>
            </a:r>
            <a:endParaRPr lang="en-US" sz="850" dirty="0"/>
          </a:p>
        </p:txBody>
      </p:sp>
      <p:sp>
        <p:nvSpPr>
          <p:cNvPr id="32" name="Text 29"/>
          <p:cNvSpPr/>
          <p:nvPr/>
        </p:nvSpPr>
        <p:spPr>
          <a:xfrm>
            <a:off x="10881360" y="2496312"/>
            <a:ext cx="731520" cy="502920"/>
          </a:xfrm>
          <a:prstGeom prst="rect">
            <a:avLst/>
          </a:prstGeom>
          <a:solidFill>
            <a:srgbClr val="EDEFF1"/>
          </a:solidFill>
          <a:ln w="6985">
            <a:solidFill>
              <a:srgbClr val="FFFFFF"/>
            </a:solidFill>
          </a:ln>
        </p:spPr>
        <p:txBody>
          <a:bodyPr wrap="square" lIns="381" tIns="381" rIns="381" bIns="381" rtlCol="0" anchor="ctr">
            <a:normAutofit/>
          </a:bodyPr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6A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●</a:t>
            </a:r>
            <a:endParaRPr lang="en-US" sz="1800" dirty="0"/>
          </a:p>
        </p:txBody>
      </p:sp>
      <p:sp>
        <p:nvSpPr>
          <p:cNvPr id="33" name="Text 30"/>
          <p:cNvSpPr/>
          <p:nvPr/>
        </p:nvSpPr>
        <p:spPr>
          <a:xfrm>
            <a:off x="274320" y="2999232"/>
            <a:ext cx="822960" cy="502920"/>
          </a:xfrm>
          <a:prstGeom prst="rect">
            <a:avLst/>
          </a:prstGeom>
          <a:solidFill>
            <a:srgbClr val="EDEFF1"/>
          </a:solidFill>
          <a:ln w="6985">
            <a:solidFill>
              <a:srgbClr val="FFFFFF"/>
            </a:solidFill>
          </a:ln>
        </p:spPr>
        <p:txBody>
          <a:bodyPr wrap="square" lIns="381" tIns="381" rIns="381" bIns="381" rtlCol="0" anchor="ctr">
            <a:normAutofit/>
          </a:bodyPr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06C8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✖</a:t>
            </a:r>
            <a:endParaRPr lang="en-US" sz="1800" dirty="0"/>
          </a:p>
        </p:txBody>
      </p:sp>
      <p:sp>
        <p:nvSpPr>
          <p:cNvPr id="34" name="Text 31"/>
          <p:cNvSpPr/>
          <p:nvPr/>
        </p:nvSpPr>
        <p:spPr>
          <a:xfrm>
            <a:off x="1097280" y="2999232"/>
            <a:ext cx="1965960" cy="502920"/>
          </a:xfrm>
          <a:prstGeom prst="rect">
            <a:avLst/>
          </a:prstGeom>
          <a:solidFill>
            <a:srgbClr val="EDEFF1"/>
          </a:solidFill>
          <a:ln w="6985">
            <a:solidFill>
              <a:srgbClr val="FFFFFF"/>
            </a:solidFill>
          </a:ln>
        </p:spPr>
        <p:txBody>
          <a:bodyPr wrap="square" lIns="381" tIns="381" rIns="381" bIns="381" rtlCol="0" anchor="ctr">
            <a:normAutofit/>
          </a:bodyPr>
          <a:lstStyle/>
          <a:p>
            <a:pPr algn="ctr" indent="0" marL="0">
              <a:buNone/>
            </a:pPr>
            <a:r>
              <a:rPr lang="en-US" sz="88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MCP adoption</a:t>
            </a:r>
            <a:endParaRPr lang="en-US" sz="880" dirty="0"/>
          </a:p>
        </p:txBody>
      </p:sp>
      <p:sp>
        <p:nvSpPr>
          <p:cNvPr id="35" name="Text 32"/>
          <p:cNvSpPr/>
          <p:nvPr/>
        </p:nvSpPr>
        <p:spPr>
          <a:xfrm>
            <a:off x="3063240" y="2999232"/>
            <a:ext cx="4343400" cy="502920"/>
          </a:xfrm>
          <a:prstGeom prst="rect">
            <a:avLst/>
          </a:prstGeom>
          <a:solidFill>
            <a:srgbClr val="EDEFF1"/>
          </a:solidFill>
          <a:ln w="6985">
            <a:solidFill>
              <a:srgbClr val="FFFFFF"/>
            </a:solidFill>
          </a:ln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84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MCP usage is still limited. Existing integrations and</a:t>
            </a:r>
            <a:endParaRPr lang="en-US" sz="840" dirty="0"/>
          </a:p>
          <a:p>
            <a:pPr algn="l" indent="0" marL="0">
              <a:buNone/>
            </a:pPr>
            <a:r>
              <a:rPr lang="en-US" sz="84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documentation are not yet widely shared.</a:t>
            </a:r>
            <a:endParaRPr lang="en-US" sz="840" dirty="0"/>
          </a:p>
        </p:txBody>
      </p:sp>
      <p:sp>
        <p:nvSpPr>
          <p:cNvPr id="36" name="Text 33"/>
          <p:cNvSpPr/>
          <p:nvPr/>
        </p:nvSpPr>
        <p:spPr>
          <a:xfrm>
            <a:off x="7406640" y="2999232"/>
            <a:ext cx="1143000" cy="502920"/>
          </a:xfrm>
          <a:prstGeom prst="rect">
            <a:avLst/>
          </a:prstGeom>
          <a:solidFill>
            <a:srgbClr val="EDEFF1"/>
          </a:solidFill>
          <a:ln w="6985">
            <a:solidFill>
              <a:srgbClr val="FFFFFF"/>
            </a:solidFill>
          </a:ln>
        </p:spPr>
        <p:txBody>
          <a:bodyPr wrap="square" lIns="381" tIns="381" rIns="381" bIns="381" rtlCol="0" anchor="ctr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06/10/2026</a:t>
            </a:r>
            <a:endParaRPr lang="en-US" sz="850" dirty="0"/>
          </a:p>
        </p:txBody>
      </p:sp>
      <p:sp>
        <p:nvSpPr>
          <p:cNvPr id="37" name="Text 34"/>
          <p:cNvSpPr/>
          <p:nvPr/>
        </p:nvSpPr>
        <p:spPr>
          <a:xfrm>
            <a:off x="8549640" y="2999232"/>
            <a:ext cx="1097280" cy="502920"/>
          </a:xfrm>
          <a:prstGeom prst="rect">
            <a:avLst/>
          </a:prstGeom>
          <a:solidFill>
            <a:srgbClr val="EDEFF1"/>
          </a:solidFill>
          <a:ln w="6985">
            <a:solidFill>
              <a:srgbClr val="FFFFFF"/>
            </a:solidFill>
          </a:ln>
        </p:spPr>
        <p:txBody>
          <a:bodyPr wrap="square" lIns="381" tIns="381" rIns="381" bIns="381" rtlCol="0" anchor="ctr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BOB team</a:t>
            </a:r>
            <a:endParaRPr lang="en-US" sz="850" dirty="0"/>
          </a:p>
        </p:txBody>
      </p:sp>
      <p:sp>
        <p:nvSpPr>
          <p:cNvPr id="38" name="Text 35"/>
          <p:cNvSpPr/>
          <p:nvPr/>
        </p:nvSpPr>
        <p:spPr>
          <a:xfrm>
            <a:off x="9646920" y="2999232"/>
            <a:ext cx="1234440" cy="502920"/>
          </a:xfrm>
          <a:prstGeom prst="rect">
            <a:avLst/>
          </a:prstGeom>
          <a:solidFill>
            <a:srgbClr val="EDEFF1"/>
          </a:solidFill>
          <a:ln w="6985">
            <a:solidFill>
              <a:srgbClr val="FFFFFF"/>
            </a:solidFill>
          </a:ln>
        </p:spPr>
        <p:txBody>
          <a:bodyPr wrap="square" lIns="381" tIns="381" rIns="381" bIns="381" rtlCol="0" anchor="ctr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 progress</a:t>
            </a:r>
            <a:endParaRPr lang="en-US" sz="850" dirty="0"/>
          </a:p>
        </p:txBody>
      </p:sp>
      <p:sp>
        <p:nvSpPr>
          <p:cNvPr id="39" name="Text 36"/>
          <p:cNvSpPr/>
          <p:nvPr/>
        </p:nvSpPr>
        <p:spPr>
          <a:xfrm>
            <a:off x="10881360" y="2999232"/>
            <a:ext cx="731520" cy="502920"/>
          </a:xfrm>
          <a:prstGeom prst="rect">
            <a:avLst/>
          </a:prstGeom>
          <a:solidFill>
            <a:srgbClr val="EDEFF1"/>
          </a:solidFill>
          <a:ln w="6985">
            <a:solidFill>
              <a:srgbClr val="FFFFFF"/>
            </a:solidFill>
          </a:ln>
        </p:spPr>
        <p:txBody>
          <a:bodyPr wrap="square" lIns="381" tIns="381" rIns="381" bIns="381" rtlCol="0" anchor="ctr">
            <a:normAutofit/>
          </a:bodyPr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0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⬆</a:t>
            </a:r>
            <a:endParaRPr lang="en-US" sz="1800" dirty="0"/>
          </a:p>
        </p:txBody>
      </p:sp>
      <p:sp>
        <p:nvSpPr>
          <p:cNvPr id="40" name="Text 37"/>
          <p:cNvSpPr/>
          <p:nvPr/>
        </p:nvSpPr>
        <p:spPr>
          <a:xfrm>
            <a:off x="274320" y="3502152"/>
            <a:ext cx="822960" cy="502920"/>
          </a:xfrm>
          <a:prstGeom prst="rect">
            <a:avLst/>
          </a:prstGeom>
          <a:solidFill>
            <a:srgbClr val="EDEFF1"/>
          </a:solidFill>
          <a:ln w="6985">
            <a:solidFill>
              <a:srgbClr val="FFFFFF"/>
            </a:solidFill>
          </a:ln>
        </p:spPr>
        <p:txBody>
          <a:bodyPr wrap="square" lIns="381" tIns="381" rIns="381" bIns="381" rtlCol="0" anchor="ctr">
            <a:normAutofit/>
          </a:bodyPr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06C8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✖</a:t>
            </a:r>
            <a:endParaRPr lang="en-US" sz="1800" dirty="0"/>
          </a:p>
        </p:txBody>
      </p:sp>
      <p:sp>
        <p:nvSpPr>
          <p:cNvPr id="41" name="Text 38"/>
          <p:cNvSpPr/>
          <p:nvPr/>
        </p:nvSpPr>
        <p:spPr>
          <a:xfrm>
            <a:off x="1097280" y="3502152"/>
            <a:ext cx="1965960" cy="502920"/>
          </a:xfrm>
          <a:prstGeom prst="rect">
            <a:avLst/>
          </a:prstGeom>
          <a:solidFill>
            <a:srgbClr val="EDEFF1"/>
          </a:solidFill>
          <a:ln w="6985">
            <a:solidFill>
              <a:srgbClr val="FFFFFF"/>
            </a:solidFill>
          </a:ln>
        </p:spPr>
        <p:txBody>
          <a:bodyPr wrap="square" lIns="381" tIns="381" rIns="381" bIns="381" rtlCol="0" anchor="ctr">
            <a:normAutofit/>
          </a:bodyPr>
          <a:lstStyle/>
          <a:p>
            <a:pPr algn="ctr" indent="0" marL="0">
              <a:buNone/>
            </a:pPr>
            <a:r>
              <a:rPr lang="en-US" sz="88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IDE integration</a:t>
            </a:r>
            <a:endParaRPr lang="en-US" sz="880" dirty="0"/>
          </a:p>
        </p:txBody>
      </p:sp>
      <p:sp>
        <p:nvSpPr>
          <p:cNvPr id="42" name="Text 39"/>
          <p:cNvSpPr/>
          <p:nvPr/>
        </p:nvSpPr>
        <p:spPr>
          <a:xfrm>
            <a:off x="3063240" y="3502152"/>
            <a:ext cx="4343400" cy="502920"/>
          </a:xfrm>
          <a:prstGeom prst="rect">
            <a:avLst/>
          </a:prstGeom>
          <a:solidFill>
            <a:srgbClr val="EDEFF1"/>
          </a:solidFill>
          <a:ln w="6985">
            <a:solidFill>
              <a:srgbClr val="FFFFFF"/>
            </a:solidFill>
          </a:ln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84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Some requests executed through IntelliJ integrations do not</a:t>
            </a:r>
            <a:endParaRPr lang="en-US" sz="840" dirty="0"/>
          </a:p>
          <a:p>
            <a:pPr algn="l" indent="0" marL="0">
              <a:buNone/>
            </a:pPr>
            <a:r>
              <a:rPr lang="en-US" sz="84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complete while the same request works directly in BOB.</a:t>
            </a:r>
            <a:endParaRPr lang="en-US" sz="840" dirty="0"/>
          </a:p>
        </p:txBody>
      </p:sp>
      <p:sp>
        <p:nvSpPr>
          <p:cNvPr id="43" name="Text 40"/>
          <p:cNvSpPr/>
          <p:nvPr/>
        </p:nvSpPr>
        <p:spPr>
          <a:xfrm>
            <a:off x="7406640" y="3502152"/>
            <a:ext cx="1143000" cy="502920"/>
          </a:xfrm>
          <a:prstGeom prst="rect">
            <a:avLst/>
          </a:prstGeom>
          <a:solidFill>
            <a:srgbClr val="EDEFF1"/>
          </a:solidFill>
          <a:ln w="6985">
            <a:solidFill>
              <a:srgbClr val="FFFFFF"/>
            </a:solidFill>
          </a:ln>
        </p:spPr>
        <p:txBody>
          <a:bodyPr wrap="square" lIns="381" tIns="381" rIns="381" bIns="381" rtlCol="0" anchor="ctr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06/10/2026</a:t>
            </a:r>
            <a:endParaRPr lang="en-US" sz="850" dirty="0"/>
          </a:p>
        </p:txBody>
      </p:sp>
      <p:sp>
        <p:nvSpPr>
          <p:cNvPr id="44" name="Text 41"/>
          <p:cNvSpPr/>
          <p:nvPr/>
        </p:nvSpPr>
        <p:spPr>
          <a:xfrm>
            <a:off x="8549640" y="3502152"/>
            <a:ext cx="1097280" cy="502920"/>
          </a:xfrm>
          <a:prstGeom prst="rect">
            <a:avLst/>
          </a:prstGeom>
          <a:solidFill>
            <a:srgbClr val="EDEFF1"/>
          </a:solidFill>
          <a:ln w="6985">
            <a:solidFill>
              <a:srgbClr val="FFFFFF"/>
            </a:solidFill>
          </a:ln>
        </p:spPr>
        <p:txBody>
          <a:bodyPr wrap="square" lIns="381" tIns="381" rIns="381" bIns="381" rtlCol="0" anchor="ctr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BOB team</a:t>
            </a:r>
            <a:endParaRPr lang="en-US" sz="850" dirty="0"/>
          </a:p>
        </p:txBody>
      </p:sp>
      <p:sp>
        <p:nvSpPr>
          <p:cNvPr id="45" name="Text 42"/>
          <p:cNvSpPr/>
          <p:nvPr/>
        </p:nvSpPr>
        <p:spPr>
          <a:xfrm>
            <a:off x="9646920" y="3502152"/>
            <a:ext cx="1234440" cy="502920"/>
          </a:xfrm>
          <a:prstGeom prst="rect">
            <a:avLst/>
          </a:prstGeom>
          <a:solidFill>
            <a:srgbClr val="EDEFF1"/>
          </a:solidFill>
          <a:ln w="6985">
            <a:solidFill>
              <a:srgbClr val="FFFFFF"/>
            </a:solidFill>
          </a:ln>
        </p:spPr>
        <p:txBody>
          <a:bodyPr wrap="square" lIns="381" tIns="381" rIns="381" bIns="381" rtlCol="0" anchor="ctr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 investigate</a:t>
            </a:r>
            <a:endParaRPr lang="en-US" sz="850" dirty="0"/>
          </a:p>
        </p:txBody>
      </p:sp>
      <p:sp>
        <p:nvSpPr>
          <p:cNvPr id="46" name="Text 43"/>
          <p:cNvSpPr/>
          <p:nvPr/>
        </p:nvSpPr>
        <p:spPr>
          <a:xfrm>
            <a:off x="10881360" y="3502152"/>
            <a:ext cx="731520" cy="502920"/>
          </a:xfrm>
          <a:prstGeom prst="rect">
            <a:avLst/>
          </a:prstGeom>
          <a:solidFill>
            <a:srgbClr val="EDEFF1"/>
          </a:solidFill>
          <a:ln w="6985">
            <a:solidFill>
              <a:srgbClr val="FFFFFF"/>
            </a:solidFill>
          </a:ln>
        </p:spPr>
        <p:txBody>
          <a:bodyPr wrap="square" lIns="381" tIns="381" rIns="381" bIns="381" rtlCol="0" anchor="ctr">
            <a:normAutofit/>
          </a:bodyPr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6A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●</a:t>
            </a:r>
            <a:endParaRPr lang="en-US" sz="1800" dirty="0"/>
          </a:p>
        </p:txBody>
      </p:sp>
      <p:sp>
        <p:nvSpPr>
          <p:cNvPr id="47" name="Text 44"/>
          <p:cNvSpPr/>
          <p:nvPr/>
        </p:nvSpPr>
        <p:spPr>
          <a:xfrm>
            <a:off x="274320" y="4005072"/>
            <a:ext cx="822960" cy="502920"/>
          </a:xfrm>
          <a:prstGeom prst="rect">
            <a:avLst/>
          </a:prstGeom>
          <a:solidFill>
            <a:srgbClr val="EDEFF1"/>
          </a:solidFill>
          <a:ln w="6985">
            <a:solidFill>
              <a:srgbClr val="FFFFFF"/>
            </a:solidFill>
          </a:ln>
        </p:spPr>
        <p:txBody>
          <a:bodyPr wrap="square" lIns="381" tIns="381" rIns="381" bIns="381" rtlCol="0" anchor="ctr">
            <a:normAutofit/>
          </a:bodyPr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06C8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✖</a:t>
            </a:r>
            <a:endParaRPr lang="en-US" sz="1800" dirty="0"/>
          </a:p>
        </p:txBody>
      </p:sp>
      <p:sp>
        <p:nvSpPr>
          <p:cNvPr id="48" name="Text 45"/>
          <p:cNvSpPr/>
          <p:nvPr/>
        </p:nvSpPr>
        <p:spPr>
          <a:xfrm>
            <a:off x="1097280" y="4005072"/>
            <a:ext cx="1965960" cy="502920"/>
          </a:xfrm>
          <a:prstGeom prst="rect">
            <a:avLst/>
          </a:prstGeom>
          <a:solidFill>
            <a:srgbClr val="EDEFF1"/>
          </a:solidFill>
          <a:ln w="6985">
            <a:solidFill>
              <a:srgbClr val="FFFFFF"/>
            </a:solidFill>
          </a:ln>
        </p:spPr>
        <p:txBody>
          <a:bodyPr wrap="square" lIns="381" tIns="381" rIns="381" bIns="381" rtlCol="0" anchor="ctr">
            <a:normAutofit/>
          </a:bodyPr>
          <a:lstStyle/>
          <a:p>
            <a:pPr algn="ctr" indent="0" marL="0">
              <a:buNone/>
            </a:pPr>
            <a:r>
              <a:rPr lang="en-US" sz="88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Installation / Proxy</a:t>
            </a:r>
            <a:endParaRPr lang="en-US" sz="880" dirty="0"/>
          </a:p>
        </p:txBody>
      </p:sp>
      <p:sp>
        <p:nvSpPr>
          <p:cNvPr id="49" name="Text 46"/>
          <p:cNvSpPr/>
          <p:nvPr/>
        </p:nvSpPr>
        <p:spPr>
          <a:xfrm>
            <a:off x="3063240" y="4005072"/>
            <a:ext cx="4343400" cy="502920"/>
          </a:xfrm>
          <a:prstGeom prst="rect">
            <a:avLst/>
          </a:prstGeom>
          <a:solidFill>
            <a:srgbClr val="EDEFF1"/>
          </a:solidFill>
          <a:ln w="6985">
            <a:solidFill>
              <a:srgbClr val="FFFFFF"/>
            </a:solidFill>
          </a:ln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84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Some users reported difficulties installing or configuring BOB,</a:t>
            </a:r>
            <a:endParaRPr lang="en-US" sz="840" dirty="0"/>
          </a:p>
          <a:p>
            <a:pPr algn="l" indent="0" marL="0">
              <a:buNone/>
            </a:pPr>
            <a:r>
              <a:rPr lang="en-US" sz="84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particularly behind corporate proxy settings.</a:t>
            </a:r>
            <a:endParaRPr lang="en-US" sz="840" dirty="0"/>
          </a:p>
        </p:txBody>
      </p:sp>
      <p:sp>
        <p:nvSpPr>
          <p:cNvPr id="50" name="Text 47"/>
          <p:cNvSpPr/>
          <p:nvPr/>
        </p:nvSpPr>
        <p:spPr>
          <a:xfrm>
            <a:off x="7406640" y="4005072"/>
            <a:ext cx="1143000" cy="502920"/>
          </a:xfrm>
          <a:prstGeom prst="rect">
            <a:avLst/>
          </a:prstGeom>
          <a:solidFill>
            <a:srgbClr val="EDEFF1"/>
          </a:solidFill>
          <a:ln w="6985">
            <a:solidFill>
              <a:srgbClr val="FFFFFF"/>
            </a:solidFill>
          </a:ln>
        </p:spPr>
        <p:txBody>
          <a:bodyPr wrap="square" lIns="381" tIns="381" rIns="381" bIns="381" rtlCol="0" anchor="ctr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06/10/2026</a:t>
            </a:r>
            <a:endParaRPr lang="en-US" sz="850" dirty="0"/>
          </a:p>
        </p:txBody>
      </p:sp>
      <p:sp>
        <p:nvSpPr>
          <p:cNvPr id="51" name="Text 48"/>
          <p:cNvSpPr/>
          <p:nvPr/>
        </p:nvSpPr>
        <p:spPr>
          <a:xfrm>
            <a:off x="8549640" y="4005072"/>
            <a:ext cx="1097280" cy="502920"/>
          </a:xfrm>
          <a:prstGeom prst="rect">
            <a:avLst/>
          </a:prstGeom>
          <a:solidFill>
            <a:srgbClr val="EDEFF1"/>
          </a:solidFill>
          <a:ln w="6985">
            <a:solidFill>
              <a:srgbClr val="FFFFFF"/>
            </a:solidFill>
          </a:ln>
        </p:spPr>
        <p:txBody>
          <a:bodyPr wrap="square" lIns="381" tIns="381" rIns="381" bIns="381" rtlCol="0" anchor="ctr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Support</a:t>
            </a:r>
            <a:endParaRPr lang="en-US" sz="850" dirty="0"/>
          </a:p>
        </p:txBody>
      </p:sp>
      <p:sp>
        <p:nvSpPr>
          <p:cNvPr id="52" name="Text 49"/>
          <p:cNvSpPr/>
          <p:nvPr/>
        </p:nvSpPr>
        <p:spPr>
          <a:xfrm>
            <a:off x="9646920" y="4005072"/>
            <a:ext cx="1234440" cy="502920"/>
          </a:xfrm>
          <a:prstGeom prst="rect">
            <a:avLst/>
          </a:prstGeom>
          <a:solidFill>
            <a:srgbClr val="EDEFF1"/>
          </a:solidFill>
          <a:ln w="6985">
            <a:solidFill>
              <a:srgbClr val="FFFFFF"/>
            </a:solidFill>
          </a:ln>
        </p:spPr>
        <p:txBody>
          <a:bodyPr wrap="square" lIns="381" tIns="381" rIns="381" bIns="381" rtlCol="0" anchor="ctr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 investigate</a:t>
            </a:r>
            <a:endParaRPr lang="en-US" sz="850" dirty="0"/>
          </a:p>
        </p:txBody>
      </p:sp>
      <p:sp>
        <p:nvSpPr>
          <p:cNvPr id="53" name="Text 50"/>
          <p:cNvSpPr/>
          <p:nvPr/>
        </p:nvSpPr>
        <p:spPr>
          <a:xfrm>
            <a:off x="10881360" y="4005072"/>
            <a:ext cx="731520" cy="502920"/>
          </a:xfrm>
          <a:prstGeom prst="rect">
            <a:avLst/>
          </a:prstGeom>
          <a:solidFill>
            <a:srgbClr val="EDEFF1"/>
          </a:solidFill>
          <a:ln w="6985">
            <a:solidFill>
              <a:srgbClr val="FFFFFF"/>
            </a:solidFill>
          </a:ln>
        </p:spPr>
        <p:txBody>
          <a:bodyPr wrap="square" lIns="381" tIns="381" rIns="381" bIns="381" rtlCol="0" anchor="ctr">
            <a:normAutofit/>
          </a:bodyPr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6A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●</a:t>
            </a:r>
            <a:endParaRPr lang="en-US" sz="1800" dirty="0"/>
          </a:p>
        </p:txBody>
      </p:sp>
      <p:sp>
        <p:nvSpPr>
          <p:cNvPr id="54" name="Text 51"/>
          <p:cNvSpPr/>
          <p:nvPr/>
        </p:nvSpPr>
        <p:spPr>
          <a:xfrm>
            <a:off x="274320" y="4507992"/>
            <a:ext cx="822960" cy="502920"/>
          </a:xfrm>
          <a:prstGeom prst="rect">
            <a:avLst/>
          </a:prstGeom>
          <a:solidFill>
            <a:srgbClr val="EDEFF1"/>
          </a:solidFill>
          <a:ln w="6985">
            <a:solidFill>
              <a:srgbClr val="FFFFFF"/>
            </a:solidFill>
          </a:ln>
        </p:spPr>
        <p:txBody>
          <a:bodyPr wrap="square" lIns="381" tIns="381" rIns="381" bIns="381" rtlCol="0" anchor="ctr">
            <a:normAutofit/>
          </a:bodyPr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06C8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✖</a:t>
            </a:r>
            <a:endParaRPr lang="en-US" sz="1800" dirty="0"/>
          </a:p>
        </p:txBody>
      </p:sp>
      <p:sp>
        <p:nvSpPr>
          <p:cNvPr id="55" name="Text 52"/>
          <p:cNvSpPr/>
          <p:nvPr/>
        </p:nvSpPr>
        <p:spPr>
          <a:xfrm>
            <a:off x="1097280" y="4507992"/>
            <a:ext cx="1965960" cy="502920"/>
          </a:xfrm>
          <a:prstGeom prst="rect">
            <a:avLst/>
          </a:prstGeom>
          <a:solidFill>
            <a:srgbClr val="EDEFF1"/>
          </a:solidFill>
          <a:ln w="6985">
            <a:solidFill>
              <a:srgbClr val="FFFFFF"/>
            </a:solidFill>
          </a:ln>
        </p:spPr>
        <p:txBody>
          <a:bodyPr wrap="square" lIns="381" tIns="381" rIns="381" bIns="381" rtlCol="0" anchor="ctr">
            <a:normAutofit/>
          </a:bodyPr>
          <a:lstStyle/>
          <a:p>
            <a:pPr algn="ctr" indent="0" marL="0">
              <a:buNone/>
            </a:pPr>
            <a:r>
              <a:rPr lang="en-US" sz="88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Bob Coin reload</a:t>
            </a:r>
            <a:endParaRPr lang="en-US" sz="880" dirty="0"/>
          </a:p>
        </p:txBody>
      </p:sp>
      <p:sp>
        <p:nvSpPr>
          <p:cNvPr id="56" name="Text 53"/>
          <p:cNvSpPr/>
          <p:nvPr/>
        </p:nvSpPr>
        <p:spPr>
          <a:xfrm>
            <a:off x="3063240" y="4507992"/>
            <a:ext cx="4343400" cy="502920"/>
          </a:xfrm>
          <a:prstGeom prst="rect">
            <a:avLst/>
          </a:prstGeom>
          <a:solidFill>
            <a:srgbClr val="EDEFF1"/>
          </a:solidFill>
          <a:ln w="6985">
            <a:solidFill>
              <a:srgbClr val="FFFFFF"/>
            </a:solidFill>
          </a:ln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84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Reload process is currently manual. Evolution expected toward</a:t>
            </a:r>
            <a:endParaRPr lang="en-US" sz="840" dirty="0"/>
          </a:p>
          <a:p>
            <a:pPr algn="l" indent="0" marL="0">
              <a:buNone/>
            </a:pPr>
            <a:r>
              <a:rPr lang="en-US" sz="84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end of the year, details to confirm.</a:t>
            </a:r>
            <a:endParaRPr lang="en-US" sz="840" dirty="0"/>
          </a:p>
        </p:txBody>
      </p:sp>
      <p:sp>
        <p:nvSpPr>
          <p:cNvPr id="57" name="Text 54"/>
          <p:cNvSpPr/>
          <p:nvPr/>
        </p:nvSpPr>
        <p:spPr>
          <a:xfrm>
            <a:off x="7406640" y="4507992"/>
            <a:ext cx="1143000" cy="502920"/>
          </a:xfrm>
          <a:prstGeom prst="rect">
            <a:avLst/>
          </a:prstGeom>
          <a:solidFill>
            <a:srgbClr val="EDEFF1"/>
          </a:solidFill>
          <a:ln w="6985">
            <a:solidFill>
              <a:srgbClr val="FFFFFF"/>
            </a:solidFill>
          </a:ln>
        </p:spPr>
        <p:txBody>
          <a:bodyPr wrap="square" lIns="381" tIns="381" rIns="381" bIns="381" rtlCol="0" anchor="ctr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06/10/2026</a:t>
            </a:r>
            <a:endParaRPr lang="en-US" sz="850" dirty="0"/>
          </a:p>
        </p:txBody>
      </p:sp>
      <p:sp>
        <p:nvSpPr>
          <p:cNvPr id="58" name="Text 55"/>
          <p:cNvSpPr/>
          <p:nvPr/>
        </p:nvSpPr>
        <p:spPr>
          <a:xfrm>
            <a:off x="8549640" y="4507992"/>
            <a:ext cx="1097280" cy="502920"/>
          </a:xfrm>
          <a:prstGeom prst="rect">
            <a:avLst/>
          </a:prstGeom>
          <a:solidFill>
            <a:srgbClr val="EDEFF1"/>
          </a:solidFill>
          <a:ln w="6985">
            <a:solidFill>
              <a:srgbClr val="FFFFFF"/>
            </a:solidFill>
          </a:ln>
        </p:spPr>
        <p:txBody>
          <a:bodyPr wrap="square" lIns="381" tIns="381" rIns="381" bIns="381" rtlCol="0" anchor="ctr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BOB team</a:t>
            </a:r>
            <a:endParaRPr lang="en-US" sz="850" dirty="0"/>
          </a:p>
        </p:txBody>
      </p:sp>
      <p:sp>
        <p:nvSpPr>
          <p:cNvPr id="59" name="Text 56"/>
          <p:cNvSpPr/>
          <p:nvPr/>
        </p:nvSpPr>
        <p:spPr>
          <a:xfrm>
            <a:off x="9646920" y="4507992"/>
            <a:ext cx="1234440" cy="502920"/>
          </a:xfrm>
          <a:prstGeom prst="rect">
            <a:avLst/>
          </a:prstGeom>
          <a:solidFill>
            <a:srgbClr val="EDEFF1"/>
          </a:solidFill>
          <a:ln w="6985">
            <a:solidFill>
              <a:srgbClr val="FFFFFF"/>
            </a:solidFill>
          </a:ln>
        </p:spPr>
        <p:txBody>
          <a:bodyPr wrap="square" lIns="381" tIns="381" rIns="381" bIns="381" rtlCol="0" anchor="ctr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Follow up</a:t>
            </a:r>
            <a:endParaRPr lang="en-US" sz="850" dirty="0"/>
          </a:p>
        </p:txBody>
      </p:sp>
      <p:sp>
        <p:nvSpPr>
          <p:cNvPr id="60" name="Text 57"/>
          <p:cNvSpPr/>
          <p:nvPr/>
        </p:nvSpPr>
        <p:spPr>
          <a:xfrm>
            <a:off x="10881360" y="4507992"/>
            <a:ext cx="731520" cy="502920"/>
          </a:xfrm>
          <a:prstGeom prst="rect">
            <a:avLst/>
          </a:prstGeom>
          <a:solidFill>
            <a:srgbClr val="EDEFF1"/>
          </a:solidFill>
          <a:ln w="6985">
            <a:solidFill>
              <a:srgbClr val="FFFFFF"/>
            </a:solidFill>
          </a:ln>
        </p:spPr>
        <p:txBody>
          <a:bodyPr wrap="square" lIns="381" tIns="381" rIns="381" bIns="381" rtlCol="0" anchor="ctr">
            <a:normAutofit/>
          </a:bodyPr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6A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●</a:t>
            </a:r>
            <a:endParaRPr lang="en-US" sz="1800" dirty="0"/>
          </a:p>
        </p:txBody>
      </p:sp>
      <p:sp>
        <p:nvSpPr>
          <p:cNvPr id="61" name="Text 58"/>
          <p:cNvSpPr/>
          <p:nvPr/>
        </p:nvSpPr>
        <p:spPr>
          <a:xfrm>
            <a:off x="274320" y="5010912"/>
            <a:ext cx="822960" cy="502920"/>
          </a:xfrm>
          <a:prstGeom prst="rect">
            <a:avLst/>
          </a:prstGeom>
          <a:solidFill>
            <a:srgbClr val="EDEFF1"/>
          </a:solidFill>
          <a:ln w="6985">
            <a:solidFill>
              <a:srgbClr val="FFFFFF"/>
            </a:solidFill>
          </a:ln>
        </p:spPr>
        <p:txBody>
          <a:bodyPr wrap="square" lIns="381" tIns="381" rIns="381" bIns="381" rtlCol="0" anchor="ctr">
            <a:normAutofit/>
          </a:bodyPr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06C8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✖</a:t>
            </a:r>
            <a:endParaRPr lang="en-US" sz="1800" dirty="0"/>
          </a:p>
        </p:txBody>
      </p:sp>
      <p:sp>
        <p:nvSpPr>
          <p:cNvPr id="62" name="Text 59"/>
          <p:cNvSpPr/>
          <p:nvPr/>
        </p:nvSpPr>
        <p:spPr>
          <a:xfrm>
            <a:off x="1097280" y="5010912"/>
            <a:ext cx="1965960" cy="502920"/>
          </a:xfrm>
          <a:prstGeom prst="rect">
            <a:avLst/>
          </a:prstGeom>
          <a:solidFill>
            <a:srgbClr val="EDEFF1"/>
          </a:solidFill>
          <a:ln w="6985">
            <a:solidFill>
              <a:srgbClr val="FFFFFF"/>
            </a:solidFill>
          </a:ln>
        </p:spPr>
        <p:txBody>
          <a:bodyPr wrap="square" lIns="381" tIns="381" rIns="381" bIns="381" rtlCol="0" anchor="ctr">
            <a:normAutofit/>
          </a:bodyPr>
          <a:lstStyle/>
          <a:p>
            <a:pPr algn="ctr" indent="0" marL="0">
              <a:buNone/>
            </a:pPr>
            <a:r>
              <a:rPr lang="en-US" sz="88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Usage policy / Charter</a:t>
            </a:r>
            <a:endParaRPr lang="en-US" sz="880" dirty="0"/>
          </a:p>
        </p:txBody>
      </p:sp>
      <p:sp>
        <p:nvSpPr>
          <p:cNvPr id="63" name="Text 60"/>
          <p:cNvSpPr/>
          <p:nvPr/>
        </p:nvSpPr>
        <p:spPr>
          <a:xfrm>
            <a:off x="3063240" y="5010912"/>
            <a:ext cx="4343400" cy="502920"/>
          </a:xfrm>
          <a:prstGeom prst="rect">
            <a:avLst/>
          </a:prstGeom>
          <a:solidFill>
            <a:srgbClr val="EDEFF1"/>
          </a:solidFill>
          <a:ln w="6985">
            <a:solidFill>
              <a:srgbClr val="FFFFFF"/>
            </a:solidFill>
          </a:ln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84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Questions around code classification and what can or cannot</a:t>
            </a:r>
            <a:endParaRPr lang="en-US" sz="840" dirty="0"/>
          </a:p>
          <a:p>
            <a:pPr algn="l" indent="0" marL="0">
              <a:buNone/>
            </a:pPr>
            <a:r>
              <a:rPr lang="en-US" sz="84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 submitted to BOB.</a:t>
            </a:r>
            <a:endParaRPr lang="en-US" sz="840" dirty="0"/>
          </a:p>
        </p:txBody>
      </p:sp>
      <p:sp>
        <p:nvSpPr>
          <p:cNvPr id="64" name="Text 61"/>
          <p:cNvSpPr/>
          <p:nvPr/>
        </p:nvSpPr>
        <p:spPr>
          <a:xfrm>
            <a:off x="7406640" y="5010912"/>
            <a:ext cx="1143000" cy="502920"/>
          </a:xfrm>
          <a:prstGeom prst="rect">
            <a:avLst/>
          </a:prstGeom>
          <a:solidFill>
            <a:srgbClr val="EDEFF1"/>
          </a:solidFill>
          <a:ln w="6985">
            <a:solidFill>
              <a:srgbClr val="FFFFFF"/>
            </a:solidFill>
          </a:ln>
        </p:spPr>
        <p:txBody>
          <a:bodyPr wrap="square" lIns="381" tIns="381" rIns="381" bIns="381" rtlCol="0" anchor="ctr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06/10/2026</a:t>
            </a:r>
            <a:endParaRPr lang="en-US" sz="850" dirty="0"/>
          </a:p>
        </p:txBody>
      </p:sp>
      <p:sp>
        <p:nvSpPr>
          <p:cNvPr id="65" name="Text 62"/>
          <p:cNvSpPr/>
          <p:nvPr/>
        </p:nvSpPr>
        <p:spPr>
          <a:xfrm>
            <a:off x="8549640" y="5010912"/>
            <a:ext cx="1097280" cy="502920"/>
          </a:xfrm>
          <a:prstGeom prst="rect">
            <a:avLst/>
          </a:prstGeom>
          <a:solidFill>
            <a:srgbClr val="EDEFF1"/>
          </a:solidFill>
          <a:ln w="6985">
            <a:solidFill>
              <a:srgbClr val="FFFFFF"/>
            </a:solidFill>
          </a:ln>
        </p:spPr>
        <p:txBody>
          <a:bodyPr wrap="square" lIns="381" tIns="381" rIns="381" bIns="381" rtlCol="0" anchor="ctr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Security</a:t>
            </a:r>
            <a:endParaRPr lang="en-US" sz="850" dirty="0"/>
          </a:p>
        </p:txBody>
      </p:sp>
      <p:sp>
        <p:nvSpPr>
          <p:cNvPr id="66" name="Text 63"/>
          <p:cNvSpPr/>
          <p:nvPr/>
        </p:nvSpPr>
        <p:spPr>
          <a:xfrm>
            <a:off x="9646920" y="5010912"/>
            <a:ext cx="1234440" cy="502920"/>
          </a:xfrm>
          <a:prstGeom prst="rect">
            <a:avLst/>
          </a:prstGeom>
          <a:solidFill>
            <a:srgbClr val="EDEFF1"/>
          </a:solidFill>
          <a:ln w="6985">
            <a:solidFill>
              <a:srgbClr val="FFFFFF"/>
            </a:solidFill>
          </a:ln>
        </p:spPr>
        <p:txBody>
          <a:bodyPr wrap="square" lIns="381" tIns="381" rIns="381" bIns="381" rtlCol="0" anchor="ctr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Ongoing</a:t>
            </a:r>
            <a:endParaRPr lang="en-US" sz="850" dirty="0"/>
          </a:p>
        </p:txBody>
      </p:sp>
      <p:sp>
        <p:nvSpPr>
          <p:cNvPr id="67" name="Text 64"/>
          <p:cNvSpPr/>
          <p:nvPr/>
        </p:nvSpPr>
        <p:spPr>
          <a:xfrm>
            <a:off x="10881360" y="5010912"/>
            <a:ext cx="731520" cy="502920"/>
          </a:xfrm>
          <a:prstGeom prst="rect">
            <a:avLst/>
          </a:prstGeom>
          <a:solidFill>
            <a:srgbClr val="EDEFF1"/>
          </a:solidFill>
          <a:ln w="6985">
            <a:solidFill>
              <a:srgbClr val="FFFFFF"/>
            </a:solidFill>
          </a:ln>
        </p:spPr>
        <p:txBody>
          <a:bodyPr wrap="square" lIns="381" tIns="381" rIns="381" bIns="381" rtlCol="0" anchor="ctr">
            <a:normAutofit/>
          </a:bodyPr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6A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●</a:t>
            </a:r>
            <a:endParaRPr lang="en-US" sz="1800" dirty="0"/>
          </a:p>
        </p:txBody>
      </p:sp>
      <p:sp>
        <p:nvSpPr>
          <p:cNvPr id="68" name="Shape 65"/>
          <p:cNvSpPr/>
          <p:nvPr/>
        </p:nvSpPr>
        <p:spPr>
          <a:xfrm>
            <a:off x="320040" y="5961888"/>
            <a:ext cx="11521440" cy="0"/>
          </a:xfrm>
          <a:prstGeom prst="line">
            <a:avLst/>
          </a:prstGeom>
          <a:noFill/>
          <a:ln w="7620">
            <a:solidFill>
              <a:srgbClr val="9B9B9B"/>
            </a:solidFill>
            <a:prstDash val="solid"/>
          </a:ln>
        </p:spPr>
      </p:sp>
      <p:pic>
        <p:nvPicPr>
          <p:cNvPr id="69" name="Image 1" descr="/mnt/data/bnp_logo_crop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6144768"/>
            <a:ext cx="2377440" cy="502920"/>
          </a:xfrm>
          <a:prstGeom prst="rect">
            <a:avLst/>
          </a:prstGeom>
        </p:spPr>
      </p:pic>
      <p:sp>
        <p:nvSpPr>
          <p:cNvPr id="70" name="Text 66"/>
          <p:cNvSpPr/>
          <p:nvPr/>
        </p:nvSpPr>
        <p:spPr>
          <a:xfrm>
            <a:off x="8869680" y="6236208"/>
            <a:ext cx="2651760" cy="201168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r" indent="0" marL="0">
              <a:buNone/>
            </a:pPr>
            <a:r>
              <a:rPr lang="en-US" sz="75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AI@IT Payment Services   |   06/10/2026</a:t>
            </a:r>
            <a:endParaRPr lang="en-US" sz="750" dirty="0"/>
          </a:p>
        </p:txBody>
      </p:sp>
      <p:sp>
        <p:nvSpPr>
          <p:cNvPr id="71" name="Text 67"/>
          <p:cNvSpPr/>
          <p:nvPr/>
        </p:nvSpPr>
        <p:spPr>
          <a:xfrm>
            <a:off x="3337560" y="5925312"/>
            <a:ext cx="1600200" cy="384048"/>
          </a:xfrm>
          <a:prstGeom prst="rect">
            <a:avLst/>
          </a:prstGeom>
          <a:solidFill>
            <a:srgbClr val="FF0000"/>
          </a:solidFill>
          <a:ln w="6985">
            <a:solidFill>
              <a:srgbClr val="FF0000"/>
            </a:solidFill>
          </a:ln>
        </p:spPr>
        <p:txBody>
          <a:bodyPr wrap="square" lIns="381" tIns="381" rIns="381" bIns="381" rtlCol="0" anchor="ctr">
            <a:normAutofit/>
          </a:bodyPr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Critical blockers</a:t>
            </a:r>
            <a:endParaRPr lang="en-US" sz="900" dirty="0"/>
          </a:p>
        </p:txBody>
      </p:sp>
      <p:sp>
        <p:nvSpPr>
          <p:cNvPr id="72" name="Text 68"/>
          <p:cNvSpPr/>
          <p:nvPr/>
        </p:nvSpPr>
        <p:spPr>
          <a:xfrm>
            <a:off x="5029200" y="5925312"/>
            <a:ext cx="1691640" cy="384048"/>
          </a:xfrm>
          <a:prstGeom prst="rect">
            <a:avLst/>
          </a:prstGeom>
          <a:solidFill>
            <a:srgbClr val="FFFF00"/>
          </a:solidFill>
          <a:ln w="6985">
            <a:solidFill>
              <a:srgbClr val="FFFF00"/>
            </a:solidFill>
          </a:ln>
        </p:spPr>
        <p:txBody>
          <a:bodyPr wrap="square" lIns="381" tIns="381" rIns="381" bIns="381" rtlCol="0" anchor="ctr">
            <a:normAutofit/>
          </a:bodyPr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Partial blockers</a:t>
            </a:r>
            <a:endParaRPr lang="en-US" sz="900" dirty="0"/>
          </a:p>
        </p:txBody>
      </p:sp>
      <p:sp>
        <p:nvSpPr>
          <p:cNvPr id="73" name="Text 69"/>
          <p:cNvSpPr/>
          <p:nvPr/>
        </p:nvSpPr>
        <p:spPr>
          <a:xfrm>
            <a:off x="6812280" y="5925312"/>
            <a:ext cx="1828800" cy="384048"/>
          </a:xfrm>
          <a:prstGeom prst="rect">
            <a:avLst/>
          </a:prstGeom>
          <a:solidFill>
            <a:srgbClr val="00B050"/>
          </a:solidFill>
          <a:ln w="6985">
            <a:solidFill>
              <a:srgbClr val="00B050"/>
            </a:solidFill>
          </a:ln>
        </p:spPr>
        <p:txBody>
          <a:bodyPr wrap="square" lIns="381" tIns="381" rIns="381" bIns="381" rtlCol="0" anchor="ctr">
            <a:normAutofit/>
          </a:bodyPr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Smooth experience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rial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3</Slides>
  <Notes>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6" baseType="lpstr">
      <vt:lpstr>Arial</vt:lpstr>
      <vt:lpstr>Calibri</vt:lpstr>
      <vt:lpstr>Office Theme</vt:lpstr>
      <vt:lpstr>Slide 1</vt:lpstr>
      <vt:lpstr>Slide 2</vt:lpstr>
      <vt:lpstr>Slide 3</vt:lpstr>
    </vt:vector>
  </TitlesOfParts>
  <Company>AI@IT Payment Services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BOB AI Report</dc:title>
  <dc:subject>BOB AI Weekly Reporting</dc:subject>
  <dc:creator>OpenAI</dc:creator>
  <cp:lastModifiedBy>OpenAI</cp:lastModifiedBy>
  <cp:revision>1</cp:revision>
  <dcterms:created xsi:type="dcterms:W3CDTF">2026-10-12T06:56:25Z</dcterms:created>
  <dcterms:modified xsi:type="dcterms:W3CDTF">2026-10-12T06:56:25Z</dcterms:modified>
</cp:coreProperties>
</file>