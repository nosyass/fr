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0" cy="411480"/>
          </a:xfrm>
          <a:prstGeom prst="line">
            <a:avLst/>
          </a:prstGeom>
          <a:noFill/>
          <a:ln w="38100">
            <a:solidFill>
              <a:srgbClr val="0084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 A - Accès aux modèles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Conserver les notions techniques utiles en second niveau, sans alourdir le glossaire principal.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502920" cy="0"/>
          </a:xfrm>
          <a:prstGeom prst="line">
            <a:avLst/>
          </a:prstGeom>
          <a:noFill/>
          <a:ln w="21590">
            <a:solidFill>
              <a:srgbClr val="008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438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11712" y="457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52728"/>
            <a:ext cx="786384" cy="210312"/>
          </a:xfrm>
          <a:prstGeom prst="rect">
            <a:avLst/>
          </a:prstGeom>
          <a:solidFill>
            <a:srgbClr val="EAF6EF"/>
          </a:solidFill>
          <a:ln w="10160">
            <a:solidFill>
              <a:srgbClr val="B7DCC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43D"/>
                </a:solidFill>
              </a:rPr>
              <a:t>ANNEXE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874520"/>
            <a:ext cx="34290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07568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1579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LLMaaS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399032" y="240487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532888"/>
            <a:ext cx="2560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Service interne donnant un accès centralisé à plusieurs modèles via API, sur une infrastructure mutualisée.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Objectif: éviter que chaque projet mette en place son propre accès modèle.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34290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207568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1579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GenAI Gateway / LiteLLM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102352" y="240487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532888"/>
            <a:ext cx="2560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Passerelle qui route, sécurise et standardise les appels vers les modèles.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Elle aide à gérer les modèles, les quotas, les clés et les règles d usage.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874520"/>
            <a:ext cx="342900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5320" y="207568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215798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5672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Sandbox / Production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805672" y="240487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2532888"/>
            <a:ext cx="25603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Sandbox: environnement d exploration pour tester des modèles et capacités.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Production: environnement stabilisé pour des usages maîtrisés.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77240" y="541324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EAF6EF"/>
          </a:solidFill>
          <a:ln w="10160">
            <a:solidFill>
              <a:srgbClr val="0084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" y="5541264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</a:rPr>
              <a:t>À garder en annexe: la liste des modèles disponibles peut évoluer, donc elle doit rester datée ou liée à une référence officielle.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6053328"/>
            <a:ext cx="1138428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pic>
        <p:nvPicPr>
          <p:cNvPr id="30" name="Image 0" descr="/mnt/data/bn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54496"/>
            <a:ext cx="1097280" cy="347472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709160" y="6236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for a changing world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0012680" y="6272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Classification: Internal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11658600" y="6217920"/>
            <a:ext cx="0" cy="228600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731752" y="6254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B2430"/>
                </a:solidFill>
              </a:rPr>
              <a:t>A1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0" cy="411480"/>
          </a:xfrm>
          <a:prstGeom prst="line">
            <a:avLst/>
          </a:prstGeom>
          <a:noFill/>
          <a:ln w="38100">
            <a:solidFill>
              <a:srgbClr val="0084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 B - Infrastructure et gouvernance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Les briques techniques qui permettent d industrialiser et sécuriser les usages 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502920" cy="0"/>
          </a:xfrm>
          <a:prstGeom prst="line">
            <a:avLst/>
          </a:prstGeom>
          <a:noFill/>
          <a:ln w="21590">
            <a:solidFill>
              <a:srgbClr val="008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438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11712" y="457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52728"/>
            <a:ext cx="786384" cy="210312"/>
          </a:xfrm>
          <a:prstGeom prst="rect">
            <a:avLst/>
          </a:prstGeom>
          <a:solidFill>
            <a:srgbClr val="EAF6EF"/>
          </a:solidFill>
          <a:ln w="10160">
            <a:solidFill>
              <a:srgbClr val="B7DCC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43D"/>
                </a:solidFill>
              </a:rPr>
              <a:t>ANNEXE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GPU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GPU / infrastructure mutualisée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399032" y="213055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25856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Puissance de calcul utilisée pour exécuter ou accélérer certains traitements IA. Une infrastructure mutualisée évite de multiplier les ressources projet par projet.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RH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RHOAI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102352" y="213055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25856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Plateforme d orchestration et de déploiement de workloads IA sur infrastructure interne.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6002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532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AZ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567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Azure AI Containers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805672" y="213055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225856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Composants d IA Microsoft exécutés dans un environnement maîtrisé, notamment pour certains besoins de sécurité ou filtrage.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4290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36301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RUN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99032" y="3630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Runtime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1399032" y="395935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408736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Environnement dans lequel tourne une application ou un modèle: conteneur, plateforme ou service d exécution.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0" y="34290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6301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ML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630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MLOps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5102352" y="395935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408736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Pratiques permettant de suivre, déployer, contrôler et maintenir les modèles IA dans la durée.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92440" y="3429000"/>
            <a:ext cx="342900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75320" y="36301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37124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43D"/>
                </a:solidFill>
              </a:rPr>
              <a:t>GR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05672" y="36301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843D"/>
                </a:solidFill>
              </a:rPr>
              <a:t>Guardrails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805672" y="3959352"/>
            <a:ext cx="320040" cy="0"/>
          </a:xfrm>
          <a:prstGeom prst="line">
            <a:avLst/>
          </a:prstGeom>
          <a:noFill/>
          <a:ln w="13970">
            <a:solidFill>
              <a:srgbClr val="00843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05672" y="4087368"/>
            <a:ext cx="2560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Règles et contrôles qui encadrent les entrées, les sorties ou les actions de l IA.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77240" y="541324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EAF6EF"/>
          </a:solidFill>
          <a:ln w="10160">
            <a:solidFill>
              <a:srgbClr val="0084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541264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</a:rPr>
              <a:t>Ces notions ne sont pas le cœur pédagogique du glossaire, mais elles expliquent comment les usages IA sont opérés et sécurisés.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6053328"/>
            <a:ext cx="1138428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pic>
        <p:nvPicPr>
          <p:cNvPr id="48" name="Image 0" descr="/mnt/data/bn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54496"/>
            <a:ext cx="1097280" cy="34747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4709160" y="6236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for a changing world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10012680" y="6272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Classification: Internal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11658600" y="6217920"/>
            <a:ext cx="0" cy="228600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731752" y="6254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B2430"/>
                </a:solidFill>
              </a:rPr>
              <a:t>A2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0" cy="411480"/>
          </a:xfrm>
          <a:prstGeom prst="line">
            <a:avLst/>
          </a:prstGeom>
          <a:noFill/>
          <a:ln w="38100">
            <a:solidFill>
              <a:srgbClr val="0084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 C - Écosystème de développement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Notions issues du glossaire existant autour de DevX et des outils développeurs.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502920" cy="0"/>
          </a:xfrm>
          <a:prstGeom prst="line">
            <a:avLst/>
          </a:prstGeom>
          <a:noFill/>
          <a:ln w="21590">
            <a:solidFill>
              <a:srgbClr val="008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438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11712" y="457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52728"/>
            <a:ext cx="786384" cy="210312"/>
          </a:xfrm>
          <a:prstGeom prst="rect">
            <a:avLst/>
          </a:prstGeom>
          <a:solidFill>
            <a:srgbClr val="EAF6EF"/>
          </a:solidFill>
          <a:ln w="10160">
            <a:solidFill>
              <a:srgbClr val="B7DCC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43D"/>
                </a:solidFill>
              </a:rPr>
              <a:t>ANNEXE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EF"/>
                </a:solidFill>
              </a:rPr>
              <a:t>DEV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EEF"/>
                </a:solidFill>
              </a:rPr>
              <a:t>DevX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399032" y="2130552"/>
            <a:ext cx="320040" cy="0"/>
          </a:xfrm>
          <a:prstGeom prst="line">
            <a:avLst/>
          </a:prstGeom>
          <a:noFill/>
          <a:ln w="13970">
            <a:solidFill>
              <a:srgbClr val="155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Environnement interne de développement, utilisé pour coder, tester et déployer des applications.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EF"/>
                </a:solidFill>
              </a:rPr>
              <a:t>IDE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EEF"/>
                </a:solidFill>
              </a:rPr>
              <a:t>IDE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102352" y="2130552"/>
            <a:ext cx="320040" cy="0"/>
          </a:xfrm>
          <a:prstGeom prst="line">
            <a:avLst/>
          </a:prstGeom>
          <a:noFill/>
          <a:ln w="13970">
            <a:solidFill>
              <a:srgbClr val="155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Interface de développement qui regroupe l édition de code, le debug et les outils nécessaires au développement.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60020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532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EF"/>
                </a:solidFill>
              </a:rPr>
              <a:t>AI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567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EEF"/>
                </a:solidFill>
              </a:rPr>
              <a:t>Plugin Continue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805672" y="2130552"/>
            <a:ext cx="320040" cy="0"/>
          </a:xfrm>
          <a:prstGeom prst="line">
            <a:avLst/>
          </a:prstGeom>
          <a:noFill/>
          <a:ln w="13970">
            <a:solidFill>
              <a:srgbClr val="155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2258568"/>
            <a:ext cx="2560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Extension IA intégrée à l IDE pour bénéficier d assistance pendant le développement.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15468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335584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4381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EF"/>
                </a:solidFill>
              </a:rPr>
              <a:t>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99032" y="3355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EEF"/>
                </a:solidFill>
              </a:rPr>
              <a:t>Dashboard DevX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1399032" y="3685032"/>
            <a:ext cx="320040" cy="0"/>
          </a:xfrm>
          <a:prstGeom prst="line">
            <a:avLst/>
          </a:prstGeom>
          <a:noFill/>
          <a:ln w="13970">
            <a:solidFill>
              <a:srgbClr val="155E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3813048"/>
            <a:ext cx="2560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Tableau de bord pour suivre certains usages, statistiques ou indicateurs liés à DevX et aux capacités IA.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0" y="315468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35584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4381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EF"/>
                </a:solidFill>
              </a:rPr>
              <a:t>PKG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355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EEF"/>
                </a:solidFill>
              </a:rPr>
              <a:t>Package Manager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5102352" y="3685032"/>
            <a:ext cx="320040" cy="0"/>
          </a:xfrm>
          <a:prstGeom prst="line">
            <a:avLst/>
          </a:prstGeom>
          <a:noFill/>
          <a:ln w="13970">
            <a:solidFill>
              <a:srgbClr val="155EE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3813048"/>
            <a:ext cx="2560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Outil permettant d installer, mettre à jour ou supprimer des composants logiciels dans l environnement DevX.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92440" y="315468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75320" y="335584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343814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5EEF"/>
                </a:solidFill>
              </a:rPr>
              <a:t>PF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05672" y="33558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5EEF"/>
                </a:solidFill>
              </a:rPr>
              <a:t>Port Forwarder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805672" y="3685032"/>
            <a:ext cx="320040" cy="0"/>
          </a:xfrm>
          <a:prstGeom prst="line">
            <a:avLst/>
          </a:prstGeom>
          <a:noFill/>
          <a:ln w="13970">
            <a:solidFill>
              <a:srgbClr val="155E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05672" y="3813048"/>
            <a:ext cx="2560320" cy="548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Mécanisme pour accéder à une application lancée dans DevX depuis un navigateur ou un poste utilisateur.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77240" y="541324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EAF6EF"/>
          </a:solidFill>
          <a:ln w="10160">
            <a:solidFill>
              <a:srgbClr val="0084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541264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</a:rPr>
              <a:t>À éviter dans le corps principal: trop de détails outils. À garder ici pour respecter le glossaire de référence.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6053328"/>
            <a:ext cx="1138428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pic>
        <p:nvPicPr>
          <p:cNvPr id="48" name="Image 0" descr="/mnt/data/bn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54496"/>
            <a:ext cx="1097280" cy="34747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4709160" y="6236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for a changing world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10012680" y="6272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Classification: Internal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11658600" y="6217920"/>
            <a:ext cx="0" cy="228600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731752" y="6254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B2430"/>
                </a:solidFill>
              </a:rPr>
              <a:t>A3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02920"/>
            <a:ext cx="0" cy="411480"/>
          </a:xfrm>
          <a:prstGeom prst="line">
            <a:avLst/>
          </a:prstGeom>
          <a:noFill/>
          <a:ln w="38100">
            <a:solidFill>
              <a:srgbClr val="0084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20624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Annexe D - Optimisation du contexte et des tokens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896112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3"/>
                </a:solidFill>
              </a:rPr>
              <a:t>Un complément Green IT / FinOps pour expliquer la sobriété dans les usages 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3232" y="1225296"/>
            <a:ext cx="502920" cy="0"/>
          </a:xfrm>
          <a:prstGeom prst="line">
            <a:avLst/>
          </a:prstGeom>
          <a:noFill/>
          <a:ln w="21590">
            <a:solidFill>
              <a:srgbClr val="0084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18520" y="438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</a:rPr>
              <a:t>IT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11712" y="4572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GROUP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52728"/>
            <a:ext cx="786384" cy="210312"/>
          </a:xfrm>
          <a:prstGeom prst="rect">
            <a:avLst/>
          </a:prstGeom>
          <a:solidFill>
            <a:srgbClr val="EAF6EF"/>
          </a:solidFill>
          <a:ln w="10160">
            <a:solidFill>
              <a:srgbClr val="B7DCC6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843D"/>
                </a:solidFill>
              </a:rPr>
              <a:t>ANNEXE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CTX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9903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Context optimization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399032" y="2130552"/>
            <a:ext cx="32004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9032" y="2258568"/>
            <a:ext cx="2560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Limiter les informations envoyées au LLM tout en gardant ce qui est utile pour la tâche.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0" y="16002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TOK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0235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Token efficiency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5102352" y="2130552"/>
            <a:ext cx="32004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02352" y="2258568"/>
            <a:ext cx="2560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Moins de texte inutile signifie souvent moins de tokens à traiter, donc moins de coût et de calcul.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092440" y="160020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75320" y="180136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75320" y="188366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SUM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05672" y="1801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Context summarization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805672" y="2130552"/>
            <a:ext cx="32004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05672" y="2258568"/>
            <a:ext cx="256032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Résumer un historique, un document ou une conversation avant de le fournir au modèle.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56616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68680" y="376732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849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LOG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99032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Command output filtering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1399032" y="4096512"/>
            <a:ext cx="32004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99032" y="4224528"/>
            <a:ext cx="2560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Nettoyer ou réduire logs, stack traces et sorties terminal avant de les transmettre au modèle.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389120" y="356616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0" y="376732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3849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CODE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02352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Targeted code retrieval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5102352" y="4096512"/>
            <a:ext cx="32004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02352" y="4224528"/>
            <a:ext cx="2560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Récupérer uniquement les classes, méthodes ou fichiers utiles au lieu d envoyer tout le repository.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8092440" y="3566160"/>
            <a:ext cx="34290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1430">
            <a:solidFill>
              <a:srgbClr val="B7DCC6"/>
            </a:solidFill>
            <a:prstDash val="solid"/>
          </a:ln>
          <a:effectLst>
            <a:outerShdw sx="100000" sy="100000" kx="0" ky="0" algn="bl" rotWithShape="0" blurRad="25400" dist="50800" dir="2700000">
              <a:srgbClr val="D1D5DB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75320" y="3767328"/>
            <a:ext cx="384048" cy="384048"/>
          </a:xfrm>
          <a:prstGeom prst="ellipse">
            <a:avLst/>
          </a:prstGeom>
          <a:solidFill>
            <a:srgbClr val="EAF6EF"/>
          </a:solidFill>
          <a:ln w="7620">
            <a:solidFill>
              <a:srgbClr val="B7DC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75320" y="384962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EX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805672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97706"/>
                </a:solidFill>
              </a:rPr>
              <a:t>Exemples à évaluer</a:t>
            </a:r>
            <a:endParaRPr lang="en-US" sz="1550" dirty="0"/>
          </a:p>
        </p:txBody>
      </p:sp>
      <p:sp>
        <p:nvSpPr>
          <p:cNvPr id="43" name="Shape 41"/>
          <p:cNvSpPr/>
          <p:nvPr/>
        </p:nvSpPr>
        <p:spPr>
          <a:xfrm>
            <a:off x="8805672" y="4096512"/>
            <a:ext cx="320040" cy="0"/>
          </a:xfrm>
          <a:prstGeom prst="line">
            <a:avLst/>
          </a:prstGeom>
          <a:noFill/>
          <a:ln w="1397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05672" y="4224528"/>
            <a:ext cx="25603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RTK, jCodeMunch ou outils similaires peuvent illustrer le principe, sans les présenter comme des solutions BNP validées.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77240" y="541324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EAF6EF"/>
          </a:solidFill>
          <a:ln w="10160">
            <a:solidFill>
              <a:srgbClr val="0084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05840" y="5541264"/>
            <a:ext cx="10241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B2430"/>
                </a:solidFill>
              </a:rPr>
              <a:t>Message clé: la sobriété IA ne dépend pas seulement du modèle choisi, mais aussi du volume de contexte envoyé au modèle.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11480" y="6053328"/>
            <a:ext cx="11384280" cy="0"/>
          </a:xfrm>
          <a:prstGeom prst="line">
            <a:avLst/>
          </a:prstGeom>
          <a:noFill/>
          <a:ln w="10160">
            <a:solidFill>
              <a:srgbClr val="CBD5D1"/>
            </a:solidFill>
            <a:prstDash val="solid"/>
          </a:ln>
        </p:spPr>
      </p:sp>
      <p:pic>
        <p:nvPicPr>
          <p:cNvPr id="48" name="Image 0" descr="/mnt/data/bnp_logo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254496"/>
            <a:ext cx="1097280" cy="347472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4709160" y="6236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bank for a changing world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10012680" y="62727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B5563"/>
                </a:solidFill>
              </a:rPr>
              <a:t>Classification: Internal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11658600" y="6217920"/>
            <a:ext cx="0" cy="228600"/>
          </a:xfrm>
          <a:prstGeom prst="line">
            <a:avLst/>
          </a:prstGeom>
          <a:noFill/>
          <a:ln w="19050">
            <a:solidFill>
              <a:srgbClr val="00843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1731752" y="6254496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1B2430"/>
                </a:solidFill>
              </a:rPr>
              <a:t>A4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Glossaire IA for IT PS - Annexes</dc:title>
  <dc:subject>Glossaire IA IT PS - Appendix</dc:subject>
  <dc:creator>OpenAI</dc:creator>
  <cp:lastModifiedBy>OpenAI</cp:lastModifiedBy>
  <cp:revision>1</cp:revision>
  <dcterms:created xsi:type="dcterms:W3CDTF">2026-08-22T14:16:42Z</dcterms:created>
  <dcterms:modified xsi:type="dcterms:W3CDTF">2026-08-22T14:16:42Z</dcterms:modified>
</cp:coreProperties>
</file>