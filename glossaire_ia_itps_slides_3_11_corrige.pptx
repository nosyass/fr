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fondations à l IA générative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Quelques familles de concepts permettent de comprendre l évolution des usages.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207008" y="1993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 artificielle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207008" y="2359152"/>
            <a:ext cx="1216152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Systèmes capables de réaliser des tâches associées à l intelligence humaine.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Exemples: comprendre, classer, recommander, générer.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16916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8288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35224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429000" y="1993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3429000" y="2359152"/>
            <a:ext cx="1216152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Approche dans laquelle un système apprend des régularités à partir de données au lieu de suivre uniquement des règles écrites à la main.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953512" y="3858768"/>
            <a:ext cx="169164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2624" y="18288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57216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650992" y="1993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650992" y="2359152"/>
            <a:ext cx="1216152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 de Machine Learning basée sur des réseaux de neurones avec plusieurs couches.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175504" y="3858768"/>
            <a:ext cx="169164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14616" y="18288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79208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A3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7872984" y="1993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générative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7872984" y="2359152"/>
            <a:ext cx="1216152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 capable de produire de nouveaux contenus: texte, code, images, synthèses ou réponses structurées.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7397496" y="3858768"/>
            <a:ext cx="1691640" cy="0"/>
          </a:xfrm>
          <a:prstGeom prst="line">
            <a:avLst/>
          </a:prstGeom>
          <a:noFill/>
          <a:ln w="15240">
            <a:solidFill>
              <a:srgbClr val="00A36C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36608" y="18288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01200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1725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0094976" y="199339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10094976" y="2359152"/>
            <a:ext cx="1216152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Grand modèle de langage entraîné sur de grands volumes de texte et de code pour comprendre et générer du langage.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9619488" y="3858768"/>
            <a:ext cx="1691640" cy="0"/>
          </a:xfrm>
          <a:prstGeom prst="line">
            <a:avLst/>
          </a:prstGeom>
          <a:noFill/>
          <a:ln w="15240">
            <a:solidFill>
              <a:srgbClr val="17251F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" y="5422392"/>
            <a:ext cx="10744200" cy="0"/>
          </a:xfrm>
          <a:prstGeom prst="line">
            <a:avLst/>
          </a:prstGeom>
          <a:noFill/>
          <a:ln w="12700">
            <a:solidFill>
              <a:srgbClr val="D6E9D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596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8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Message simple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4800600" y="559612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IA générative est une famille d IA. Les LLM sont les modèles qui rendent possibles beaucoup d assistants textuels.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Comment fonctionne un LLM en pratique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modèle transforme une demande en réponse en s appuyant sur le contexte disponible.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2121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208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207008" y="213055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07008" y="2496312"/>
            <a:ext cx="12161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demande envoyée au modèle. Elle peut contenir une question, une consigne, un extrait de document ou du code.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16916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9659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35224" y="2121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2208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429000" y="213055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29000" y="2496312"/>
            <a:ext cx="12161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Petites unités de texte traitées par le modèle. Plus le contexte est long, plus le nombre de tokens augmente.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953512" y="3355848"/>
            <a:ext cx="16916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2624" y="19659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57216" y="2121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2208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650992" y="213055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50992" y="2496312"/>
            <a:ext cx="12161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Informations visibles par le modèle au moment de répondre: prompt, documents, historique ou code fourni.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175504" y="3355848"/>
            <a:ext cx="169164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14616" y="19659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79208" y="2121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2208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7872984" y="213055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Inférence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72984" y="2496312"/>
            <a:ext cx="12161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 où le modèle génère une réponse à partir du prompt et du contexte.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397496" y="3355848"/>
            <a:ext cx="169164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36608" y="19659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601200" y="2121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2208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0094976" y="213055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Réponse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094976" y="2496312"/>
            <a:ext cx="121615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Texte, code, résumé ou résultat structuré produit par le modèle.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9619488" y="3355848"/>
            <a:ext cx="169164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24328" y="2743200"/>
            <a:ext cx="11887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846320" y="2743200"/>
            <a:ext cx="11887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68312" y="2743200"/>
            <a:ext cx="11887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290304" y="2743200"/>
            <a:ext cx="11887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58368" y="43434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9ED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2960" y="44988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F4B8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45857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B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316736" y="4507992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1316736" y="4873752"/>
            <a:ext cx="450799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plausible en apparence, mais incorrecte ou non supportée par les sources disponibles.</a:t>
            </a:r>
            <a:endParaRPr lang="en-US" sz="960" dirty="0"/>
          </a:p>
        </p:txBody>
      </p:sp>
      <p:sp>
        <p:nvSpPr>
          <p:cNvPr id="50" name="Shape 48"/>
          <p:cNvSpPr/>
          <p:nvPr/>
        </p:nvSpPr>
        <p:spPr>
          <a:xfrm>
            <a:off x="841248" y="5230368"/>
            <a:ext cx="4983480" cy="0"/>
          </a:xfrm>
          <a:prstGeom prst="line">
            <a:avLst/>
          </a:prstGeom>
          <a:noFill/>
          <a:ln w="15240">
            <a:solidFill>
              <a:srgbClr val="F4B84A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4343400"/>
            <a:ext cx="5349240" cy="1051560"/>
          </a:xfrm>
          <a:prstGeom prst="roundRect">
            <a:avLst>
              <a:gd name="adj" fmla="val 10435"/>
            </a:avLst>
          </a:prstGeom>
          <a:solidFill>
            <a:srgbClr val="FFF9ED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64224" y="44988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F4B8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45857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4B8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6858000" y="4507992"/>
            <a:ext cx="4507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Biais</a:t>
            </a:r>
            <a:endParaRPr lang="en-US" sz="1320" dirty="0"/>
          </a:p>
        </p:txBody>
      </p:sp>
      <p:sp>
        <p:nvSpPr>
          <p:cNvPr id="55" name="Text 53"/>
          <p:cNvSpPr/>
          <p:nvPr/>
        </p:nvSpPr>
        <p:spPr>
          <a:xfrm>
            <a:off x="6858000" y="4873752"/>
            <a:ext cx="450799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Déformation systématique pouvant venir des données, du modèle ou de la façon dont l outil est utilisé.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6382512" y="5230368"/>
            <a:ext cx="4983480" cy="0"/>
          </a:xfrm>
          <a:prstGeom prst="line">
            <a:avLst/>
          </a:prstGeom>
          <a:noFill/>
          <a:ln w="15240">
            <a:solidFill>
              <a:srgbClr val="F4B84A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Donner du contexte à l IA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et Knowledge Base permettent de relier un LLM à des connaissances utiles.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93852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25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298448" y="19476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98448" y="2313432"/>
            <a:ext cx="98755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Procédures, guides, pages techniques, exigences ou extraits métier.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" y="3538728"/>
            <a:ext cx="14630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17830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07792" y="193852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2025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3401568" y="19476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01568" y="2313432"/>
            <a:ext cx="98755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Préparation des contenus pour les rendre recherchables.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0" y="3538728"/>
            <a:ext cx="14630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7830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10912" y="193852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2025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5504688" y="19476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04688" y="2313432"/>
            <a:ext cx="98755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Représentation numérique du sens d un texte pour comparer des contenus proches.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0" y="3538728"/>
            <a:ext cx="14630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17830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14032" y="193852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2025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7607808" y="19476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07808" y="2313432"/>
            <a:ext cx="98755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 structuré de connaissances utilisées comme source fiable.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132320" y="3538728"/>
            <a:ext cx="14630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1783080"/>
            <a:ext cx="182880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17152" y="193852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A36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20253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9710928" y="194767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10928" y="2313432"/>
            <a:ext cx="98755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système retrouve les informations pertinentes avant de générer la réponse.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235440" y="3538728"/>
            <a:ext cx="1463040" cy="0"/>
          </a:xfrm>
          <a:prstGeom prst="line">
            <a:avLst/>
          </a:prstGeom>
          <a:noFill/>
          <a:ln w="15240">
            <a:solidFill>
              <a:srgbClr val="00A36C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87168" y="2743200"/>
            <a:ext cx="21031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90288" y="2743200"/>
            <a:ext cx="21031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93408" y="2743200"/>
            <a:ext cx="21031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796528" y="2743200"/>
            <a:ext cx="210312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7240" y="4251960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F6FBF8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41832" y="4407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832" y="4494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1435608" y="4416552"/>
            <a:ext cx="4233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Grounding</a:t>
            </a:r>
            <a:endParaRPr lang="en-US" sz="1320" dirty="0"/>
          </a:p>
        </p:txBody>
      </p:sp>
      <p:sp>
        <p:nvSpPr>
          <p:cNvPr id="49" name="Text 47"/>
          <p:cNvSpPr/>
          <p:nvPr/>
        </p:nvSpPr>
        <p:spPr>
          <a:xfrm>
            <a:off x="1435608" y="4782312"/>
            <a:ext cx="4233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Ancrer une réponse dans des informations disponibles et pertinentes afin de réduire les réponses non justifiées.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960120" y="5047488"/>
            <a:ext cx="470916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63640" y="4251960"/>
            <a:ext cx="5074920" cy="960120"/>
          </a:xfrm>
          <a:prstGeom prst="roundRect">
            <a:avLst>
              <a:gd name="adj" fmla="val 11429"/>
            </a:avLst>
          </a:prstGeom>
          <a:solidFill>
            <a:srgbClr val="F6FBF8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28232" y="440740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44942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6922008" y="4416552"/>
            <a:ext cx="4233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Illustration IT PS</a:t>
            </a:r>
            <a:endParaRPr lang="en-US" sz="1320" dirty="0"/>
          </a:p>
        </p:txBody>
      </p:sp>
      <p:sp>
        <p:nvSpPr>
          <p:cNvPr id="55" name="Text 53"/>
          <p:cNvSpPr/>
          <p:nvPr/>
        </p:nvSpPr>
        <p:spPr>
          <a:xfrm>
            <a:off x="6922008" y="4782312"/>
            <a:ext cx="423367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connaissances internes approuvées peuvent enrichir les réponses de certains assistants ou cas d usage.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6446520" y="5047488"/>
            <a:ext cx="470916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 assistant à l IA agentique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changement principal: passer de produire une réponse à réaliser ou coordonner des actions.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731520" y="1828800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673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389888" y="199339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Chatbot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389888" y="2359152"/>
            <a:ext cx="167335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Dialogue simple avec un utilisateur.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répond selon des règles ou un modèle, mais reste limité dans les actions.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914400" y="4087368"/>
            <a:ext cx="2148840" cy="0"/>
          </a:xfrm>
          <a:prstGeom prst="line">
            <a:avLst/>
          </a:prstGeom>
          <a:noFill/>
          <a:ln w="15240">
            <a:solidFill>
              <a:srgbClr val="66736D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828800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93592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087368" y="199339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Assistant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087368" y="2359152"/>
            <a:ext cx="167335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 à rédiger, résumer, expliquer, rechercher ou reformuler.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Exemples: My Companion, M365 Copilot.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3611880" y="4087368"/>
            <a:ext cx="214884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828800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6784848" y="199339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784848" y="2359152"/>
            <a:ext cx="167335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utiliser des outils ou services pour atteindre un objectif.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ne se limite pas à générer du texte.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309360" y="4087368"/>
            <a:ext cx="214884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1828800"/>
            <a:ext cx="2514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88552" y="19842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88552" y="20711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9482328" y="199339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9482328" y="2359152"/>
            <a:ext cx="1673352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planifier, appeler des outils, exécuter plusieurs étapes, observer et adapter la suite.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9006840" y="4087368"/>
            <a:ext cx="214884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7560" y="3035808"/>
            <a:ext cx="-18288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35040" y="3035808"/>
            <a:ext cx="-18288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32520" y="3035808"/>
            <a:ext cx="-18288" cy="0"/>
          </a:xfrm>
          <a:prstGeom prst="line">
            <a:avLst/>
          </a:prstGeom>
          <a:noFill/>
          <a:ln w="19050">
            <a:solidFill>
              <a:srgbClr val="008A5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" y="5422392"/>
            <a:ext cx="10744200" cy="0"/>
          </a:xfrm>
          <a:prstGeom prst="line">
            <a:avLst/>
          </a:prstGeom>
          <a:noFill/>
          <a:ln w="12700">
            <a:solidFill>
              <a:srgbClr val="D6E9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5596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8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retenir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4800600" y="559612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assistant aide à produire ou comprendre. Un agent peut agir avec des outils. L IA agentique organise plusieurs étapes.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briques de l IA agentique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 termes expliquent comment un agent peut aller au-delà d une simple réponse.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298448" y="18562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1298448" y="222199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Capacité externe utilisée par un agent: API, recherche, application ou service.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822960" y="2761488"/>
            <a:ext cx="228600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691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8503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4178808" y="18562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calling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4178808" y="222199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Mécanisme permettant au modèle de demander l exécution d une fonction ou d un outil.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703320" y="2761488"/>
            <a:ext cx="228600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1691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6539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7059168" y="18562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7059168" y="222199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Découper un objectif en étapes avant de les exécuter.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6583680" y="2761488"/>
            <a:ext cx="228600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81160" y="169164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44575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A36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575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9939528" y="185623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9939528" y="222199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Informations conservées et réutilisées pendant un workflow, selon la solution.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9464040" y="2761488"/>
            <a:ext cx="2286000" cy="0"/>
          </a:xfrm>
          <a:prstGeom prst="line">
            <a:avLst/>
          </a:prstGeom>
          <a:noFill/>
          <a:ln w="15240">
            <a:solidFill>
              <a:srgbClr val="00A36C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2004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" y="33558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" y="34427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1298448" y="336499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1298448" y="373075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 entre modèles, agents, outils et étapes.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822960" y="4270248"/>
            <a:ext cx="228600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0440" y="32004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85032" y="33558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85032" y="34427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4178808" y="336499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in the Loop</a:t>
            </a:r>
            <a:endParaRPr lang="en-US" sz="1140" dirty="0"/>
          </a:p>
        </p:txBody>
      </p:sp>
      <p:sp>
        <p:nvSpPr>
          <p:cNvPr id="45" name="Text 43"/>
          <p:cNvSpPr/>
          <p:nvPr/>
        </p:nvSpPr>
        <p:spPr>
          <a:xfrm>
            <a:off x="4178808" y="373075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validation humaine avant certaines actions ou décisions.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3703320" y="4270248"/>
            <a:ext cx="228600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2004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565392" y="33558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34427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7059168" y="336499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1140" dirty="0"/>
          </a:p>
        </p:txBody>
      </p:sp>
      <p:sp>
        <p:nvSpPr>
          <p:cNvPr id="51" name="Text 49"/>
          <p:cNvSpPr/>
          <p:nvPr/>
        </p:nvSpPr>
        <p:spPr>
          <a:xfrm>
            <a:off x="7059168" y="373075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qui encadrent les entrées, sorties ou actions de l IA.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6583680" y="4270248"/>
            <a:ext cx="228600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81160" y="320040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445752" y="33558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A36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45752" y="34427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9939528" y="336499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</a:t>
            </a:r>
            <a:endParaRPr lang="en-US" sz="1140" dirty="0"/>
          </a:p>
        </p:txBody>
      </p:sp>
      <p:sp>
        <p:nvSpPr>
          <p:cNvPr id="57" name="Text 55"/>
          <p:cNvSpPr/>
          <p:nvPr/>
        </p:nvSpPr>
        <p:spPr>
          <a:xfrm>
            <a:off x="9939528" y="3730752"/>
            <a:ext cx="181051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agents spécialisés coopèrent autour d une demande complexe.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9464040" y="4270248"/>
            <a:ext cx="2286000" cy="0"/>
          </a:xfrm>
          <a:prstGeom prst="line">
            <a:avLst/>
          </a:prstGeom>
          <a:noFill/>
          <a:ln w="15240">
            <a:solidFill>
              <a:srgbClr val="00A36C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5800" y="5422392"/>
            <a:ext cx="10744200" cy="0"/>
          </a:xfrm>
          <a:prstGeom prst="line">
            <a:avLst/>
          </a:prstGeom>
          <a:noFill/>
          <a:ln w="12700">
            <a:solidFill>
              <a:srgbClr val="D6E9D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8680" y="5596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8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simple</a:t>
            </a:r>
            <a:endParaRPr lang="en-US" sz="1120" dirty="0"/>
          </a:p>
        </p:txBody>
      </p:sp>
      <p:sp>
        <p:nvSpPr>
          <p:cNvPr id="61" name="Text 59"/>
          <p:cNvSpPr/>
          <p:nvPr/>
        </p:nvSpPr>
        <p:spPr>
          <a:xfrm>
            <a:off x="4800600" y="559612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 ne possède pas seulement un modèle. Il combine objectif, outils, règles, contexte et parfois validation humaine.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Skills, Facets et Green IT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moyen simple de relier les concepts agentiques à des pratiques concrètes dans IT 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039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344168" y="185623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Skill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1344168" y="2221992"/>
            <a:ext cx="2496312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Capacité réutilisable contenant des consignes, connaissances ou règles spécialisées.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simple: donner à l IA une manière de travailler sur un sujet précis.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868680" y="3904488"/>
            <a:ext cx="297180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169164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943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93208" y="185623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Facet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093208" y="2221992"/>
            <a:ext cx="2496312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Angle spécialisé d analyse appliqué à un projet ou repository existant.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simple: regarder un projet avec une grille de lecture précise.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617720" y="3904488"/>
            <a:ext cx="297180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691640"/>
            <a:ext cx="33375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48472" y="18470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A3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19339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3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842248" y="1856232"/>
            <a:ext cx="2496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 IT practices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842248" y="2221992"/>
            <a:ext cx="2496312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Bonnes pratiques et recommandations pour concevoir, analyser ou améliorer des applications plus sobres.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366760" y="3904488"/>
            <a:ext cx="2971800" cy="0"/>
          </a:xfrm>
          <a:prstGeom prst="line">
            <a:avLst/>
          </a:prstGeom>
          <a:noFill/>
          <a:ln w="15240">
            <a:solidFill>
              <a:srgbClr val="00A36C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4348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6FBF8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" y="45902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6771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344168" y="4599432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assistants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344168" y="4965192"/>
            <a:ext cx="43251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DevX, DevX NextGen et IBM Bob AI peuvent être illustrés par des Green IT skills partagées avec les assistants et LLM développeurs.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68680" y="5321808"/>
            <a:ext cx="480060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434840"/>
            <a:ext cx="5166360" cy="1051560"/>
          </a:xfrm>
          <a:prstGeom prst="roundRect">
            <a:avLst>
              <a:gd name="adj" fmla="val 10435"/>
            </a:avLst>
          </a:prstGeom>
          <a:solidFill>
            <a:srgbClr val="F6FBF8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59028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9672" y="46771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7013448" y="4599432"/>
            <a:ext cx="4325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Kevin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7013448" y="4965192"/>
            <a:ext cx="43251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Kevin peut être illustré par une Green IT facet pour analyser un repository existant, pointer du code, des patterns et des pistes d amélioration.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537960" y="5321808"/>
            <a:ext cx="480060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300" b="1">
                <a:solidFill>
                  <a:srgbClr val="17251F"/>
                </a:solidFill>
                <a:latin typeface="Aptos Display"/>
              </a:defRPr>
            </a:pPr>
            <a:r>
              <a:t>Agents connectés à l’entreprise</a:t>
            </a:r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50" b="0">
                <a:solidFill>
                  <a:srgbClr val="363D39"/>
                </a:solidFill>
                <a:latin typeface="Aptos"/>
              </a:defRPr>
            </a:pPr>
            <a:r>
              <a:t>Les agents peuvent utiliser des interfaces et protocoles pour accéder à des outils, des données et d’autres systèmes.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9/11</a:t>
            </a:r>
            <a:endParaRPr lang="en-US" sz="730" dirty="0"/>
          </a:p>
        </p:txBody>
      </p:sp>
      <p:sp>
        <p:nvSpPr>
          <p:cNvPr id="11" name="Rounded Rectangle 10"/>
          <p:cNvSpPr/>
          <p:nvPr/>
        </p:nvSpPr>
        <p:spPr>
          <a:xfrm>
            <a:off x="713232" y="1627632"/>
            <a:ext cx="507492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10512"/>
            <a:ext cx="530352" cy="530352"/>
          </a:xfrm>
          <a:prstGeom prst="ellipse">
            <a:avLst/>
          </a:prstGeom>
          <a:solidFill>
            <a:srgbClr val="F3FAF6"/>
          </a:solidFill>
          <a:ln w="12700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8A4B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783080"/>
            <a:ext cx="4050791" cy="347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650" b="1">
                <a:solidFill>
                  <a:srgbClr val="008A4B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167128"/>
            <a:ext cx="475488" cy="16459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313432"/>
            <a:ext cx="3995928" cy="6766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20">
                <a:solidFill>
                  <a:srgbClr val="323835"/>
                </a:solidFill>
                <a:latin typeface="Aptos"/>
              </a:defRPr>
            </a:pPr>
            <a:r>
              <a:t>Interface standard qui permet à deux systèmes d’échanger des données ou de déclencher une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6752" y="1627632"/>
            <a:ext cx="507492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81344" y="1810512"/>
            <a:ext cx="530352" cy="530352"/>
          </a:xfrm>
          <a:prstGeom prst="ellipse">
            <a:avLst/>
          </a:prstGeom>
          <a:solidFill>
            <a:srgbClr val="F3FAF6"/>
          </a:solidFill>
          <a:ln w="12700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8A4B"/>
                </a:solidFill>
                <a:latin typeface="Aptos"/>
              </a:defRPr>
            </a:pPr>
            <a:r>
              <a:t>CN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83080"/>
            <a:ext cx="4050791" cy="347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650" b="1">
                <a:solidFill>
                  <a:srgbClr val="008A4B"/>
                </a:solidFill>
                <a:latin typeface="Aptos"/>
              </a:defRPr>
            </a:pPr>
            <a:r>
              <a:t>Connecteur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167128"/>
            <a:ext cx="475488" cy="16459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2313432"/>
            <a:ext cx="3995928" cy="6766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20">
                <a:solidFill>
                  <a:srgbClr val="323835"/>
                </a:solidFill>
                <a:latin typeface="Aptos"/>
              </a:defRPr>
            </a:pPr>
            <a:r>
              <a:t>Composant d’intégration qui relie une application IA à une source, un service ou un outil.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346704"/>
            <a:ext cx="507492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3529584"/>
            <a:ext cx="530352" cy="530352"/>
          </a:xfrm>
          <a:prstGeom prst="ellipse">
            <a:avLst/>
          </a:prstGeom>
          <a:solidFill>
            <a:srgbClr val="F3FAF6"/>
          </a:solidFill>
          <a:ln w="12700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8A4B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02152"/>
            <a:ext cx="4050791" cy="347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650" b="1">
                <a:solidFill>
                  <a:srgbClr val="008A4B"/>
                </a:solidFill>
                <a:latin typeface="Aptos"/>
              </a:defRPr>
            </a:pPr>
            <a:r>
              <a:t>MCP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3886200"/>
            <a:ext cx="475488" cy="16459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032504"/>
            <a:ext cx="3995928" cy="6766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20">
                <a:solidFill>
                  <a:srgbClr val="323835"/>
                </a:solidFill>
                <a:latin typeface="Aptos"/>
              </a:defRPr>
            </a:pPr>
            <a:r>
              <a:t>Protocole ouvert qui standardise la manière dont une application IA découvre et utilise des outils ou des sources de contexte.</a:t>
            </a:r>
          </a:p>
          <a:p>
            <a:pPr>
              <a:spcBef>
                <a:spcPts val="500"/>
              </a:spcBef>
              <a:defRPr sz="950" i="1">
                <a:solidFill>
                  <a:srgbClr val="6A726E"/>
                </a:solidFill>
                <a:latin typeface="Aptos"/>
              </a:defRPr>
            </a:pPr>
            <a:r>
              <a:t>Notion générale de l’écosystème agentique. Son usage dans IT PS doit être confirmé.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16752" y="3346704"/>
            <a:ext cx="507492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81344" y="3529584"/>
            <a:ext cx="530352" cy="530352"/>
          </a:xfrm>
          <a:prstGeom prst="ellipse">
            <a:avLst/>
          </a:prstGeom>
          <a:solidFill>
            <a:srgbClr val="F3FAF6"/>
          </a:solidFill>
          <a:ln w="12700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8A4B"/>
                </a:solidFill>
                <a:latin typeface="Aptos"/>
              </a:defRPr>
            </a:pPr>
            <a:r>
              <a:t>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502152"/>
            <a:ext cx="4050791" cy="347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650" b="1">
                <a:solidFill>
                  <a:srgbClr val="008A4B"/>
                </a:solidFill>
                <a:latin typeface="Aptos"/>
              </a:defRPr>
            </a:pPr>
            <a:r>
              <a:t>Multi-agent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86200"/>
            <a:ext cx="475488" cy="16459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4032504"/>
            <a:ext cx="3995928" cy="6766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20">
                <a:solidFill>
                  <a:srgbClr val="323835"/>
                </a:solidFill>
                <a:latin typeface="Aptos"/>
              </a:defRPr>
            </a:pPr>
            <a:r>
              <a:t>Plusieurs agents spécialisés peuvent se répartir des tâches et coopérer autour d’un objectif commun.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5047488"/>
            <a:ext cx="10058400" cy="475488"/>
          </a:xfrm>
          <a:prstGeom prst="roundRect">
            <a:avLst/>
          </a:prstGeom>
          <a:solidFill>
            <a:srgbClr val="F3FAF6"/>
          </a:solidFill>
          <a:ln w="12700">
            <a:solidFill>
              <a:srgbClr val="B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25296" y="5157216"/>
            <a:ext cx="237744" cy="237744"/>
          </a:xfrm>
          <a:prstGeom prst="ellipse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72768" y="5120640"/>
            <a:ext cx="92811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50" b="1">
                <a:solidFill>
                  <a:srgbClr val="008A4B"/>
                </a:solidFill>
                <a:latin typeface="Aptos"/>
              </a:defRPr>
            </a:pPr>
            <a:r>
              <a:t>Lecture simple : API et connecteurs donnent accès aux systèmes ; MCP standardise l’exposition d’outils et de contexte ; le multi-agent coordonne plusieurs agents spécialisés.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concepts dans l écosystème IT PS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offres IT PS servent ici d illustrations des concepts, pas de catalogue produit détaillé.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40080" y="1600200"/>
            <a:ext cx="10835640" cy="4498848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1673352"/>
            <a:ext cx="10689336" cy="429768"/>
          </a:xfrm>
          <a:prstGeom prst="roundRect">
            <a:avLst>
              <a:gd name="adj" fmla="val 14894"/>
            </a:avLst>
          </a:prstGeom>
          <a:solidFill>
            <a:srgbClr val="008A5B"/>
          </a:solidFill>
          <a:ln w="635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792224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PS illustration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626864" y="1792224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Concepts illustrated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713232" y="2103120"/>
            <a:ext cx="10689336" cy="429768"/>
          </a:xfrm>
          <a:prstGeom prst="rect">
            <a:avLst/>
          </a:prstGeom>
          <a:solidFill>
            <a:srgbClr val="F8FCFA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221992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Companion / M365 Copilot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26864" y="2221992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assistant, generative AI, context-aware assistance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3232" y="2532888"/>
            <a:ext cx="10689336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651760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Copilot Agents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26864" y="2651760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Agent, tool usage, task automation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13232" y="2962656"/>
            <a:ext cx="10689336" cy="429768"/>
          </a:xfrm>
          <a:prstGeom prst="rect">
            <a:avLst/>
          </a:prstGeom>
          <a:solidFill>
            <a:srgbClr val="F8FCFA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081528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LLMaaS / GenAI Gateway / LiteLLM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26864" y="3081528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access to models, API, quota, governance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3232" y="3392424"/>
            <a:ext cx="10689336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511296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DevX / DevX NextGen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6864" y="3511296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development, agentic development workflows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3232" y="3822192"/>
            <a:ext cx="10689336" cy="429768"/>
          </a:xfrm>
          <a:prstGeom prst="rect">
            <a:avLst/>
          </a:prstGeom>
          <a:solidFill>
            <a:srgbClr val="F8FCFA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941064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AI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6864" y="3941064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IDE, coding workflows, shared AI skills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3232" y="4251960"/>
            <a:ext cx="10689336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370832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Kevin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26864" y="4370832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analysis, facets, documentation, Green IT review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13232" y="4681728"/>
            <a:ext cx="10689336" cy="429768"/>
          </a:xfrm>
          <a:prstGeom prst="rect">
            <a:avLst/>
          </a:prstGeom>
          <a:solidFill>
            <a:srgbClr val="F8FCFA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800600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TWIN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26864" y="4800600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knowledge, operational analysis, specialized agents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13232" y="5111496"/>
            <a:ext cx="10689336" cy="429768"/>
          </a:xfrm>
          <a:prstGeom prst="rect">
            <a:avLst/>
          </a:prstGeom>
          <a:solidFill>
            <a:srgbClr val="FFFFFF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5230368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AI4DEV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26864" y="5230368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Adoption, training, practices, enablement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3232" y="5541264"/>
            <a:ext cx="10689336" cy="429768"/>
          </a:xfrm>
          <a:prstGeom prst="rect">
            <a:avLst/>
          </a:prstGeom>
          <a:solidFill>
            <a:srgbClr val="F8FCFA"/>
          </a:solidFill>
          <a:ln w="5080">
            <a:solidFill>
              <a:srgbClr val="EEF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660136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25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26864" y="5660136"/>
            <a:ext cx="6675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Skills, facets, sustainable software engineering guidance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GLOSSAIRE IA | IT PS</a:t>
            </a:r>
            <a:endParaRPr lang="en-US" sz="880" dirty="0"/>
          </a:p>
        </p:txBody>
      </p:sp>
      <p:sp>
        <p:nvSpPr>
          <p:cNvPr id="3" name="Shape 1"/>
          <p:cNvSpPr/>
          <p:nvPr/>
        </p:nvSpPr>
        <p:spPr>
          <a:xfrm>
            <a:off x="502920" y="566928"/>
            <a:ext cx="960120" cy="0"/>
          </a:xfrm>
          <a:prstGeom prst="line">
            <a:avLst/>
          </a:prstGeom>
          <a:noFill/>
          <a:ln w="27940">
            <a:solidFill>
              <a:srgbClr val="008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1400" y="2286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Repères à retenir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0352" y="11887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lecture simple des notions clés pour partager un vocabulaire commun.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6382512"/>
            <a:ext cx="11201400" cy="0"/>
          </a:xfrm>
          <a:prstGeom prst="line">
            <a:avLst/>
          </a:prstGeom>
          <a:noFill/>
          <a:ln w="8890">
            <a:solidFill>
              <a:srgbClr val="E6EC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647395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Classification: Internal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4297680" y="64739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glossary for IT PS employees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10972800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673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11/11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0392" y="17556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8425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344168" y="17647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44168" y="2130552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génère ou analyse du langage à partir d un prompt et d un contexte.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68680" y="2240280"/>
            <a:ext cx="315468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1600200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17556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18425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184648" y="17647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84648" y="2130552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apporte des connaissances pertinentes avant de générer la réponse.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4709160" y="2240280"/>
            <a:ext cx="315468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66760" y="1600200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31352" y="1755648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31352" y="18425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9025128" y="17647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Assistant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25128" y="2130552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 à produire, résumer, expliquer ou rechercher.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8549640" y="2240280"/>
            <a:ext cx="315468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2660904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0392" y="2816352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29032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344168" y="282549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44168" y="3191256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 utiliser des outils pour agir vers un objectif.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68680" y="3300984"/>
            <a:ext cx="315468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2660904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90872" y="2816352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29032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5184648" y="282549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84648" y="3191256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planification, outils, exécution et adaptation.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4709160" y="3300984"/>
            <a:ext cx="315468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2660904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531352" y="2816352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31352" y="29032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9025128" y="2825496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Skill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25128" y="3191256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l IA avec une capacité ou pratique réutilisable.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8549640" y="3300984"/>
            <a:ext cx="315468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3721608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50392" y="3877056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008A5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" y="39639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8A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1344168" y="388620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344168" y="4251960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un sujet selon un angle spécialisé.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68680" y="4361688"/>
            <a:ext cx="3154680" cy="0"/>
          </a:xfrm>
          <a:prstGeom prst="line">
            <a:avLst/>
          </a:prstGeom>
          <a:noFill/>
          <a:ln w="15240">
            <a:solidFill>
              <a:srgbClr val="008A5B">
                <a:alpha val="7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26280" y="3721608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90872" y="3877056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4D8F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90872" y="39639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D8F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184648" y="388620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184648" y="4251960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encadrent les usages, résultats et actions de l IA.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4709160" y="4361688"/>
            <a:ext cx="3154680" cy="0"/>
          </a:xfrm>
          <a:prstGeom prst="line">
            <a:avLst/>
          </a:prstGeom>
          <a:noFill/>
          <a:ln w="15240">
            <a:solidFill>
              <a:srgbClr val="4D8FB8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66760" y="3721608"/>
            <a:ext cx="3520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6E9DF"/>
            </a:solidFill>
            <a:prstDash val="solid"/>
          </a:ln>
          <a:effectLst>
            <a:outerShdw sx="100000" sy="100000" kx="0" ky="0" algn="bl" rotWithShape="0" blurRad="15240" dist="50800" dir="27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531352" y="3877056"/>
            <a:ext cx="384048" cy="384048"/>
          </a:xfrm>
          <a:prstGeom prst="ellipse">
            <a:avLst/>
          </a:prstGeom>
          <a:solidFill>
            <a:srgbClr val="EEF8F2"/>
          </a:solidFill>
          <a:ln w="13970">
            <a:solidFill>
              <a:srgbClr val="6D63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31352" y="39639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63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9025128" y="3886200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5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 optimization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025128" y="4251960"/>
            <a:ext cx="2679192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réduit les informations inutiles envoyées au modèle.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8549640" y="4361688"/>
            <a:ext cx="3154680" cy="0"/>
          </a:xfrm>
          <a:prstGeom prst="line">
            <a:avLst/>
          </a:prstGeom>
          <a:noFill/>
          <a:ln w="15240">
            <a:solidFill>
              <a:srgbClr val="6D63C6">
                <a:alpha val="7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5800" y="5422392"/>
            <a:ext cx="10744200" cy="0"/>
          </a:xfrm>
          <a:prstGeom prst="line">
            <a:avLst/>
          </a:prstGeom>
          <a:noFill/>
          <a:ln w="12700">
            <a:solidFill>
              <a:srgbClr val="D6E9D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8680" y="55961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8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1120" dirty="0"/>
          </a:p>
        </p:txBody>
      </p:sp>
      <p:sp>
        <p:nvSpPr>
          <p:cNvPr id="67" name="Text 65"/>
          <p:cNvSpPr/>
          <p:nvPr/>
        </p:nvSpPr>
        <p:spPr>
          <a:xfrm>
            <a:off x="4800600" y="559612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33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glossaire explique les concepts. Les offres IT PS servent ensuite à illustrer comment ces concepts apparaissent dans les usages.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Glossaire IA IT PS - concepts simples</dc:title>
  <dc:subject>Glossaire IA IT PS</dc:subject>
  <dc:creator>OpenAI</dc:creator>
  <cp:lastModifiedBy>OpenAI</cp:lastModifiedBy>
  <cp:revision>1</cp:revision>
  <dcterms:created xsi:type="dcterms:W3CDTF">2026-08-22T10:59:12Z</dcterms:created>
  <dcterms:modified xsi:type="dcterms:W3CDTF">2026-08-22T10:59:12Z</dcterms:modified>
</cp:coreProperties>
</file>