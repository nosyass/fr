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image" Target="../media/image-1-6.png"/><Relationship Id="rId7" Type="http://schemas.openxmlformats.org/officeDocument/2006/relationships/image" Target="../media/image-1-7.svg"/><Relationship Id="rId8" Type="http://schemas.openxmlformats.org/officeDocument/2006/relationships/image" Target="../media/image-1-8.png"/><Relationship Id="rId9" Type="http://schemas.openxmlformats.org/officeDocument/2006/relationships/image" Target="../media/image-1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photo_ai_meeting_wed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5664" y="960120"/>
            <a:ext cx="5715000" cy="481888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11312" y="1124712"/>
            <a:ext cx="3822192" cy="0"/>
          </a:xfrm>
          <a:prstGeom prst="line">
            <a:avLst/>
          </a:prstGeom>
          <a:noFill/>
          <a:ln w="15875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8211312" y="1124712"/>
            <a:ext cx="-1417320" cy="2249424"/>
          </a:xfrm>
          <a:prstGeom prst="line">
            <a:avLst/>
          </a:prstGeom>
          <a:noFill/>
          <a:ln w="15875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793992" y="3374136"/>
            <a:ext cx="1344168" cy="2249424"/>
          </a:xfrm>
          <a:prstGeom prst="line">
            <a:avLst/>
          </a:prstGeom>
          <a:noFill/>
          <a:ln w="15875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38160" y="5623560"/>
            <a:ext cx="3886200" cy="0"/>
          </a:xfrm>
          <a:prstGeom prst="line">
            <a:avLst/>
          </a:prstGeom>
          <a:noFill/>
          <a:ln w="15875">
            <a:solidFill>
              <a:srgbClr val="FFFFFF">
                <a:alpha val="8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30352" y="484632"/>
            <a:ext cx="32918" cy="557784"/>
          </a:xfrm>
          <a:prstGeom prst="rect">
            <a:avLst/>
          </a:prstGeom>
          <a:solidFill>
            <a:srgbClr val="008A4A"/>
          </a:solidFill>
          <a:ln w="12700">
            <a:solidFill>
              <a:srgbClr val="008A4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521208"/>
            <a:ext cx="4983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Présentation &amp; Contexte</a:t>
            </a:r>
            <a:endParaRPr lang="en-US" sz="3100" dirty="0"/>
          </a:p>
        </p:txBody>
      </p:sp>
      <p:sp>
        <p:nvSpPr>
          <p:cNvPr id="9" name="Shape 6"/>
          <p:cNvSpPr/>
          <p:nvPr/>
        </p:nvSpPr>
        <p:spPr>
          <a:xfrm>
            <a:off x="640080" y="1463040"/>
            <a:ext cx="868680" cy="868680"/>
          </a:xfrm>
          <a:prstGeom prst="ellipse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4672" y="1627632"/>
            <a:ext cx="530352" cy="530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47088" y="14630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008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Pourquoi ce glossaire ?</a:t>
            </a:r>
            <a:endParaRPr lang="en-US" sz="1820" dirty="0"/>
          </a:p>
        </p:txBody>
      </p:sp>
      <p:sp>
        <p:nvSpPr>
          <p:cNvPr id="12" name="Text 8"/>
          <p:cNvSpPr/>
          <p:nvPr/>
        </p:nvSpPr>
        <p:spPr>
          <a:xfrm>
            <a:off x="1856232" y="1847088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103120" y="18562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Démocratiser les concepts clés de l’IA.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856232" y="2221992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2103120" y="223113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Faciliter la compréhension par tous les profils.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1856232" y="2596896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2103120" y="26060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Donner une vision simple des usages réels.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3154680"/>
            <a:ext cx="868680" cy="868680"/>
          </a:xfrm>
          <a:prstGeom prst="ellipse">
            <a:avLst/>
          </a:prstGeom>
          <a:solidFill>
            <a:srgbClr val="EAF6EE"/>
          </a:solidFill>
          <a:ln w="12700">
            <a:solidFill>
              <a:srgbClr val="EAF6EE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672" y="3319272"/>
            <a:ext cx="530352" cy="5303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847088" y="315468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20" b="1" dirty="0">
                <a:solidFill>
                  <a:srgbClr val="008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 qui change aujourd’hui</a:t>
            </a:r>
            <a:endParaRPr lang="en-US" sz="1820" dirty="0"/>
          </a:p>
        </p:txBody>
      </p:sp>
      <p:sp>
        <p:nvSpPr>
          <p:cNvPr id="21" name="Text 16"/>
          <p:cNvSpPr/>
          <p:nvPr/>
        </p:nvSpPr>
        <p:spPr>
          <a:xfrm>
            <a:off x="1856232" y="3538728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2103120" y="354787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Montée des usages d’IA générative.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1856232" y="3913632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700" dirty="0"/>
          </a:p>
        </p:txBody>
      </p:sp>
      <p:sp>
        <p:nvSpPr>
          <p:cNvPr id="24" name="Text 19"/>
          <p:cNvSpPr/>
          <p:nvPr/>
        </p:nvSpPr>
        <p:spPr>
          <a:xfrm>
            <a:off x="2103120" y="392277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Apparition de l’IA agentique et des assistants métier.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856232" y="4288536"/>
            <a:ext cx="109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8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endParaRPr lang="en-US" sz="1700" dirty="0"/>
          </a:p>
        </p:txBody>
      </p:sp>
      <p:sp>
        <p:nvSpPr>
          <p:cNvPr id="26" name="Text 21"/>
          <p:cNvSpPr/>
          <p:nvPr/>
        </p:nvSpPr>
        <p:spPr>
          <a:xfrm>
            <a:off x="2103120" y="429768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Besoin de relier les concepts à l’écosystème IT PS.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58368" y="4828032"/>
            <a:ext cx="4965192" cy="896112"/>
          </a:xfrm>
          <a:prstGeom prst="roundRect">
            <a:avLst>
              <a:gd name="adj" fmla="val 12245"/>
            </a:avLst>
          </a:prstGeom>
          <a:solidFill>
            <a:srgbClr val="F7FEF9"/>
          </a:solidFill>
          <a:ln w="15240">
            <a:solidFill>
              <a:srgbClr val="008A4A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68680" y="4974336"/>
            <a:ext cx="484632" cy="484632"/>
          </a:xfrm>
          <a:prstGeom prst="ellipse">
            <a:avLst/>
          </a:prstGeom>
          <a:solidFill>
            <a:srgbClr val="008A4A"/>
          </a:solidFill>
          <a:ln w="12700">
            <a:solidFill>
              <a:srgbClr val="008A4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0120" y="5065776"/>
            <a:ext cx="301752" cy="30175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719072" y="5010912"/>
            <a:ext cx="35295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008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support pédagogique pour</a:t>
            </a:r>
            <a:endParaRPr lang="en-US" sz="1750" dirty="0"/>
          </a:p>
          <a:p>
            <a:pPr indent="0" marL="0">
              <a:buNone/>
            </a:pPr>
            <a:r>
              <a:rPr lang="en-US" sz="1750" b="1" dirty="0">
                <a:solidFill>
                  <a:srgbClr val="008A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acculturer, aligner et accélérer l’adoption.</a:t>
            </a:r>
            <a:endParaRPr lang="en-US" sz="17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88752" y="310896"/>
            <a:ext cx="475488" cy="47548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009376" y="37490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75E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</a:t>
            </a:r>
            <a:endParaRPr lang="en-US" sz="1500" dirty="0"/>
          </a:p>
        </p:txBody>
      </p:sp>
      <p:sp>
        <p:nvSpPr>
          <p:cNvPr id="33" name="Shape 26"/>
          <p:cNvSpPr/>
          <p:nvPr/>
        </p:nvSpPr>
        <p:spPr>
          <a:xfrm>
            <a:off x="0" y="6025896"/>
            <a:ext cx="12191695" cy="83210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1">
                <a:alpha val="65000"/>
              </a:srgbClr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0" y="6016752"/>
            <a:ext cx="12191695" cy="0"/>
          </a:xfrm>
          <a:prstGeom prst="line">
            <a:avLst/>
          </a:prstGeom>
          <a:noFill/>
          <a:ln w="12700">
            <a:solidFill>
              <a:srgbClr val="BFC8C9">
                <a:alpha val="85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30352" y="6254496"/>
            <a:ext cx="402336" cy="402336"/>
          </a:xfrm>
          <a:prstGeom prst="rect">
            <a:avLst/>
          </a:prstGeom>
          <a:solidFill>
            <a:srgbClr val="008A4A"/>
          </a:solidFill>
          <a:ln w="12700">
            <a:solidFill>
              <a:srgbClr val="008A4A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57784" y="6272784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694944" y="6327648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800" dirty="0"/>
          </a:p>
        </p:txBody>
      </p:sp>
      <p:sp>
        <p:nvSpPr>
          <p:cNvPr id="38" name="Text 31"/>
          <p:cNvSpPr/>
          <p:nvPr/>
        </p:nvSpPr>
        <p:spPr>
          <a:xfrm>
            <a:off x="804672" y="6437376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630936" y="6492240"/>
            <a:ext cx="1097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</a:t>
            </a:r>
            <a:endParaRPr lang="en-US" sz="800" dirty="0"/>
          </a:p>
        </p:txBody>
      </p:sp>
      <p:sp>
        <p:nvSpPr>
          <p:cNvPr id="40" name="Text 33"/>
          <p:cNvSpPr/>
          <p:nvPr/>
        </p:nvSpPr>
        <p:spPr>
          <a:xfrm>
            <a:off x="1024128" y="63002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BNP PARIBAS</a:t>
            </a:r>
            <a:endParaRPr lang="en-US" sz="1800" dirty="0"/>
          </a:p>
        </p:txBody>
      </p:sp>
      <p:sp>
        <p:nvSpPr>
          <p:cNvPr id="41" name="Text 34"/>
          <p:cNvSpPr/>
          <p:nvPr/>
        </p:nvSpPr>
        <p:spPr>
          <a:xfrm>
            <a:off x="4709160" y="629107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8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bank for a changing world</a:t>
            </a:r>
            <a:endParaRPr lang="en-US" sz="1380" dirty="0"/>
          </a:p>
        </p:txBody>
      </p:sp>
      <p:sp>
        <p:nvSpPr>
          <p:cNvPr id="42" name="Text 35"/>
          <p:cNvSpPr/>
          <p:nvPr/>
        </p:nvSpPr>
        <p:spPr>
          <a:xfrm>
            <a:off x="10652760" y="6355080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7B81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Internal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BNP Paribas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&amp; Contexte</dc:title>
  <dc:subject>Glossaire IA for IT PS</dc:subject>
  <dc:creator>OpenAI</dc:creator>
  <cp:lastModifiedBy>OpenAI</cp:lastModifiedBy>
  <cp:revision>1</cp:revision>
  <dcterms:created xsi:type="dcterms:W3CDTF">2026-08-19T15:29:16Z</dcterms:created>
  <dcterms:modified xsi:type="dcterms:W3CDTF">2026-08-19T15:29:16Z</dcterms:modified>
</cp:coreProperties>
</file>